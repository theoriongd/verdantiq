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0. Proposal Cover" id="{9dade849-b49e-f8c3-5b39-b54786c29a56}">
          <p14:sldIdLst>
            <p14:sldId id="256"/>
          </p14:sldIdLst>
        </p14:section>
        <p14:section name="01. Evaluation Board" id="{fb77d513-3ace-4b07-bc28-629b5efc52ae}">
          <p14:sldIdLst>
            <p14:sldId id="257"/>
            <p14:sldId id="258"/>
            <p14:sldId id="259"/>
          </p14:sldIdLst>
        </p14:section>
        <p14:section name="02. Strategic Landscape" id="{97542109-e8c4-0d94-44cf-1677693d6abd}">
          <p14:sldIdLst>
            <p14:sldId id="260"/>
          </p14:sldIdLst>
        </p14:section>
        <p14:section name="03. Proximity Handshake" id="{41caef99-0001-9be7-6f5f-d9aabd200a2f}">
          <p14:sldIdLst>
            <p14:sldId id="261"/>
          </p14:sldIdLst>
        </p14:section>
        <p14:section name="04. Core Features" id="{5146c2ec-a7f8-62d8-2fe5-e178145ae06b}">
          <p14:sldIdLst>
            <p14:sldId id="262"/>
          </p14:sldIdLst>
        </p14:section>
        <p14:section name="05. Tech Stack &amp; Diagrams" id="{52f3cd8a-0aee-ecaa-4bdc-0d27582a5383}">
          <p14:sldIdLst>
            <p14:sldId id="263"/>
            <p14:sldId id="264"/>
          </p14:sldIdLst>
        </p14:section>
        <p14:section name="06. Interface &amp; Discovery" id="{268b263c-1e43-5938-580c-2e9fec6de5be}">
          <p14:sldIdLst>
            <p14:sldId id="265"/>
          </p14:sldIdLst>
        </p14:section>
        <p14:section name="07. Security Middleware" id="{b330a5de-2d32-a065-9e5c-d1b12340e029}">
          <p14:sldIdLst>
            <p14:sldId id="266"/>
          </p14:sldIdLst>
        </p14:section>
        <p14:section name="08. Evaluation Metrics" id="{8e75446b-3e09-2f8d-0046-464720bcace1}">
          <p14:sldIdLst>
            <p14:sldId id="267"/>
          </p14:sldIdLst>
        </p14:section>
        <p14:section name="09. Team &amp; Roles" id="{78eebe17-b0bd-22e5-d841-cc6d2a8f7235}">
          <p14:sldIdLst>
            <p14:sldId id="268"/>
          </p14:sldIdLst>
        </p14:section>
        <p14:section name="10. Implementation Plan" id="{3103ab54-8401-b083-c102-19680b51fb09}">
          <p14:sldIdLst>
            <p14:sldId id="269"/>
          </p14:sldIdLst>
        </p14:section>
        <p14:section name="11. R&amp;D Highlights" id="{e94045ed-1db2-1c54-6cc5-f930741a1251}">
          <p14:sldIdLst>
            <p14:sldId id="270"/>
          </p14:sldIdLst>
        </p14:section>
        <p14:section name="12. Panel Verdict" id="{ed757b77-410b-87b9-85a6-1b02980c7a88}">
          <p14:sldIdLst>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 Target="slide2.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 Target="slide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 Target="slide4.xml"/><Relationship Id="rId5" Type="http://schemas.openxmlformats.org/officeDocument/2006/relationships/image" Target="../media/image8.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image" Target="../media/image9.png"/><Relationship Id="rId3" Type="http://schemas.openxmlformats.org/officeDocument/2006/relationships/slide" Target="slide6.xml"/><Relationship Id="rId4" Type="http://schemas.openxmlformats.org/officeDocument/2006/relationships/image" Target="../media/image10.png"/><Relationship Id="rId5" Type="http://schemas.openxmlformats.org/officeDocument/2006/relationships/slide" Target="slide7.xml"/><Relationship Id="rId6" Type="http://schemas.openxmlformats.org/officeDocument/2006/relationships/image" Target="../media/image11.png"/><Relationship Id="rId7" Type="http://schemas.openxmlformats.org/officeDocument/2006/relationships/slide" Target="slide8.xml"/><Relationship Id="rId8" Type="http://schemas.openxmlformats.org/officeDocument/2006/relationships/image" Target="../media/image4.png"/><Relationship Id="rId9" Type="http://schemas.openxmlformats.org/officeDocument/2006/relationships/slide" Target="slide9.xml"/><Relationship Id="rId10" Type="http://schemas.openxmlformats.org/officeDocument/2006/relationships/image" Target="../media/image12.png"/><Relationship Id="rId11" Type="http://schemas.openxmlformats.org/officeDocument/2006/relationships/slide" Target="slide10.xml"/><Relationship Id="rId12" Type="http://schemas.openxmlformats.org/officeDocument/2006/relationships/image" Target="../media/image13.png"/><Relationship Id="rId13" Type="http://schemas.openxmlformats.org/officeDocument/2006/relationships/slide" Target="slide11.xml"/><Relationship Id="rId14" Type="http://schemas.openxmlformats.org/officeDocument/2006/relationships/image" Target="../media/image14.png"/><Relationship Id="rId15" Type="http://schemas.openxmlformats.org/officeDocument/2006/relationships/slide" Target="slide12.xml"/><Relationship Id="rId16" Type="http://schemas.openxmlformats.org/officeDocument/2006/relationships/image" Target="../media/image5.png"/><Relationship Id="rId17" Type="http://schemas.openxmlformats.org/officeDocument/2006/relationships/slide" Target="slide13.xml"/><Relationship Id="rId18" Type="http://schemas.openxmlformats.org/officeDocument/2006/relationships/image" Target="../media/image2.png"/><Relationship Id="rId19" Type="http://schemas.openxmlformats.org/officeDocument/2006/relationships/slide" Target="slide14.xml"/><Relationship Id="rId20" Type="http://schemas.openxmlformats.org/officeDocument/2006/relationships/image" Target="../media/image7.png"/><Relationship Id="rId21" Type="http://schemas.openxmlformats.org/officeDocument/2006/relationships/slide" Target="slide15.xml"/><Relationship Id="rId22" Type="http://schemas.openxmlformats.org/officeDocument/2006/relationships/image" Target="../media/image1.png"/><Relationship Id="rId23" Type="http://schemas.openxmlformats.org/officeDocument/2006/relationships/slide" Target="slide16.xml"/><Relationship Id="rId24" Type="http://schemas.openxmlformats.org/officeDocument/2006/relationships/image" Target="../media/image6.png"/><Relationship Id="rId25" Type="http://schemas.openxmlformats.org/officeDocument/2006/relationships/slideLayout" Target="../slideLayouts/slideLayout1.xml"/><Relationship Id="rId2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6.png"/><Relationship Id="rId3" Type="http://schemas.openxmlformats.org/officeDocument/2006/relationships/image" Target="../media/image4.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 Target="slide9.xml"/><Relationship Id="rId3" Type="http://schemas.openxmlformats.org/officeDocument/2006/relationships/image" Target="../media/image12.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 Target="slide4.xml"/><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6.png"/><Relationship Id="rId3" Type="http://schemas.openxmlformats.org/officeDocument/2006/relationships/image" Target="../media/image20.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6.png"/><Relationship Id="rId3" Type="http://schemas.openxmlformats.org/officeDocument/2006/relationships/slide" Target="slide4.xml"/><Relationship Id="rId4" Type="http://schemas.openxmlformats.org/officeDocument/2006/relationships/image" Target="../media/image15.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image" Target="../media/image1.png"/><Relationship Id="rId5" Type="http://schemas.openxmlformats.org/officeDocument/2006/relationships/slide" Target="slide4.xml"/><Relationship Id="rId6" Type="http://schemas.openxmlformats.org/officeDocument/2006/relationships/image" Target="../media/image15.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24.png"/><Relationship Id="rId6" Type="http://schemas.openxmlformats.org/officeDocument/2006/relationships/slide" Target="slide4.xml"/><Relationship Id="rId7" Type="http://schemas.openxmlformats.org/officeDocument/2006/relationships/image" Target="../media/image15.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slide" Target="slide4.xml"/><Relationship Id="rId5" Type="http://schemas.openxmlformats.org/officeDocument/2006/relationships/image" Target="../media/image15.png"/><Relationship Id="rId6" Type="http://schemas.openxmlformats.org/officeDocument/2006/relationships/slide" Target="slide17.xml"/><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hyperlink" Target="https://github.com/TheOrionGD/VerdantIQ" TargetMode="External"/><Relationship Id="rId3" Type="http://schemas.openxmlformats.org/officeDocument/2006/relationships/slide" Target="slide4.xml"/><Relationship Id="rId4" Type="http://schemas.openxmlformats.org/officeDocument/2006/relationships/image" Target="../media/image8.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57926E">
              <a:alpha val="70000"/>
            </a:srgbClr>
          </a:solidFill>
        </p:spPr>
        <p:txBody>
          <a:bodyPr/>
          <a:p/>
        </p:txBody>
      </p:sp>
      <p:sp>
        <p:nvSpPr>
          <p:cNvPr id="3" name="Shape 1"/>
          <p:cNvSpPr/>
          <p:nvPr/>
        </p:nvSpPr>
        <p:spPr>
          <a:xfrm>
            <a:off x="10607040" y="3291840"/>
            <a:ext cx="3291840" cy="3291840"/>
          </a:xfrm>
          <a:prstGeom prst="ellipse">
            <a:avLst/>
          </a:prstGeom>
          <a:solidFill>
            <a:srgbClr val="156D4F">
              <a:alpha val="50000"/>
            </a:srgbClr>
          </a:solidFill>
        </p:spPr>
        <p:txBody>
          <a:bodyPr/>
          <a:p/>
        </p:txBody>
      </p:sp>
      <p:sp>
        <p:nvSpPr>
          <p:cNvPr id="4" name="Text 2"/>
          <p:cNvSpPr/>
          <p:nvPr/>
        </p:nvSpPr>
        <p:spPr>
          <a:xfrm>
            <a:off x="731520" y="777240"/>
            <a:ext cx="8229600" cy="32004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RESEARCH &amp; DEVELOPMENT PROPOSAL  ·  ENVIRONMENTAL INTELLIGENCE</a:t>
            </a:r>
            <a:endParaRPr lang="en-US" sz="1200" dirty="0"/>
          </a:p>
        </p:txBody>
      </p:sp>
      <p:sp>
        <p:nvSpPr>
          <p:cNvPr id="5" name="Shape 3"/>
          <p:cNvSpPr/>
          <p:nvPr/>
        </p:nvSpPr>
        <p:spPr>
          <a:xfrm>
            <a:off x="731520" y="1234440"/>
            <a:ext cx="868680" cy="86868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6" name="Image 0" descr="./icons/brain_white.png"/>
          <p:cNvPicPr>
            <a:picLocks noChangeAspect="1"/>
          </p:cNvPicPr>
          <p:nvPr/>
        </p:nvPicPr>
        <p:blipFill>
          <a:blip r:embed="rId1"/>
          <a:stretch>
            <a:fillRect/>
          </a:stretch>
        </p:blipFill>
        <p:spPr>
          <a:xfrm>
            <a:off x="957377" y="1460297"/>
            <a:ext cx="416966" cy="416966"/>
          </a:xfrm>
          <a:prstGeom prst="rect">
            <a:avLst/>
          </a:prstGeom>
        </p:spPr>
      </p:pic>
      <p:sp>
        <p:nvSpPr>
          <p:cNvPr id="7" name="Text 4"/>
          <p:cNvSpPr/>
          <p:nvPr/>
        </p:nvSpPr>
        <p:spPr>
          <a:xfrm>
            <a:off x="685800" y="2240280"/>
            <a:ext cx="8686800" cy="1188720"/>
          </a:xfrm>
          <a:prstGeom prst="rect">
            <a:avLst/>
          </a:prstGeom>
          <a:noFill/>
        </p:spPr>
        <p:txBody>
          <a:bodyPr wrap="square" lIns="0" tIns="0" rIns="0" bIns="0" rtlCol="0" anchor="ctr"/>
          <a:lstStyle/>
          <a:p>
            <a:pPr marL="0" indent="0">
              <a:buNone/>
            </a:pPr>
            <a:r>
              <a:rPr lang="en-US" sz="6000" b="1" dirty="0">
                <a:solidFill>
                  <a:srgbClr val="5BDCBB"/>
                </a:solidFill>
                <a:latin typeface="Georgia" panose="02040502050405020303" pitchFamily="34" charset="0"/>
                <a:ea typeface="Georgia" panose="02040502050405020303" pitchFamily="34" charset="-122"/>
                <a:cs typeface="Georgia" panose="02040502050405020303" pitchFamily="34" charset="-120"/>
              </a:rPr>
              <a:t>ECOSPHERE</a:t>
            </a:r>
            <a:endParaRPr lang="en-US" sz="6000" dirty="0"/>
          </a:p>
        </p:txBody>
      </p:sp>
      <p:sp>
        <p:nvSpPr>
          <p:cNvPr id="8" name="Text 5"/>
          <p:cNvSpPr/>
          <p:nvPr/>
        </p:nvSpPr>
        <p:spPr>
          <a:xfrm>
            <a:off x="731520" y="3291840"/>
            <a:ext cx="8961120" cy="457200"/>
          </a:xfrm>
          <a:prstGeom prst="rect">
            <a:avLst/>
          </a:prstGeom>
          <a:noFill/>
        </p:spPr>
        <p:txBody>
          <a:bodyPr wrap="square" lIns="0" tIns="0" rIns="0" bIns="0" rtlCol="0" anchor="ctr"/>
          <a:lstStyle/>
          <a:p>
            <a:pPr marL="0" indent="0">
              <a:buNone/>
            </a:pPr>
            <a:r>
              <a:rPr lang="en-US" sz="1600" i="1" dirty="0">
                <a:solidFill>
                  <a:srgbClr val="C7C396"/>
                </a:solidFill>
                <a:latin typeface="Segoe UI" panose="020B0502040204020203" pitchFamily="34" charset="0"/>
                <a:ea typeface="Segoe UI" panose="020B0502040204020203" pitchFamily="34" charset="-122"/>
                <a:cs typeface="Segoe UI" panose="020B0502040204020203" pitchFamily="34" charset="-120"/>
              </a:rPr>
              <a:t>Intelligent Environmental Decision Support &amp; Sustainability Intelligence Platform</a:t>
            </a:r>
            <a:endParaRPr lang="en-US" sz="1600" dirty="0"/>
          </a:p>
        </p:txBody>
      </p:sp>
      <p:sp>
        <p:nvSpPr>
          <p:cNvPr id="9" name="Shape 6"/>
          <p:cNvSpPr/>
          <p:nvPr/>
        </p:nvSpPr>
        <p:spPr>
          <a:xfrm>
            <a:off x="731520" y="3931920"/>
            <a:ext cx="6949440" cy="0"/>
          </a:xfrm>
          <a:prstGeom prst="line">
            <a:avLst/>
          </a:prstGeom>
          <a:noFill/>
          <a:ln w="19050">
            <a:solidFill>
              <a:srgbClr val="5BDCBB"/>
            </a:solidFill>
            <a:prstDash val="solid"/>
          </a:ln>
        </p:spPr>
        <p:txBody>
          <a:bodyPr/>
          <a:p/>
        </p:txBody>
      </p:sp>
      <p:sp>
        <p:nvSpPr>
          <p:cNvPr id="10" name="Text 7"/>
          <p:cNvSpPr/>
          <p:nvPr/>
        </p:nvSpPr>
        <p:spPr>
          <a:xfrm>
            <a:off x="731520" y="4114800"/>
            <a:ext cx="8961120" cy="365760"/>
          </a:xfrm>
          <a:prstGeom prst="rect">
            <a:avLst/>
          </a:prstGeom>
          <a:noFill/>
        </p:spPr>
        <p:txBody>
          <a:bodyPr wrap="square" lIns="0" tIns="0" rIns="0" bIns="0" rtlCol="0" anchor="ctr"/>
          <a:lstStyle/>
          <a:p>
            <a:pPr marL="0" indent="0">
              <a:buNone/>
            </a:pPr>
            <a:r>
              <a:rPr lang="en-US" sz="14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Proposal Focus:  </a:t>
            </a:r>
            <a:r>
              <a:rPr lang="en-US" sz="1400" dirty="0">
                <a:solidFill>
                  <a:srgbClr val="FFFFFF"/>
                </a:solidFill>
                <a:latin typeface="Segoe UI" panose="020B0502040204020203" pitchFamily="34" charset="0"/>
                <a:ea typeface="Segoe UI" panose="020B0502040204020203" pitchFamily="34" charset="-122"/>
                <a:cs typeface="Segoe UI" panose="020B0502040204020203" pitchFamily="34" charset="-120"/>
              </a:rPr>
              <a:t>Predictive Analytics, Multi-Resource Optimization &amp; Explainable AI</a:t>
            </a:r>
            <a:endParaRPr lang="en-US" sz="1400" dirty="0"/>
          </a:p>
        </p:txBody>
      </p:sp>
      <p:sp>
        <p:nvSpPr>
          <p:cNvPr id="11" name="Text 8"/>
          <p:cNvSpPr/>
          <p:nvPr/>
        </p:nvSpPr>
        <p:spPr>
          <a:xfrm>
            <a:off x="731520" y="4480560"/>
            <a:ext cx="9144000" cy="365760"/>
          </a:xfrm>
          <a:prstGeom prst="rect">
            <a:avLst/>
          </a:prstGeom>
          <a:noFill/>
        </p:spPr>
        <p:txBody>
          <a:bodyPr wrap="square" lIns="0" tIns="0" rIns="0" bIns="0" rtlCol="0" anchor="ctr"/>
          <a:lstStyle/>
          <a:p>
            <a:pPr marL="0" indent="0">
              <a:buNone/>
            </a:pPr>
            <a:r>
              <a:rPr lang="en-US" sz="13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Core Stack:  </a:t>
            </a: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React.js · Spring Boot 3 · PostgreSQL · FastAPI · Google OR-Tools · Gemini API</a:t>
            </a:r>
            <a:endParaRPr lang="en-US" sz="1350" dirty="0"/>
          </a:p>
        </p:txBody>
      </p:sp>
      <p:sp>
        <p:nvSpPr>
          <p:cNvPr id="12" name="Text 9"/>
          <p:cNvSpPr/>
          <p:nvPr/>
        </p:nvSpPr>
        <p:spPr>
          <a:xfrm>
            <a:off x="731520" y="4892040"/>
            <a:ext cx="8686800" cy="320040"/>
          </a:xfrm>
          <a:prstGeom prst="rect">
            <a:avLst/>
          </a:prstGeom>
          <a:noFill/>
        </p:spPr>
        <p:txBody>
          <a:bodyPr wrap="square" lIns="0" tIns="0" rIns="0" bIns="0" rtlCol="0" anchor="ctr"/>
          <a:lstStyle/>
          <a:p>
            <a:pPr marL="0" indent="0">
              <a:buNone/>
            </a:pPr>
            <a:r>
              <a:rPr lang="en-US" sz="1100" dirty="0">
                <a:solidFill>
                  <a:srgbClr val="C7C396"/>
                </a:solidFill>
                <a:latin typeface="Segoe UI" panose="020B0502040204020203" pitchFamily="34" charset="0"/>
                <a:ea typeface="Segoe UI" panose="020B0502040204020203" pitchFamily="34" charset="-122"/>
                <a:cs typeface="Segoe UI" panose="020B0502040204020203" pitchFamily="34" charset="-120"/>
              </a:rPr>
              <a:t>Continuous Behaviour Learning  ·  XGBoost Prediction  ·  Multi-Objective Decision Support</a:t>
            </a:r>
            <a:endParaRPr lang="en-US" sz="1100" dirty="0"/>
          </a:p>
        </p:txBody>
      </p:sp>
      <p:sp>
        <p:nvSpPr>
          <p:cNvPr id="13" name="Shape 10"/>
          <p:cNvSpPr/>
          <p:nvPr/>
        </p:nvSpPr>
        <p:spPr>
          <a:xfrm>
            <a:off x="731520" y="5623560"/>
            <a:ext cx="7863840" cy="685800"/>
          </a:xfrm>
          <a:prstGeom prst="roundRect">
            <a:avLst>
              <a:gd name="adj" fmla="val 13333"/>
            </a:avLst>
          </a:prstGeom>
          <a:solidFill>
            <a:srgbClr val="156D4F"/>
          </a:solidFill>
          <a:ln w="12700">
            <a:solidFill>
              <a:srgbClr val="57926E"/>
            </a:solidFill>
            <a:prstDash val="solid"/>
          </a:ln>
        </p:spPr>
        <p:txBody>
          <a:bodyPr/>
          <a:p/>
        </p:txBody>
      </p:sp>
      <p:pic>
        <p:nvPicPr>
          <p:cNvPr id="14" name="Image 1" descr="./icons/clipboard_white.png"/>
          <p:cNvPicPr>
            <a:picLocks noChangeAspect="1"/>
          </p:cNvPicPr>
          <p:nvPr/>
        </p:nvPicPr>
        <p:blipFill>
          <a:blip r:embed="rId2"/>
          <a:stretch>
            <a:fillRect/>
          </a:stretch>
        </p:blipFill>
        <p:spPr>
          <a:xfrm>
            <a:off x="914400" y="5779008"/>
            <a:ext cx="365760" cy="365760"/>
          </a:xfrm>
          <a:prstGeom prst="rect">
            <a:avLst/>
          </a:prstGeom>
        </p:spPr>
      </p:pic>
      <p:sp>
        <p:nvSpPr>
          <p:cNvPr id="15" name="Text 11"/>
          <p:cNvSpPr/>
          <p:nvPr/>
        </p:nvSpPr>
        <p:spPr>
          <a:xfrm>
            <a:off x="1417320" y="5623560"/>
            <a:ext cx="6949440" cy="685800"/>
          </a:xfrm>
          <a:prstGeom prst="rect">
            <a:avLst/>
          </a:prstGeom>
          <a:noFill/>
        </p:spPr>
        <p:txBody>
          <a:bodyPr wrap="square" lIns="0" tIns="0" rIns="0" bIns="0" rtlCol="0" anchor="ctr"/>
          <a:lstStyle/>
          <a:p>
            <a:pPr marL="0" indent="0">
              <a:buNone/>
            </a:pPr>
            <a:r>
              <a:t>Full System Architectural Implementation &amp; Review</a:t>
            </a:r>
            <a:endParaRPr lang="en-US" sz="1300" dirty="0"/>
          </a:p>
        </p:txBody>
      </p:sp>
      <p:sp>
        <p:nvSpPr>
          <p:cNvPr id="16" name="Text 12">
            <a:hlinkClick r:id="rId3" action="ppaction://hlinksldjump"/>
          </p:cNvPr>
          <p:cNvSpPr/>
          <p:nvPr/>
        </p:nvSpPr>
        <p:spPr>
          <a:xfrm>
            <a:off x="8503920" y="6400800"/>
            <a:ext cx="3017520" cy="274320"/>
          </a:xfrm>
          <a:prstGeom prst="rect">
            <a:avLst/>
          </a:prstGeom>
          <a:noFill/>
        </p:spPr>
        <p:txBody>
          <a:bodyPr wrap="square" lIns="0" tIns="0" rIns="0" bIns="0" rtlCol="0" anchor="ctr"/>
          <a:lstStyle/>
          <a:p>
            <a:pPr marL="0" indent="0" algn="r">
              <a:buNone/>
            </a:pPr>
            <a:r>
              <a:rPr lang="en-US" sz="100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CLICK ANY ELEMENT TO BEGIN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56D4F">
              <a:alpha val="60000"/>
            </a:srgbClr>
          </a:solidFill>
        </p:spPr>
        <p:txBody>
          <a:bodyPr/>
          <a:p/>
        </p:txBody>
      </p:sp>
      <p:sp>
        <p:nvSpPr>
          <p:cNvPr id="3" name="Text 1"/>
          <p:cNvSpPr/>
          <p:nvPr/>
        </p:nvSpPr>
        <p:spPr>
          <a:xfrm>
            <a:off x="731520" y="77724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EVALUATION BOARD</a:t>
            </a:r>
            <a:endParaRPr lang="en-US" sz="1200" dirty="0"/>
          </a:p>
        </p:txBody>
      </p:sp>
      <p:sp>
        <p:nvSpPr>
          <p:cNvPr id="4" name="Text 2"/>
          <p:cNvSpPr/>
          <p:nvPr/>
        </p:nvSpPr>
        <p:spPr>
          <a:xfrm>
            <a:off x="731520" y="1097280"/>
            <a:ext cx="10515600" cy="82296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Introducing the EcoSphere Platform</a:t>
            </a:r>
            <a:endParaRPr lang="en-US" sz="3200" dirty="0"/>
          </a:p>
        </p:txBody>
      </p:sp>
      <p:sp>
        <p:nvSpPr>
          <p:cNvPr id="5" name="Text 3"/>
          <p:cNvSpPr/>
          <p:nvPr/>
        </p:nvSpPr>
        <p:spPr>
          <a:xfrm>
            <a:off x="731520" y="1965960"/>
            <a:ext cx="8412480" cy="1783080"/>
          </a:xfrm>
          <a:prstGeom prst="rect">
            <a:avLst/>
          </a:prstGeom>
          <a:noFill/>
        </p:spPr>
        <p:txBody>
          <a:bodyPr wrap="square" lIns="0" tIns="0" rIns="0" bIns="0" rtlCol="0" anchor="ctr"/>
          <a:lstStyle/>
          <a:p>
            <a:pPr marL="0" indent="0" algn="just">
              <a:lnSpc>
                <a:spcPct val="120000"/>
              </a:lnSpc>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We introduce EcoSphere: an ML-driven Environmental Decision Support Platform designed to shift sustainability management from historical reporting to active prediction, simulation, and optimization. Existing calculators only report past carbon footprint data, depending heavily on manual data entry and generic advice. EcoSphere addresses these limits by continually learning user behavior patterns, forecasting future carbon emissions, simulating sustainability actions (solar panels, public transit, LEDs) via a digital twin, and optimizing trade-offs across carbon, water, energy, waste, and financial costs using Google OR-Tools. Human-friendly explanations of scores and choices are generated using GenAI (Gemini/OpenAI API).</a:t>
            </a:r>
            <a:endParaRPr lang="en-US" sz="1350" dirty="0"/>
          </a:p>
        </p:txBody>
      </p:sp>
      <p:sp>
        <p:nvSpPr>
          <p:cNvPr id="6" name="Shape 4"/>
          <p:cNvSpPr/>
          <p:nvPr/>
        </p:nvSpPr>
        <p:spPr>
          <a:xfrm>
            <a:off x="731520" y="3886200"/>
            <a:ext cx="2377440" cy="914400"/>
          </a:xfrm>
          <a:prstGeom prst="roundRect">
            <a:avLst>
              <a:gd name="adj" fmla="val 10000"/>
            </a:avLst>
          </a:prstGeom>
          <a:solidFill>
            <a:srgbClr val="156D4F"/>
          </a:solidFill>
          <a:ln w="12700">
            <a:solidFill>
              <a:srgbClr val="5BDCBB"/>
            </a:solidFill>
            <a:prstDash val="solid"/>
          </a:ln>
        </p:spPr>
        <p:txBody>
          <a:bodyPr/>
          <a:p/>
        </p:txBody>
      </p:sp>
      <p:pic>
        <p:nvPicPr>
          <p:cNvPr id="7" name="Image 0" descr="./icons/bolt_white.png"/>
          <p:cNvPicPr>
            <a:picLocks noChangeAspect="1"/>
          </p:cNvPicPr>
          <p:nvPr/>
        </p:nvPicPr>
        <p:blipFill>
          <a:blip r:embed="rId1"/>
          <a:stretch>
            <a:fillRect/>
          </a:stretch>
        </p:blipFill>
        <p:spPr>
          <a:xfrm>
            <a:off x="914400" y="4114800"/>
            <a:ext cx="457200" cy="457200"/>
          </a:xfrm>
          <a:prstGeom prst="rect">
            <a:avLst/>
          </a:prstGeom>
        </p:spPr>
      </p:pic>
      <p:sp>
        <p:nvSpPr>
          <p:cNvPr id="8" name="Text 5"/>
          <p:cNvSpPr/>
          <p:nvPr/>
        </p:nvSpPr>
        <p:spPr>
          <a:xfrm>
            <a:off x="150876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Behavior Learning Engine</a:t>
            </a:r>
            <a:endParaRPr lang="en-US" sz="1150" dirty="0"/>
          </a:p>
        </p:txBody>
      </p:sp>
      <p:sp>
        <p:nvSpPr>
          <p:cNvPr id="9" name="Shape 6"/>
          <p:cNvSpPr/>
          <p:nvPr/>
        </p:nvSpPr>
        <p:spPr>
          <a:xfrm>
            <a:off x="3337560" y="3886200"/>
            <a:ext cx="2377440" cy="914400"/>
          </a:xfrm>
          <a:prstGeom prst="roundRect">
            <a:avLst>
              <a:gd name="adj" fmla="val 10000"/>
            </a:avLst>
          </a:prstGeom>
          <a:solidFill>
            <a:srgbClr val="156D4F"/>
          </a:solidFill>
          <a:ln w="12700">
            <a:solidFill>
              <a:srgbClr val="5BDCBB"/>
            </a:solidFill>
            <a:prstDash val="solid"/>
          </a:ln>
        </p:spPr>
        <p:txBody>
          <a:bodyPr/>
          <a:p/>
        </p:txBody>
      </p:sp>
      <p:pic>
        <p:nvPicPr>
          <p:cNvPr id="10" name="Image 1" descr="./icons/tags_white.png"/>
          <p:cNvPicPr>
            <a:picLocks noChangeAspect="1"/>
          </p:cNvPicPr>
          <p:nvPr/>
        </p:nvPicPr>
        <p:blipFill>
          <a:blip r:embed="rId2"/>
          <a:stretch>
            <a:fillRect/>
          </a:stretch>
        </p:blipFill>
        <p:spPr>
          <a:xfrm>
            <a:off x="3520440" y="4114800"/>
            <a:ext cx="457200" cy="457200"/>
          </a:xfrm>
          <a:prstGeom prst="rect">
            <a:avLst/>
          </a:prstGeom>
        </p:spPr>
      </p:pic>
      <p:sp>
        <p:nvSpPr>
          <p:cNvPr id="11" name="Text 7"/>
          <p:cNvSpPr/>
          <p:nvPr/>
        </p:nvSpPr>
        <p:spPr>
          <a:xfrm>
            <a:off x="411480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Cross-Domain Optimizer</a:t>
            </a:r>
            <a:endParaRPr lang="en-US" sz="1150" dirty="0"/>
          </a:p>
        </p:txBody>
      </p:sp>
      <p:sp>
        <p:nvSpPr>
          <p:cNvPr id="12" name="Shape 8"/>
          <p:cNvSpPr/>
          <p:nvPr/>
        </p:nvSpPr>
        <p:spPr>
          <a:xfrm>
            <a:off x="5943600" y="3886200"/>
            <a:ext cx="2377440" cy="914400"/>
          </a:xfrm>
          <a:prstGeom prst="roundRect">
            <a:avLst>
              <a:gd name="adj" fmla="val 10000"/>
            </a:avLst>
          </a:prstGeom>
          <a:solidFill>
            <a:srgbClr val="156D4F"/>
          </a:solidFill>
          <a:ln w="12700">
            <a:solidFill>
              <a:srgbClr val="5BDCBB"/>
            </a:solidFill>
            <a:prstDash val="solid"/>
          </a:ln>
        </p:spPr>
        <p:txBody>
          <a:bodyPr/>
          <a:p/>
        </p:txBody>
      </p:sp>
      <p:pic>
        <p:nvPicPr>
          <p:cNvPr id="13" name="Image 2" descr="./icons/shield_white.png"/>
          <p:cNvPicPr>
            <a:picLocks noChangeAspect="1"/>
          </p:cNvPicPr>
          <p:nvPr/>
        </p:nvPicPr>
        <p:blipFill>
          <a:blip r:embed="rId3"/>
          <a:stretch>
            <a:fillRect/>
          </a:stretch>
        </p:blipFill>
        <p:spPr>
          <a:xfrm>
            <a:off x="6126480" y="4114800"/>
            <a:ext cx="457200" cy="457200"/>
          </a:xfrm>
          <a:prstGeom prst="rect">
            <a:avLst/>
          </a:prstGeom>
        </p:spPr>
      </p:pic>
      <p:sp>
        <p:nvSpPr>
          <p:cNvPr id="14" name="Text 9"/>
          <p:cNvSpPr/>
          <p:nvPr/>
        </p:nvSpPr>
        <p:spPr>
          <a:xfrm>
            <a:off x="6720840" y="3886200"/>
            <a:ext cx="1508760" cy="914400"/>
          </a:xfrm>
          <a:prstGeom prst="rect">
            <a:avLst/>
          </a:prstGeom>
          <a:noFill/>
        </p:spPr>
        <p:txBody>
          <a:bodyPr wrap="square" lIns="0" tIns="0" rIns="0" bIns="0" rtlCol="0" anchor="ct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Explainable GenAI Assistant</a:t>
            </a:r>
            <a:endParaRPr lang="en-US" sz="1150" dirty="0"/>
          </a:p>
        </p:txBody>
      </p:sp>
      <p:sp>
        <p:nvSpPr>
          <p:cNvPr id="15" name="Shape 10">
            <a:hlinkClick r:id="rId4" action="ppaction://hlinksldjump"/>
          </p:cNvPr>
          <p:cNvSpPr/>
          <p:nvPr/>
        </p:nvSpPr>
        <p:spPr>
          <a:xfrm>
            <a:off x="731520" y="5257800"/>
            <a:ext cx="7863840" cy="777240"/>
          </a:xfrm>
          <a:prstGeom prst="roundRect">
            <a:avLst>
              <a:gd name="adj" fmla="val 49412"/>
            </a:avLst>
          </a:prstGeom>
          <a:solidFill>
            <a:srgbClr val="5BDCBB"/>
          </a:solidFill>
          <a:effectLst>
            <a:outerShdw blurRad="101600" dist="38100" dir="2700000" algn="bl" rotWithShape="0">
              <a:srgbClr val="000000">
                <a:alpha val="12000"/>
              </a:srgbClr>
            </a:outerShdw>
          </a:effectLst>
        </p:spPr>
        <p:txBody>
          <a:bodyPr/>
          <a:p/>
        </p:txBody>
      </p:sp>
      <p:sp>
        <p:nvSpPr>
          <p:cNvPr id="16" name="Text 11">
            <a:hlinkClick r:id="rId4" action="ppaction://hlinksldjump"/>
          </p:cNvPr>
          <p:cNvSpPr/>
          <p:nvPr/>
        </p:nvSpPr>
        <p:spPr>
          <a:xfrm>
            <a:off x="731520" y="5257800"/>
            <a:ext cx="7863840" cy="777240"/>
          </a:xfrm>
          <a:prstGeom prst="rect">
            <a:avLst/>
          </a:prstGeom>
          <a:noFill/>
        </p:spPr>
        <p:txBody>
          <a:bodyPr wrap="square" lIns="0" tIns="0" rIns="0" bIns="0" rtlCol="0" anchor="ctr"/>
          <a:lstStyle/>
          <a:p>
            <a:pPr marL="0" indent="0" algn="ctr">
              <a:buNone/>
            </a:pPr>
            <a:r>
              <a:rPr lang="en-US" sz="1500" b="1" u="sng" dirty="0">
                <a:solidFill>
                  <a:srgbClr val="364327"/>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CONTINUE TO DOMAIN SPECIFICATION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Text 0"/>
          <p:cNvSpPr/>
          <p:nvPr/>
        </p:nvSpPr>
        <p:spPr>
          <a:xfrm>
            <a:off x="731520" y="77724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DOMAIN SPECIFICATION</a:t>
            </a:r>
            <a:endParaRPr lang="en-US" sz="1200" dirty="0"/>
          </a:p>
        </p:txBody>
      </p:sp>
      <p:sp>
        <p:nvSpPr>
          <p:cNvPr id="3" name="Text 1"/>
          <p:cNvSpPr/>
          <p:nvPr/>
        </p:nvSpPr>
        <p:spPr>
          <a:xfrm>
            <a:off x="731520" y="1097280"/>
            <a:ext cx="10515600" cy="82296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System Classification &amp; Development Pathway</a:t>
            </a:r>
            <a:endParaRPr lang="en-US" sz="3200" dirty="0"/>
          </a:p>
        </p:txBody>
      </p:sp>
      <p:sp>
        <p:nvSpPr>
          <p:cNvPr id="4" name="Shape 2"/>
          <p:cNvSpPr/>
          <p:nvPr/>
        </p:nvSpPr>
        <p:spPr>
          <a:xfrm>
            <a:off x="731520" y="1920240"/>
            <a:ext cx="5120640" cy="3474720"/>
          </a:xfrm>
          <a:prstGeom prst="roundRect">
            <a:avLst>
              <a:gd name="adj" fmla="val 2632"/>
            </a:avLst>
          </a:prstGeom>
          <a:solidFill>
            <a:srgbClr val="156D4F"/>
          </a:solidFill>
          <a:effectLst>
            <a:outerShdw blurRad="76200" dist="25400" dir="2700000" algn="bl" rotWithShape="0">
              <a:srgbClr val="000000">
                <a:alpha val="8000"/>
              </a:srgbClr>
            </a:outerShdw>
          </a:effectLst>
        </p:spPr>
      </p:sp>
      <p:sp>
        <p:nvSpPr>
          <p:cNvPr id="5" name="Shape 3"/>
          <p:cNvSpPr/>
          <p:nvPr/>
        </p:nvSpPr>
        <p:spPr>
          <a:xfrm>
            <a:off x="960120" y="2121408"/>
            <a:ext cx="502920" cy="502920"/>
          </a:xfrm>
          <a:prstGeom prst="ellipse">
            <a:avLst/>
          </a:prstGeom>
          <a:solidFill>
            <a:srgbClr val="57926E"/>
          </a:solidFill>
          <a:effectLst>
            <a:outerShdw blurRad="76200" dist="25400" dir="2700000" algn="bl" rotWithShape="0">
              <a:srgbClr val="000000">
                <a:alpha val="8000"/>
              </a:srgbClr>
            </a:outerShdw>
          </a:effectLst>
        </p:spPr>
      </p:sp>
      <p:pic>
        <p:nvPicPr>
          <p:cNvPr id="6" name="Image 0" descr="./icons/shield_white.png"/>
          <p:cNvPicPr>
            <a:picLocks noChangeAspect="1"/>
          </p:cNvPicPr>
          <p:nvPr/>
        </p:nvPicPr>
        <p:blipFill>
          <a:blip r:embed="rId1"/>
          <a:stretch>
            <a:fillRect/>
          </a:stretch>
        </p:blipFill>
        <p:spPr>
          <a:xfrm>
            <a:off x="1090879" y="2252167"/>
            <a:ext cx="241402" cy="241402"/>
          </a:xfrm>
          <a:prstGeom prst="rect">
            <a:avLst/>
          </a:prstGeom>
        </p:spPr>
      </p:pic>
      <p:sp>
        <p:nvSpPr>
          <p:cNvPr id="7" name="Text 4"/>
          <p:cNvSpPr/>
          <p:nvPr/>
        </p:nvSpPr>
        <p:spPr>
          <a:xfrm>
            <a:off x="1600200" y="2084832"/>
            <a:ext cx="4023360" cy="548640"/>
          </a:xfrm>
          <a:prstGeom prst="rect">
            <a:avLst/>
          </a:prstGeom>
          <a:noFill/>
        </p:spPr>
        <p:txBody>
          <a:bodyPr wrap="square" lIns="0" tIns="0" rIns="0" bIns="0" rtlCol="0" anchor="ctr"/>
          <a:lstStyle/>
          <a:p>
            <a:pPr marL="0" indent="0">
              <a:buNone/>
            </a:pPr>
            <a:r>
              <a:rPr lang="en-US" sz="18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Target Domain Classification</a:t>
            </a:r>
            <a:endParaRPr lang="en-US" sz="1800" dirty="0"/>
          </a:p>
        </p:txBody>
      </p:sp>
      <p:pic>
        <p:nvPicPr>
          <p:cNvPr id="8" name="Image 1" descr="./icons/check_white.png"/>
          <p:cNvPicPr>
            <a:picLocks noChangeAspect="1"/>
          </p:cNvPicPr>
          <p:nvPr/>
        </p:nvPicPr>
        <p:blipFill>
          <a:blip r:embed="rId2"/>
          <a:stretch>
            <a:fillRect/>
          </a:stretch>
        </p:blipFill>
        <p:spPr>
          <a:xfrm>
            <a:off x="960120" y="2816352"/>
            <a:ext cx="164592" cy="164592"/>
          </a:xfrm>
          <a:prstGeom prst="rect">
            <a:avLst/>
          </a:prstGeom>
        </p:spPr>
      </p:pic>
      <p:sp>
        <p:nvSpPr>
          <p:cNvPr id="9" name="Text 5"/>
          <p:cNvSpPr/>
          <p:nvPr/>
        </p:nvSpPr>
        <p:spPr>
          <a:xfrm>
            <a:off x="1234440" y="2788920"/>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Primary Domain: Intelligent Environmental Sustainability &amp; Decision Support.</a:t>
            </a:r>
            <a:endParaRPr lang="en-US" sz="1200" dirty="0"/>
          </a:p>
        </p:txBody>
      </p:sp>
      <p:pic>
        <p:nvPicPr>
          <p:cNvPr id="10" name="Image 2" descr="./icons/check_white.png"/>
          <p:cNvPicPr>
            <a:picLocks noChangeAspect="1"/>
          </p:cNvPicPr>
          <p:nvPr/>
        </p:nvPicPr>
        <p:blipFill>
          <a:blip r:embed="rId2"/>
          <a:stretch>
            <a:fillRect/>
          </a:stretch>
        </p:blipFill>
        <p:spPr>
          <a:xfrm>
            <a:off x="960120" y="3291840"/>
            <a:ext cx="164592" cy="164592"/>
          </a:xfrm>
          <a:prstGeom prst="rect">
            <a:avLst/>
          </a:prstGeom>
        </p:spPr>
      </p:pic>
      <p:sp>
        <p:nvSpPr>
          <p:cNvPr id="11" name="Text 6"/>
          <p:cNvSpPr/>
          <p:nvPr/>
        </p:nvSpPr>
        <p:spPr>
          <a:xfrm>
            <a:off x="1234440" y="3264408"/>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Sub-Domain Focus: ML-driven Behavioral Analytics &amp; Predictive Forecasting.</a:t>
            </a:r>
            <a:endParaRPr lang="en-US" sz="1200" dirty="0"/>
          </a:p>
        </p:txBody>
      </p:sp>
      <p:pic>
        <p:nvPicPr>
          <p:cNvPr id="12" name="Image 3" descr="./icons/check_white.png"/>
          <p:cNvPicPr>
            <a:picLocks noChangeAspect="1"/>
          </p:cNvPicPr>
          <p:nvPr/>
        </p:nvPicPr>
        <p:blipFill>
          <a:blip r:embed="rId2"/>
          <a:stretch>
            <a:fillRect/>
          </a:stretch>
        </p:blipFill>
        <p:spPr>
          <a:xfrm>
            <a:off x="960120" y="3767328"/>
            <a:ext cx="164592" cy="164592"/>
          </a:xfrm>
          <a:prstGeom prst="rect">
            <a:avLst/>
          </a:prstGeom>
        </p:spPr>
      </p:pic>
      <p:sp>
        <p:nvSpPr>
          <p:cNvPr id="13" name="Text 7"/>
          <p:cNvSpPr/>
          <p:nvPr/>
        </p:nvSpPr>
        <p:spPr>
          <a:xfrm>
            <a:off x="1234440" y="3739896"/>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Problem Space: Optimizing carbon, water, energy, waste, and financial cost.</a:t>
            </a:r>
            <a:endParaRPr lang="en-US" sz="1200" dirty="0"/>
          </a:p>
        </p:txBody>
      </p:sp>
      <p:pic>
        <p:nvPicPr>
          <p:cNvPr id="14" name="Image 4" descr="./icons/check_white.png"/>
          <p:cNvPicPr>
            <a:picLocks noChangeAspect="1"/>
          </p:cNvPicPr>
          <p:nvPr/>
        </p:nvPicPr>
        <p:blipFill>
          <a:blip r:embed="rId2"/>
          <a:stretch>
            <a:fillRect/>
          </a:stretch>
        </p:blipFill>
        <p:spPr>
          <a:xfrm>
            <a:off x="960120" y="4242816"/>
            <a:ext cx="164592" cy="164592"/>
          </a:xfrm>
          <a:prstGeom prst="rect">
            <a:avLst/>
          </a:prstGeom>
        </p:spPr>
      </p:pic>
      <p:sp>
        <p:nvSpPr>
          <p:cNvPr id="15" name="Text 8"/>
          <p:cNvSpPr/>
          <p:nvPr/>
        </p:nvSpPr>
        <p:spPr>
          <a:xfrm>
            <a:off x="1234440" y="4215384"/>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Decision Logic: Resolving conflicting recommendations using multi-objective solvers.</a:t>
            </a:r>
            <a:endParaRPr lang="en-US" sz="1200" dirty="0"/>
          </a:p>
        </p:txBody>
      </p:sp>
      <p:pic>
        <p:nvPicPr>
          <p:cNvPr id="16" name="Image 5" descr="./icons/check_white.png"/>
          <p:cNvPicPr>
            <a:picLocks noChangeAspect="1"/>
          </p:cNvPicPr>
          <p:nvPr/>
        </p:nvPicPr>
        <p:blipFill>
          <a:blip r:embed="rId2"/>
          <a:stretch>
            <a:fillRect/>
          </a:stretch>
        </p:blipFill>
        <p:spPr>
          <a:xfrm>
            <a:off x="960120" y="4718304"/>
            <a:ext cx="164592" cy="164592"/>
          </a:xfrm>
          <a:prstGeom prst="rect">
            <a:avLst/>
          </a:prstGeom>
        </p:spPr>
      </p:pic>
      <p:sp>
        <p:nvSpPr>
          <p:cNvPr id="17" name="Text 9"/>
          <p:cNvSpPr/>
          <p:nvPr/>
        </p:nvSpPr>
        <p:spPr>
          <a:xfrm>
            <a:off x="1234440" y="4690872"/>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System Classification: Hybrid client-server architecture with FastAPI ML &amp; Spring Boot API.</a:t>
            </a:r>
            <a:endParaRPr lang="en-US" sz="1200" dirty="0"/>
          </a:p>
        </p:txBody>
      </p:sp>
      <p:sp>
        <p:nvSpPr>
          <p:cNvPr id="18" name="Shape 10"/>
          <p:cNvSpPr/>
          <p:nvPr/>
        </p:nvSpPr>
        <p:spPr>
          <a:xfrm>
            <a:off x="6217920" y="1920240"/>
            <a:ext cx="5120640" cy="3474720"/>
          </a:xfrm>
          <a:prstGeom prst="roundRect">
            <a:avLst>
              <a:gd name="adj" fmla="val 2632"/>
            </a:avLst>
          </a:prstGeom>
          <a:solidFill>
            <a:srgbClr val="156D4F"/>
          </a:solidFill>
          <a:effectLst>
            <a:outerShdw blurRad="76200" dist="25400" dir="2700000" algn="bl" rotWithShape="0">
              <a:srgbClr val="000000">
                <a:alpha val="8000"/>
              </a:srgbClr>
            </a:outerShdw>
          </a:effectLst>
        </p:spPr>
      </p:sp>
      <p:sp>
        <p:nvSpPr>
          <p:cNvPr id="19" name="Shape 11"/>
          <p:cNvSpPr/>
          <p:nvPr/>
        </p:nvSpPr>
        <p:spPr>
          <a:xfrm>
            <a:off x="6446520" y="2121408"/>
            <a:ext cx="502920" cy="502920"/>
          </a:xfrm>
          <a:prstGeom prst="ellipse">
            <a:avLst/>
          </a:prstGeom>
          <a:solidFill>
            <a:srgbClr val="57926E"/>
          </a:solidFill>
          <a:effectLst>
            <a:outerShdw blurRad="76200" dist="25400" dir="2700000" algn="bl" rotWithShape="0">
              <a:srgbClr val="000000">
                <a:alpha val="8000"/>
              </a:srgbClr>
            </a:outerShdw>
          </a:effectLst>
        </p:spPr>
      </p:sp>
      <p:pic>
        <p:nvPicPr>
          <p:cNvPr id="20" name="Image 6" descr="./icons/route_white.png"/>
          <p:cNvPicPr>
            <a:picLocks noChangeAspect="1"/>
          </p:cNvPicPr>
          <p:nvPr/>
        </p:nvPicPr>
        <p:blipFill>
          <a:blip r:embed="rId3"/>
          <a:stretch>
            <a:fillRect/>
          </a:stretch>
        </p:blipFill>
        <p:spPr>
          <a:xfrm>
            <a:off x="6577279" y="2252167"/>
            <a:ext cx="241402" cy="241402"/>
          </a:xfrm>
          <a:prstGeom prst="rect">
            <a:avLst/>
          </a:prstGeom>
        </p:spPr>
      </p:pic>
      <p:sp>
        <p:nvSpPr>
          <p:cNvPr id="21" name="Text 12"/>
          <p:cNvSpPr/>
          <p:nvPr/>
        </p:nvSpPr>
        <p:spPr>
          <a:xfrm>
            <a:off x="7086600" y="2084832"/>
            <a:ext cx="4023360" cy="548640"/>
          </a:xfrm>
          <a:prstGeom prst="rect">
            <a:avLst/>
          </a:prstGeom>
          <a:noFill/>
        </p:spPr>
        <p:txBody>
          <a:bodyPr wrap="square" lIns="0" tIns="0" rIns="0" bIns="0" rtlCol="0" anchor="ctr"/>
          <a:lstStyle/>
          <a:p>
            <a:pPr marL="0" indent="0">
              <a:buNone/>
            </a:pPr>
            <a:r>
              <a:rPr lang="en-US" sz="18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Development Pathway &amp; Focus</a:t>
            </a:r>
            <a:endParaRPr lang="en-US" sz="1800" dirty="0"/>
          </a:p>
        </p:txBody>
      </p:sp>
      <p:pic>
        <p:nvPicPr>
          <p:cNvPr id="22" name="Image 7" descr="./icons/check_white.png"/>
          <p:cNvPicPr>
            <a:picLocks noChangeAspect="1"/>
          </p:cNvPicPr>
          <p:nvPr/>
        </p:nvPicPr>
        <p:blipFill>
          <a:blip r:embed="rId2"/>
          <a:stretch>
            <a:fillRect/>
          </a:stretch>
        </p:blipFill>
        <p:spPr>
          <a:xfrm>
            <a:off x="6446520" y="2816352"/>
            <a:ext cx="164592" cy="164592"/>
          </a:xfrm>
          <a:prstGeom prst="rect">
            <a:avLst/>
          </a:prstGeom>
        </p:spPr>
      </p:pic>
      <p:sp>
        <p:nvSpPr>
          <p:cNvPr id="23" name="Text 13"/>
          <p:cNvSpPr/>
          <p:nvPr/>
        </p:nvSpPr>
        <p:spPr>
          <a:xfrm>
            <a:off x="6720840" y="2788920"/>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Frontend Framework: React.js with TypeScript and responsive Tailwind/MUI dashboards.</a:t>
            </a:r>
            <a:endParaRPr lang="en-US" sz="1200" dirty="0"/>
          </a:p>
        </p:txBody>
      </p:sp>
      <p:pic>
        <p:nvPicPr>
          <p:cNvPr id="24" name="Image 8" descr="./icons/check_white.png"/>
          <p:cNvPicPr>
            <a:picLocks noChangeAspect="1"/>
          </p:cNvPicPr>
          <p:nvPr/>
        </p:nvPicPr>
        <p:blipFill>
          <a:blip r:embed="rId2"/>
          <a:stretch>
            <a:fillRect/>
          </a:stretch>
        </p:blipFill>
        <p:spPr>
          <a:xfrm>
            <a:off x="6446520" y="3291840"/>
            <a:ext cx="164592" cy="164592"/>
          </a:xfrm>
          <a:prstGeom prst="rect">
            <a:avLst/>
          </a:prstGeom>
        </p:spPr>
      </p:pic>
      <p:sp>
        <p:nvSpPr>
          <p:cNvPr id="25" name="Text 14"/>
          <p:cNvSpPr/>
          <p:nvPr/>
        </p:nvSpPr>
        <p:spPr>
          <a:xfrm>
            <a:off x="6720840" y="3264408"/>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Machine Learning: FastAPI (Python) executing scikit-learn &amp; XGBoost forecasting.</a:t>
            </a:r>
            <a:endParaRPr lang="en-US" sz="1200" dirty="0"/>
          </a:p>
        </p:txBody>
      </p:sp>
      <p:pic>
        <p:nvPicPr>
          <p:cNvPr id="26" name="Image 9" descr="./icons/check_white.png"/>
          <p:cNvPicPr>
            <a:picLocks noChangeAspect="1"/>
          </p:cNvPicPr>
          <p:nvPr/>
        </p:nvPicPr>
        <p:blipFill>
          <a:blip r:embed="rId2"/>
          <a:stretch>
            <a:fillRect/>
          </a:stretch>
        </p:blipFill>
        <p:spPr>
          <a:xfrm>
            <a:off x="6446520" y="3767328"/>
            <a:ext cx="164592" cy="164592"/>
          </a:xfrm>
          <a:prstGeom prst="rect">
            <a:avLst/>
          </a:prstGeom>
        </p:spPr>
      </p:pic>
      <p:sp>
        <p:nvSpPr>
          <p:cNvPr id="27" name="Text 15"/>
          <p:cNvSpPr/>
          <p:nvPr/>
        </p:nvSpPr>
        <p:spPr>
          <a:xfrm>
            <a:off x="6720840" y="3739896"/>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Application Gateway: Spring Boot 3 paired with Hibernate and PostgreSQL.</a:t>
            </a:r>
            <a:endParaRPr lang="en-US" sz="1200" dirty="0"/>
          </a:p>
        </p:txBody>
      </p:sp>
      <p:pic>
        <p:nvPicPr>
          <p:cNvPr id="28" name="Image 10" descr="./icons/check_white.png"/>
          <p:cNvPicPr>
            <a:picLocks noChangeAspect="1"/>
          </p:cNvPicPr>
          <p:nvPr/>
        </p:nvPicPr>
        <p:blipFill>
          <a:blip r:embed="rId2"/>
          <a:stretch>
            <a:fillRect/>
          </a:stretch>
        </p:blipFill>
        <p:spPr>
          <a:xfrm>
            <a:off x="6446520" y="4242816"/>
            <a:ext cx="164592" cy="164592"/>
          </a:xfrm>
          <a:prstGeom prst="rect">
            <a:avLst/>
          </a:prstGeom>
        </p:spPr>
      </p:pic>
      <p:sp>
        <p:nvSpPr>
          <p:cNvPr id="29" name="Text 16"/>
          <p:cNvSpPr/>
          <p:nvPr/>
        </p:nvSpPr>
        <p:spPr>
          <a:xfrm>
            <a:off x="6720840" y="4215384"/>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Optimization Solver: Google OR-Tools for multi-resource constraint optimization.</a:t>
            </a:r>
            <a:endParaRPr lang="en-US" sz="1200" dirty="0"/>
          </a:p>
        </p:txBody>
      </p:sp>
      <p:pic>
        <p:nvPicPr>
          <p:cNvPr id="30" name="Image 11" descr="./icons/check_white.png"/>
          <p:cNvPicPr>
            <a:picLocks noChangeAspect="1"/>
          </p:cNvPicPr>
          <p:nvPr/>
        </p:nvPicPr>
        <p:blipFill>
          <a:blip r:embed="rId2"/>
          <a:stretch>
            <a:fillRect/>
          </a:stretch>
        </p:blipFill>
        <p:spPr>
          <a:xfrm>
            <a:off x="6446520" y="4718304"/>
            <a:ext cx="164592" cy="164592"/>
          </a:xfrm>
          <a:prstGeom prst="rect">
            <a:avLst/>
          </a:prstGeom>
        </p:spPr>
      </p:pic>
      <p:sp>
        <p:nvSpPr>
          <p:cNvPr id="31" name="Text 17"/>
          <p:cNvSpPr/>
          <p:nvPr/>
        </p:nvSpPr>
        <p:spPr>
          <a:xfrm>
            <a:off x="6720840" y="4690872"/>
            <a:ext cx="4389120" cy="502920"/>
          </a:xfrm>
          <a:prstGeom prst="rect">
            <a:avLst/>
          </a:prstGeom>
          <a:noFill/>
        </p:spPr>
        <p:txBody>
          <a:bodyPr wrap="square" lIns="0" tIns="0" rIns="0" bIns="0" rtlCol="0" anchor="ctr"/>
          <a:lstStyle/>
          <a:p>
            <a:pPr marL="0" indent="0" algn="just">
              <a:lnSpc>
                <a:spcPct val="118000"/>
              </a:lnSpc>
              <a:buNone/>
            </a:pPr>
            <a:r>
              <a:rPr lang="en-US" sz="1200" dirty="0">
                <a:solidFill>
                  <a:srgbClr val="FFFFFF"/>
                </a:solidFill>
                <a:latin typeface="Segoe UI" panose="020B0502040204020203" pitchFamily="34" charset="0"/>
                <a:ea typeface="Segoe UI" panose="020B0502040204020203" pitchFamily="34" charset="-122"/>
                <a:cs typeface="Segoe UI" panose="020B0502040204020203" pitchFamily="34" charset="-120"/>
              </a:rPr>
              <a:t>Spatial Integration: Leaflet.js maps + OpenStreetMap with PostGIS geo-queries.</a:t>
            </a:r>
            <a:endParaRPr lang="en-US" sz="1200" dirty="0"/>
          </a:p>
        </p:txBody>
      </p:sp>
      <p:sp>
        <p:nvSpPr>
          <p:cNvPr id="32" name="Shape 18">
            <a:hlinkClick r:id="rId4" action="ppaction://hlinksldjump"/>
          </p:cNvPr>
          <p:cNvSpPr/>
          <p:nvPr/>
        </p:nvSpPr>
        <p:spPr>
          <a:xfrm>
            <a:off x="731520" y="5577840"/>
            <a:ext cx="10607040" cy="685800"/>
          </a:xfrm>
          <a:prstGeom prst="roundRect">
            <a:avLst>
              <a:gd name="adj" fmla="val 13333"/>
            </a:avLst>
          </a:prstGeom>
          <a:solidFill>
            <a:srgbClr val="156D4F"/>
          </a:solidFill>
          <a:ln w="12700">
            <a:solidFill>
              <a:srgbClr val="57926E"/>
            </a:solidFill>
            <a:prstDash val="solid"/>
          </a:ln>
          <a:effectLst>
            <a:outerShdw blurRad="101600" dist="38100" dir="2700000" algn="bl" rotWithShape="0">
              <a:srgbClr val="000000">
                <a:alpha val="12000"/>
              </a:srgbClr>
            </a:outerShdw>
          </a:effectLst>
        </p:spPr>
      </p:sp>
      <p:pic>
        <p:nvPicPr>
          <p:cNvPr id="33" name="Image 12" descr="./icons/grid_white.png">
            <a:hlinkClick r:id="rId4" action="ppaction://hlinksldjump"/>
          </p:cNvPr>
          <p:cNvPicPr>
            <a:picLocks noChangeAspect="1"/>
          </p:cNvPicPr>
          <p:nvPr/>
        </p:nvPicPr>
        <p:blipFill>
          <a:blip r:embed="rId5"/>
          <a:stretch>
            <a:fillRect/>
          </a:stretch>
        </p:blipFill>
        <p:spPr>
          <a:xfrm>
            <a:off x="914400" y="5733288"/>
            <a:ext cx="365760" cy="365760"/>
          </a:xfrm>
          <a:prstGeom prst="rect">
            <a:avLst/>
          </a:prstGeom>
        </p:spPr>
      </p:pic>
      <p:sp>
        <p:nvSpPr>
          <p:cNvPr id="34" name="Text 19">
            <a:hlinkClick r:id="rId4" action="ppaction://hlinksldjump"/>
          </p:cNvPr>
          <p:cNvSpPr/>
          <p:nvPr/>
        </p:nvSpPr>
        <p:spPr>
          <a:xfrm>
            <a:off x="1417320" y="5577840"/>
            <a:ext cx="9144000" cy="685800"/>
          </a:xfrm>
          <a:prstGeom prst="rect">
            <a:avLst/>
          </a:prstGeom>
          <a:noFill/>
        </p:spPr>
        <p:txBody>
          <a:bodyPr wrap="square" lIns="0" tIns="0" rIns="0" bIns="0" rtlCol="0" anchor="ctr"/>
          <a:lstStyle/>
          <a:p>
            <a:pPr marL="0" indent="0">
              <a:buNone/>
            </a:pPr>
            <a:r>
              <a:rPr lang="en-US" sz="1400" b="1" u="sng" dirty="0">
                <a:solidFill>
                  <a:srgbClr val="FFFFF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PROCEED TO THE EVALUATION REVIEW BOARD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EVALUATION HUB</a:t>
            </a:r>
            <a:endParaRPr lang="en-US" sz="1200" dirty="0"/>
          </a:p>
        </p:txBody>
      </p:sp>
      <p:sp>
        <p:nvSpPr>
          <p:cNvPr id="3" name="Text 1"/>
          <p:cNvSpPr/>
          <p:nvPr/>
        </p:nvSpPr>
        <p:spPr>
          <a:xfrm>
            <a:off x="548640" y="640080"/>
            <a:ext cx="10972800" cy="548640"/>
          </a:xfrm>
          <a:prstGeom prst="rect">
            <a:avLst/>
          </a:prstGeom>
          <a:noFill/>
        </p:spPr>
        <p:txBody>
          <a:bodyPr wrap="square" lIns="0" tIns="0" rIns="0" bIns="0" rtlCol="0" anchor="ctr"/>
          <a:lstStyle/>
          <a:p>
            <a:pPr marL="0" indent="0">
              <a:buNone/>
            </a:pPr>
            <a:r>
              <a:rPr lang="en-US" sz="2600" b="1" dirty="0">
                <a:solidFill>
                  <a:srgbClr val="5BDCBB"/>
                </a:solidFill>
                <a:latin typeface="Georgia" panose="02040502050405020303" pitchFamily="34" charset="0"/>
                <a:ea typeface="Georgia" panose="02040502050405020303" pitchFamily="34" charset="-122"/>
                <a:cs typeface="Georgia" panose="02040502050405020303" pitchFamily="34" charset="-120"/>
              </a:rPr>
              <a:t>Click a Section — Reviewed Live by the Panel</a:t>
            </a:r>
            <a:endParaRPr lang="en-US" sz="2600" dirty="0"/>
          </a:p>
        </p:txBody>
      </p:sp>
      <p:sp>
        <p:nvSpPr>
          <p:cNvPr id="4" name="Shape 2">
            <a:hlinkClick r:id="rId1" action="ppaction://hlinksldjump"/>
          </p:cNvPr>
          <p:cNvSpPr/>
          <p:nvPr/>
        </p:nvSpPr>
        <p:spPr>
          <a:xfrm>
            <a:off x="54864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5" name="Shape 3"/>
          <p:cNvSpPr/>
          <p:nvPr/>
        </p:nvSpPr>
        <p:spPr>
          <a:xfrm>
            <a:off x="1563624" y="1389888"/>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6" name="Image 0" descr="./icons/compass_white.png"/>
          <p:cNvPicPr>
            <a:picLocks noChangeAspect="1"/>
          </p:cNvPicPr>
          <p:nvPr/>
        </p:nvPicPr>
        <p:blipFill>
          <a:blip r:embed="rId2"/>
          <a:stretch>
            <a:fillRect/>
          </a:stretch>
        </p:blipFill>
        <p:spPr>
          <a:xfrm>
            <a:off x="1730045" y="1556309"/>
            <a:ext cx="307238" cy="307238"/>
          </a:xfrm>
          <a:prstGeom prst="rect">
            <a:avLst/>
          </a:prstGeom>
        </p:spPr>
      </p:pic>
      <p:sp>
        <p:nvSpPr>
          <p:cNvPr id="7" name="Text 4">
            <a:hlinkClick r:id="rId1" action="ppaction://hlinksldjump"/>
          </p:cNvPr>
          <p:cNvSpPr/>
          <p:nvPr/>
        </p:nvSpPr>
        <p:spPr>
          <a:xfrm>
            <a:off x="64008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Vision &amp; Problem</a:t>
            </a:r>
            <a:endParaRPr lang="en-US" sz="1300" dirty="0"/>
          </a:p>
        </p:txBody>
      </p:sp>
      <p:sp>
        <p:nvSpPr>
          <p:cNvPr id="8" name="Text 5">
            <a:hlinkClick r:id="rId1" action="ppaction://hlinksldjump"/>
          </p:cNvPr>
          <p:cNvSpPr/>
          <p:nvPr/>
        </p:nvSpPr>
        <p:spPr>
          <a:xfrm>
            <a:off x="64008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Historical limits &amp; active support</a:t>
            </a:r>
            <a:endParaRPr lang="en-US" sz="950" dirty="0"/>
          </a:p>
        </p:txBody>
      </p:sp>
      <p:sp>
        <p:nvSpPr>
          <p:cNvPr id="9" name="Text 6"/>
          <p:cNvSpPr/>
          <p:nvPr/>
        </p:nvSpPr>
        <p:spPr>
          <a:xfrm>
            <a:off x="65836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01</a:t>
            </a:r>
            <a:endParaRPr lang="en-US" sz="950" dirty="0"/>
          </a:p>
        </p:txBody>
      </p:sp>
      <p:sp>
        <p:nvSpPr>
          <p:cNvPr id="10" name="Shape 7">
            <a:hlinkClick r:id="rId3" action="ppaction://hlinksldjump"/>
          </p:cNvPr>
          <p:cNvSpPr/>
          <p:nvPr/>
        </p:nvSpPr>
        <p:spPr>
          <a:xfrm>
            <a:off x="333756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11" name="Shape 8"/>
          <p:cNvSpPr/>
          <p:nvPr/>
        </p:nvSpPr>
        <p:spPr>
          <a:xfrm>
            <a:off x="4352544" y="1389888"/>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12" name="Image 1" descr="./icons/server_white.png"/>
          <p:cNvPicPr>
            <a:picLocks noChangeAspect="1"/>
          </p:cNvPicPr>
          <p:nvPr/>
        </p:nvPicPr>
        <p:blipFill>
          <a:blip r:embed="rId4"/>
          <a:stretch>
            <a:fillRect/>
          </a:stretch>
        </p:blipFill>
        <p:spPr>
          <a:xfrm>
            <a:off x="4518965" y="1556309"/>
            <a:ext cx="307238" cy="307238"/>
          </a:xfrm>
          <a:prstGeom prst="rect">
            <a:avLst/>
          </a:prstGeom>
        </p:spPr>
      </p:pic>
      <p:sp>
        <p:nvSpPr>
          <p:cNvPr id="13" name="Text 9">
            <a:hlinkClick r:id="rId3" action="ppaction://hlinksldjump"/>
          </p:cNvPr>
          <p:cNvSpPr/>
          <p:nvPr/>
        </p:nvSpPr>
        <p:spPr>
          <a:xfrm>
            <a:off x="342900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Workflow Sequence</a:t>
            </a:r>
            <a:endParaRPr lang="en-US" sz="1300" dirty="0"/>
          </a:p>
        </p:txBody>
      </p:sp>
      <p:sp>
        <p:nvSpPr>
          <p:cNvPr id="14" name="Text 10">
            <a:hlinkClick r:id="rId3" action="ppaction://hlinksldjump"/>
          </p:cNvPr>
          <p:cNvSpPr/>
          <p:nvPr/>
        </p:nvSpPr>
        <p:spPr>
          <a:xfrm>
            <a:off x="342900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Chronological sustainability flow</a:t>
            </a:r>
            <a:endParaRPr lang="en-US" sz="950" dirty="0"/>
          </a:p>
        </p:txBody>
      </p:sp>
      <p:sp>
        <p:nvSpPr>
          <p:cNvPr id="15" name="Text 11"/>
          <p:cNvSpPr/>
          <p:nvPr/>
        </p:nvSpPr>
        <p:spPr>
          <a:xfrm>
            <a:off x="344728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02</a:t>
            </a:r>
            <a:endParaRPr lang="en-US" sz="950" dirty="0"/>
          </a:p>
        </p:txBody>
      </p:sp>
      <p:sp>
        <p:nvSpPr>
          <p:cNvPr id="16" name="Shape 12">
            <a:hlinkClick r:id="rId5" action="ppaction://hlinksldjump"/>
          </p:cNvPr>
          <p:cNvSpPr/>
          <p:nvPr/>
        </p:nvSpPr>
        <p:spPr>
          <a:xfrm>
            <a:off x="612648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17" name="Shape 13"/>
          <p:cNvSpPr/>
          <p:nvPr/>
        </p:nvSpPr>
        <p:spPr>
          <a:xfrm>
            <a:off x="7141464" y="1389888"/>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18" name="Image 2" descr="./icons/robot_white.png"/>
          <p:cNvPicPr>
            <a:picLocks noChangeAspect="1"/>
          </p:cNvPicPr>
          <p:nvPr/>
        </p:nvPicPr>
        <p:blipFill>
          <a:blip r:embed="rId6"/>
          <a:stretch>
            <a:fillRect/>
          </a:stretch>
        </p:blipFill>
        <p:spPr>
          <a:xfrm>
            <a:off x="7307885" y="1556309"/>
            <a:ext cx="307238" cy="307238"/>
          </a:xfrm>
          <a:prstGeom prst="rect">
            <a:avLst/>
          </a:prstGeom>
        </p:spPr>
      </p:pic>
      <p:sp>
        <p:nvSpPr>
          <p:cNvPr id="19" name="Text 14">
            <a:hlinkClick r:id="rId5" action="ppaction://hlinksldjump"/>
          </p:cNvPr>
          <p:cNvSpPr/>
          <p:nvPr/>
        </p:nvSpPr>
        <p:spPr>
          <a:xfrm>
            <a:off x="621792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Dual-Engine Framework</a:t>
            </a:r>
            <a:endParaRPr lang="en-US" sz="1300" dirty="0"/>
          </a:p>
        </p:txBody>
      </p:sp>
      <p:sp>
        <p:nvSpPr>
          <p:cNvPr id="20" name="Text 15">
            <a:hlinkClick r:id="rId5" action="ppaction://hlinksldjump"/>
          </p:cNvPr>
          <p:cNvSpPr/>
          <p:nvPr/>
        </p:nvSpPr>
        <p:spPr>
          <a:xfrm>
            <a:off x="621792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Core features &amp; system model</a:t>
            </a:r>
            <a:endParaRPr lang="en-US" sz="950" dirty="0"/>
          </a:p>
        </p:txBody>
      </p:sp>
      <p:sp>
        <p:nvSpPr>
          <p:cNvPr id="21" name="Text 16"/>
          <p:cNvSpPr/>
          <p:nvPr/>
        </p:nvSpPr>
        <p:spPr>
          <a:xfrm>
            <a:off x="623620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03</a:t>
            </a:r>
            <a:endParaRPr lang="en-US" sz="950" dirty="0"/>
          </a:p>
        </p:txBody>
      </p:sp>
      <p:sp>
        <p:nvSpPr>
          <p:cNvPr id="22" name="Shape 17">
            <a:hlinkClick r:id="rId7" action="ppaction://hlinksldjump"/>
          </p:cNvPr>
          <p:cNvSpPr/>
          <p:nvPr/>
        </p:nvSpPr>
        <p:spPr>
          <a:xfrm>
            <a:off x="8915400" y="1280160"/>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23" name="Shape 18"/>
          <p:cNvSpPr/>
          <p:nvPr/>
        </p:nvSpPr>
        <p:spPr>
          <a:xfrm>
            <a:off x="9930384" y="1389888"/>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24" name="Image 3" descr="./icons/tags_white.png"/>
          <p:cNvPicPr>
            <a:picLocks noChangeAspect="1"/>
          </p:cNvPicPr>
          <p:nvPr/>
        </p:nvPicPr>
        <p:blipFill>
          <a:blip r:embed="rId8"/>
          <a:stretch>
            <a:fillRect/>
          </a:stretch>
        </p:blipFill>
        <p:spPr>
          <a:xfrm>
            <a:off x="10096805" y="1556309"/>
            <a:ext cx="307238" cy="307238"/>
          </a:xfrm>
          <a:prstGeom prst="rect">
            <a:avLst/>
          </a:prstGeom>
        </p:spPr>
      </p:pic>
      <p:sp>
        <p:nvSpPr>
          <p:cNvPr id="25" name="Text 19">
            <a:hlinkClick r:id="rId7" action="ppaction://hlinksldjump"/>
          </p:cNvPr>
          <p:cNvSpPr/>
          <p:nvPr/>
        </p:nvSpPr>
        <p:spPr>
          <a:xfrm>
            <a:off x="9006840" y="2057400"/>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7" action="ppaction://hlinksldjump"/>
              </a:rPr>
              <a:t>Layered Tech Stack</a:t>
            </a:r>
            <a:endParaRPr lang="en-US" sz="1300" dirty="0"/>
          </a:p>
        </p:txBody>
      </p:sp>
      <p:sp>
        <p:nvSpPr>
          <p:cNvPr id="26" name="Text 20">
            <a:hlinkClick r:id="rId7" action="ppaction://hlinksldjump"/>
          </p:cNvPr>
          <p:cNvSpPr/>
          <p:nvPr/>
        </p:nvSpPr>
        <p:spPr>
          <a:xfrm>
            <a:off x="9006840" y="2377440"/>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7" action="ppaction://hlinksldjump"/>
              </a:rPr>
              <a:t>React, Spring Boot, FastAPI, OR-Tools</a:t>
            </a:r>
            <a:endParaRPr lang="en-US" sz="950" dirty="0"/>
          </a:p>
        </p:txBody>
      </p:sp>
      <p:sp>
        <p:nvSpPr>
          <p:cNvPr id="27" name="Text 21"/>
          <p:cNvSpPr/>
          <p:nvPr/>
        </p:nvSpPr>
        <p:spPr>
          <a:xfrm>
            <a:off x="9025128" y="1353312"/>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04</a:t>
            </a:r>
            <a:endParaRPr lang="en-US" sz="950" dirty="0"/>
          </a:p>
        </p:txBody>
      </p:sp>
      <p:sp>
        <p:nvSpPr>
          <p:cNvPr id="28" name="Shape 22">
            <a:hlinkClick r:id="rId9" action="ppaction://hlinksldjump"/>
          </p:cNvPr>
          <p:cNvSpPr/>
          <p:nvPr/>
        </p:nvSpPr>
        <p:spPr>
          <a:xfrm>
            <a:off x="54864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29" name="Shape 23"/>
          <p:cNvSpPr/>
          <p:nvPr/>
        </p:nvSpPr>
        <p:spPr>
          <a:xfrm>
            <a:off x="1563624" y="3054096"/>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30" name="Image 4" descr="./icons/layer_white.png"/>
          <p:cNvPicPr>
            <a:picLocks noChangeAspect="1"/>
          </p:cNvPicPr>
          <p:nvPr/>
        </p:nvPicPr>
        <p:blipFill>
          <a:blip r:embed="rId10"/>
          <a:stretch>
            <a:fillRect/>
          </a:stretch>
        </p:blipFill>
        <p:spPr>
          <a:xfrm>
            <a:off x="1730045" y="3220517"/>
            <a:ext cx="307238" cy="307238"/>
          </a:xfrm>
          <a:prstGeom prst="rect">
            <a:avLst/>
          </a:prstGeom>
        </p:spPr>
      </p:pic>
      <p:sp>
        <p:nvSpPr>
          <p:cNvPr id="31" name="Text 24">
            <a:hlinkClick r:id="rId9" action="ppaction://hlinksldjump"/>
          </p:cNvPr>
          <p:cNvSpPr/>
          <p:nvPr/>
        </p:nvSpPr>
        <p:spPr>
          <a:xfrm>
            <a:off x="64008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9" action="ppaction://hlinksldjump"/>
              </a:rPr>
              <a:t>System Blueprint</a:t>
            </a:r>
            <a:endParaRPr lang="en-US" sz="1300" dirty="0"/>
          </a:p>
        </p:txBody>
      </p:sp>
      <p:sp>
        <p:nvSpPr>
          <p:cNvPr id="32" name="Text 25">
            <a:hlinkClick r:id="rId9" action="ppaction://hlinksldjump"/>
          </p:cNvPr>
          <p:cNvSpPr/>
          <p:nvPr/>
        </p:nvSpPr>
        <p:spPr>
          <a:xfrm>
            <a:off x="64008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9" action="ppaction://hlinksldjump"/>
              </a:rPr>
              <a:t>EcoSphere architecture diagram</a:t>
            </a:r>
            <a:endParaRPr lang="en-US" sz="950" dirty="0"/>
          </a:p>
        </p:txBody>
      </p:sp>
      <p:sp>
        <p:nvSpPr>
          <p:cNvPr id="33" name="Text 26"/>
          <p:cNvSpPr/>
          <p:nvPr/>
        </p:nvSpPr>
        <p:spPr>
          <a:xfrm>
            <a:off x="65836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05</a:t>
            </a:r>
            <a:endParaRPr lang="en-US" sz="950" dirty="0"/>
          </a:p>
        </p:txBody>
      </p:sp>
      <p:sp>
        <p:nvSpPr>
          <p:cNvPr id="34" name="Shape 27">
            <a:hlinkClick r:id="rId11" action="ppaction://hlinksldjump"/>
          </p:cNvPr>
          <p:cNvSpPr/>
          <p:nvPr/>
        </p:nvSpPr>
        <p:spPr>
          <a:xfrm>
            <a:off x="333756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35" name="Shape 28"/>
          <p:cNvSpPr/>
          <p:nvPr/>
        </p:nvSpPr>
        <p:spPr>
          <a:xfrm>
            <a:off x="4352544" y="3054096"/>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36" name="Image 5" descr="./icons/gateway_white.png"/>
          <p:cNvPicPr>
            <a:picLocks noChangeAspect="1"/>
          </p:cNvPicPr>
          <p:nvPr/>
        </p:nvPicPr>
        <p:blipFill>
          <a:blip r:embed="rId12"/>
          <a:stretch>
            <a:fillRect/>
          </a:stretch>
        </p:blipFill>
        <p:spPr>
          <a:xfrm>
            <a:off x="4518965" y="3220517"/>
            <a:ext cx="307238" cy="307238"/>
          </a:xfrm>
          <a:prstGeom prst="rect">
            <a:avLst/>
          </a:prstGeom>
        </p:spPr>
      </p:pic>
      <p:sp>
        <p:nvSpPr>
          <p:cNvPr id="37" name="Text 29">
            <a:hlinkClick r:id="rId11" action="ppaction://hlinksldjump"/>
          </p:cNvPr>
          <p:cNvSpPr/>
          <p:nvPr/>
        </p:nvSpPr>
        <p:spPr>
          <a:xfrm>
            <a:off x="342900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1" action="ppaction://hlinksldjump"/>
              </a:rPr>
              <a:t>Frontend &amp; Map UI</a:t>
            </a:r>
            <a:endParaRPr lang="en-US" sz="1300" dirty="0"/>
          </a:p>
        </p:txBody>
      </p:sp>
      <p:sp>
        <p:nvSpPr>
          <p:cNvPr id="38" name="Text 30">
            <a:hlinkClick r:id="rId11" action="ppaction://hlinksldjump"/>
          </p:cNvPr>
          <p:cNvSpPr/>
          <p:nvPr/>
        </p:nvSpPr>
        <p:spPr>
          <a:xfrm>
            <a:off x="342900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1" action="ppaction://hlinksldjump"/>
              </a:rPr>
              <a:t>React client &amp; Leaflet visualization</a:t>
            </a:r>
            <a:endParaRPr lang="en-US" sz="950" dirty="0"/>
          </a:p>
        </p:txBody>
      </p:sp>
      <p:sp>
        <p:nvSpPr>
          <p:cNvPr id="39" name="Text 31"/>
          <p:cNvSpPr/>
          <p:nvPr/>
        </p:nvSpPr>
        <p:spPr>
          <a:xfrm>
            <a:off x="344728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06</a:t>
            </a:r>
            <a:endParaRPr lang="en-US" sz="950" dirty="0"/>
          </a:p>
        </p:txBody>
      </p:sp>
      <p:sp>
        <p:nvSpPr>
          <p:cNvPr id="40" name="Shape 32">
            <a:hlinkClick r:id="rId13" action="ppaction://hlinksldjump"/>
          </p:cNvPr>
          <p:cNvSpPr/>
          <p:nvPr/>
        </p:nvSpPr>
        <p:spPr>
          <a:xfrm>
            <a:off x="612648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41" name="Shape 33"/>
          <p:cNvSpPr/>
          <p:nvPr/>
        </p:nvSpPr>
        <p:spPr>
          <a:xfrm>
            <a:off x="7141464" y="3054096"/>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42" name="Image 6" descr="./icons/key_white.png"/>
          <p:cNvPicPr>
            <a:picLocks noChangeAspect="1"/>
          </p:cNvPicPr>
          <p:nvPr/>
        </p:nvPicPr>
        <p:blipFill>
          <a:blip r:embed="rId14"/>
          <a:stretch>
            <a:fillRect/>
          </a:stretch>
        </p:blipFill>
        <p:spPr>
          <a:xfrm>
            <a:off x="7307885" y="3220517"/>
            <a:ext cx="307238" cy="307238"/>
          </a:xfrm>
          <a:prstGeom prst="rect">
            <a:avLst/>
          </a:prstGeom>
        </p:spPr>
      </p:pic>
      <p:sp>
        <p:nvSpPr>
          <p:cNvPr id="43" name="Text 34">
            <a:hlinkClick r:id="rId13" action="ppaction://hlinksldjump"/>
          </p:cNvPr>
          <p:cNvSpPr/>
          <p:nvPr/>
        </p:nvSpPr>
        <p:spPr>
          <a:xfrm>
            <a:off x="621792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3" action="ppaction://hlinksldjump"/>
              </a:rPr>
              <a:t>Backend API &amp; ML</a:t>
            </a:r>
            <a:endParaRPr lang="en-US" sz="1300" dirty="0"/>
          </a:p>
        </p:txBody>
      </p:sp>
      <p:sp>
        <p:nvSpPr>
          <p:cNvPr id="44" name="Text 35">
            <a:hlinkClick r:id="rId13" action="ppaction://hlinksldjump"/>
          </p:cNvPr>
          <p:cNvSpPr/>
          <p:nvPr/>
        </p:nvSpPr>
        <p:spPr>
          <a:xfrm>
            <a:off x="621792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3" action="ppaction://hlinksldjump"/>
              </a:rPr>
              <a:t>Spring Gateway &amp; FastAPI services</a:t>
            </a:r>
            <a:endParaRPr lang="en-US" sz="950" dirty="0"/>
          </a:p>
        </p:txBody>
      </p:sp>
      <p:sp>
        <p:nvSpPr>
          <p:cNvPr id="45" name="Text 36"/>
          <p:cNvSpPr/>
          <p:nvPr/>
        </p:nvSpPr>
        <p:spPr>
          <a:xfrm>
            <a:off x="623620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07</a:t>
            </a:r>
            <a:endParaRPr lang="en-US" sz="950" dirty="0"/>
          </a:p>
        </p:txBody>
      </p:sp>
      <p:sp>
        <p:nvSpPr>
          <p:cNvPr id="46" name="Shape 37">
            <a:hlinkClick r:id="rId15" action="ppaction://hlinksldjump"/>
          </p:cNvPr>
          <p:cNvSpPr/>
          <p:nvPr/>
        </p:nvSpPr>
        <p:spPr>
          <a:xfrm>
            <a:off x="8915400" y="2944368"/>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47" name="Shape 38"/>
          <p:cNvSpPr/>
          <p:nvPr/>
        </p:nvSpPr>
        <p:spPr>
          <a:xfrm>
            <a:off x="9930384" y="3054096"/>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48" name="Image 7" descr="./icons/shield_white.png"/>
          <p:cNvPicPr>
            <a:picLocks noChangeAspect="1"/>
          </p:cNvPicPr>
          <p:nvPr/>
        </p:nvPicPr>
        <p:blipFill>
          <a:blip r:embed="rId16"/>
          <a:stretch>
            <a:fillRect/>
          </a:stretch>
        </p:blipFill>
        <p:spPr>
          <a:xfrm>
            <a:off x="10096805" y="3220517"/>
            <a:ext cx="307238" cy="307238"/>
          </a:xfrm>
          <a:prstGeom prst="rect">
            <a:avLst/>
          </a:prstGeom>
        </p:spPr>
      </p:pic>
      <p:sp>
        <p:nvSpPr>
          <p:cNvPr id="49" name="Text 39">
            <a:hlinkClick r:id="rId15" action="ppaction://hlinksldjump"/>
          </p:cNvPr>
          <p:cNvSpPr/>
          <p:nvPr/>
        </p:nvSpPr>
        <p:spPr>
          <a:xfrm>
            <a:off x="9006840" y="3721608"/>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5" action="ppaction://hlinksldjump"/>
              </a:rPr>
              <a:t>Novelty Engines</a:t>
            </a:r>
            <a:endParaRPr lang="en-US" sz="1300" dirty="0"/>
          </a:p>
        </p:txBody>
      </p:sp>
      <p:sp>
        <p:nvSpPr>
          <p:cNvPr id="50" name="Text 40">
            <a:hlinkClick r:id="rId15" action="ppaction://hlinksldjump"/>
          </p:cNvPr>
          <p:cNvSpPr/>
          <p:nvPr/>
        </p:nvSpPr>
        <p:spPr>
          <a:xfrm>
            <a:off x="9006840" y="4041648"/>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5" action="ppaction://hlinksldjump"/>
              </a:rPr>
              <a:t>Resource solver &amp; adaptive coaching</a:t>
            </a:r>
            <a:endParaRPr lang="en-US" sz="950" dirty="0"/>
          </a:p>
        </p:txBody>
      </p:sp>
      <p:sp>
        <p:nvSpPr>
          <p:cNvPr id="51" name="Text 41"/>
          <p:cNvSpPr/>
          <p:nvPr/>
        </p:nvSpPr>
        <p:spPr>
          <a:xfrm>
            <a:off x="9025128" y="3017520"/>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08</a:t>
            </a:r>
            <a:endParaRPr lang="en-US" sz="950" dirty="0"/>
          </a:p>
        </p:txBody>
      </p:sp>
      <p:sp>
        <p:nvSpPr>
          <p:cNvPr id="52" name="Shape 42">
            <a:hlinkClick r:id="rId17" action="ppaction://hlinksldjump"/>
          </p:cNvPr>
          <p:cNvSpPr/>
          <p:nvPr/>
        </p:nvSpPr>
        <p:spPr>
          <a:xfrm>
            <a:off x="54864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53" name="Shape 43"/>
          <p:cNvSpPr/>
          <p:nvPr/>
        </p:nvSpPr>
        <p:spPr>
          <a:xfrm>
            <a:off x="1563624" y="4718304"/>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54" name="Image 8" descr="./icons/clipboard_white.png"/>
          <p:cNvPicPr>
            <a:picLocks noChangeAspect="1"/>
          </p:cNvPicPr>
          <p:nvPr/>
        </p:nvPicPr>
        <p:blipFill>
          <a:blip r:embed="rId18"/>
          <a:stretch>
            <a:fillRect/>
          </a:stretch>
        </p:blipFill>
        <p:spPr>
          <a:xfrm>
            <a:off x="1730045" y="4884725"/>
            <a:ext cx="307238" cy="307238"/>
          </a:xfrm>
          <a:prstGeom prst="rect">
            <a:avLst/>
          </a:prstGeom>
        </p:spPr>
      </p:pic>
      <p:sp>
        <p:nvSpPr>
          <p:cNvPr id="55" name="Text 44">
            <a:hlinkClick r:id="rId17" action="ppaction://hlinksldjump"/>
          </p:cNvPr>
          <p:cNvSpPr/>
          <p:nvPr/>
        </p:nvSpPr>
        <p:spPr>
          <a:xfrm>
            <a:off x="64008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7" action="ppaction://hlinksldjump"/>
              </a:rPr>
              <a:t>Team Structure</a:t>
            </a:r>
            <a:endParaRPr lang="en-US" sz="1300" dirty="0"/>
          </a:p>
        </p:txBody>
      </p:sp>
      <p:sp>
        <p:nvSpPr>
          <p:cNvPr id="56" name="Text 45">
            <a:hlinkClick r:id="rId17" action="ppaction://hlinksldjump"/>
          </p:cNvPr>
          <p:cNvSpPr/>
          <p:nvPr/>
        </p:nvSpPr>
        <p:spPr>
          <a:xfrm>
            <a:off x="64008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7" action="ppaction://hlinksldjump"/>
              </a:rPr>
              <a:t>Grish, Gangash, Girijesh &amp; Godfrey</a:t>
            </a:r>
            <a:endParaRPr lang="en-US" sz="950" dirty="0"/>
          </a:p>
        </p:txBody>
      </p:sp>
      <p:sp>
        <p:nvSpPr>
          <p:cNvPr id="57" name="Text 46"/>
          <p:cNvSpPr/>
          <p:nvPr/>
        </p:nvSpPr>
        <p:spPr>
          <a:xfrm>
            <a:off x="65836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09</a:t>
            </a:r>
            <a:endParaRPr lang="en-US" sz="950" dirty="0"/>
          </a:p>
        </p:txBody>
      </p:sp>
      <p:sp>
        <p:nvSpPr>
          <p:cNvPr id="58" name="Shape 47">
            <a:hlinkClick r:id="rId19" action="ppaction://hlinksldjump"/>
          </p:cNvPr>
          <p:cNvSpPr/>
          <p:nvPr/>
        </p:nvSpPr>
        <p:spPr>
          <a:xfrm>
            <a:off x="333756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59" name="Shape 48"/>
          <p:cNvSpPr/>
          <p:nvPr/>
        </p:nvSpPr>
        <p:spPr>
          <a:xfrm>
            <a:off x="4352544" y="4718304"/>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60" name="Image 9" descr="./icons/route_white.png"/>
          <p:cNvPicPr>
            <a:picLocks noChangeAspect="1"/>
          </p:cNvPicPr>
          <p:nvPr/>
        </p:nvPicPr>
        <p:blipFill>
          <a:blip r:embed="rId20"/>
          <a:stretch>
            <a:fillRect/>
          </a:stretch>
        </p:blipFill>
        <p:spPr>
          <a:xfrm>
            <a:off x="4518965" y="4884725"/>
            <a:ext cx="307238" cy="307238"/>
          </a:xfrm>
          <a:prstGeom prst="rect">
            <a:avLst/>
          </a:prstGeom>
        </p:spPr>
      </p:pic>
      <p:sp>
        <p:nvSpPr>
          <p:cNvPr id="61" name="Text 49">
            <a:hlinkClick r:id="rId19" action="ppaction://hlinksldjump"/>
          </p:cNvPr>
          <p:cNvSpPr/>
          <p:nvPr/>
        </p:nvSpPr>
        <p:spPr>
          <a:xfrm>
            <a:off x="342900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19" action="ppaction://hlinksldjump"/>
              </a:rPr>
              <a:t>Prototype Roadmap</a:t>
            </a:r>
            <a:endParaRPr lang="en-US" sz="1300" dirty="0"/>
          </a:p>
        </p:txBody>
      </p:sp>
      <p:sp>
        <p:nvSpPr>
          <p:cNvPr id="62" name="Text 50">
            <a:hlinkClick r:id="rId19" action="ppaction://hlinksldjump"/>
          </p:cNvPr>
          <p:cNvSpPr/>
          <p:nvPr/>
        </p:nvSpPr>
        <p:spPr>
          <a:xfrm>
            <a:off x="342900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19" action="ppaction://hlinksldjump"/>
              </a:rPr>
              <a:t>6-Week final year timeline (W1-6)</a:t>
            </a:r>
            <a:endParaRPr lang="en-US" sz="950" dirty="0"/>
          </a:p>
        </p:txBody>
      </p:sp>
      <p:sp>
        <p:nvSpPr>
          <p:cNvPr id="63" name="Text 51"/>
          <p:cNvSpPr/>
          <p:nvPr/>
        </p:nvSpPr>
        <p:spPr>
          <a:xfrm>
            <a:off x="344728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10</a:t>
            </a:r>
            <a:endParaRPr lang="en-US" sz="950" dirty="0"/>
          </a:p>
        </p:txBody>
      </p:sp>
      <p:sp>
        <p:nvSpPr>
          <p:cNvPr id="64" name="Shape 52">
            <a:hlinkClick r:id="rId21" action="ppaction://hlinksldjump"/>
          </p:cNvPr>
          <p:cNvSpPr/>
          <p:nvPr/>
        </p:nvSpPr>
        <p:spPr>
          <a:xfrm>
            <a:off x="612648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65" name="Shape 53"/>
          <p:cNvSpPr/>
          <p:nvPr/>
        </p:nvSpPr>
        <p:spPr>
          <a:xfrm>
            <a:off x="7141464" y="4718304"/>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66" name="Image 10" descr="./icons/brain_white.png"/>
          <p:cNvPicPr>
            <a:picLocks noChangeAspect="1"/>
          </p:cNvPicPr>
          <p:nvPr/>
        </p:nvPicPr>
        <p:blipFill>
          <a:blip r:embed="rId22"/>
          <a:stretch>
            <a:fillRect/>
          </a:stretch>
        </p:blipFill>
        <p:spPr>
          <a:xfrm>
            <a:off x="7307885" y="4884725"/>
            <a:ext cx="307238" cy="307238"/>
          </a:xfrm>
          <a:prstGeom prst="rect">
            <a:avLst/>
          </a:prstGeom>
        </p:spPr>
      </p:pic>
      <p:sp>
        <p:nvSpPr>
          <p:cNvPr id="67" name="Text 54">
            <a:hlinkClick r:id="rId21" action="ppaction://hlinksldjump"/>
          </p:cNvPr>
          <p:cNvSpPr/>
          <p:nvPr/>
        </p:nvSpPr>
        <p:spPr>
          <a:xfrm>
            <a:off x="621792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21" action="ppaction://hlinksldjump"/>
              </a:rPr>
              <a:t>R&amp;D Highlights</a:t>
            </a:r>
            <a:endParaRPr lang="en-US" sz="1300" dirty="0"/>
          </a:p>
        </p:txBody>
      </p:sp>
      <p:sp>
        <p:nvSpPr>
          <p:cNvPr id="68" name="Text 55">
            <a:hlinkClick r:id="rId21" action="ppaction://hlinksldjump"/>
          </p:cNvPr>
          <p:cNvSpPr/>
          <p:nvPr/>
        </p:nvSpPr>
        <p:spPr>
          <a:xfrm>
            <a:off x="621792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21" action="ppaction://hlinksldjump"/>
              </a:rPr>
              <a:t>Academic novelty &amp; expected outcomes</a:t>
            </a:r>
            <a:endParaRPr lang="en-US" sz="950" dirty="0"/>
          </a:p>
        </p:txBody>
      </p:sp>
      <p:sp>
        <p:nvSpPr>
          <p:cNvPr id="69" name="Text 56"/>
          <p:cNvSpPr/>
          <p:nvPr/>
        </p:nvSpPr>
        <p:spPr>
          <a:xfrm>
            <a:off x="623620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11</a:t>
            </a:r>
            <a:endParaRPr lang="en-US" sz="950" dirty="0"/>
          </a:p>
        </p:txBody>
      </p:sp>
      <p:sp>
        <p:nvSpPr>
          <p:cNvPr id="70" name="Shape 57">
            <a:hlinkClick r:id="rId23" action="ppaction://hlinksldjump"/>
          </p:cNvPr>
          <p:cNvSpPr/>
          <p:nvPr/>
        </p:nvSpPr>
        <p:spPr>
          <a:xfrm>
            <a:off x="8915400" y="4608576"/>
            <a:ext cx="2670048" cy="1554480"/>
          </a:xfrm>
          <a:prstGeom prst="roundRect">
            <a:avLst>
              <a:gd name="adj" fmla="val 5882"/>
            </a:avLst>
          </a:prstGeom>
          <a:solidFill>
            <a:srgbClr val="156D4F"/>
          </a:solidFill>
          <a:ln w="12700">
            <a:solidFill>
              <a:srgbClr val="57926E"/>
            </a:solidFill>
            <a:prstDash val="solid"/>
          </a:ln>
          <a:effectLst>
            <a:outerShdw blurRad="76200" dist="25400" dir="2700000" algn="bl" rotWithShape="0">
              <a:srgbClr val="000000">
                <a:alpha val="8000"/>
              </a:srgbClr>
            </a:outerShdw>
          </a:effectLst>
        </p:spPr>
        <p:txBody>
          <a:bodyPr/>
          <a:p/>
        </p:txBody>
      </p:sp>
      <p:sp>
        <p:nvSpPr>
          <p:cNvPr id="71" name="Shape 58"/>
          <p:cNvSpPr/>
          <p:nvPr/>
        </p:nvSpPr>
        <p:spPr>
          <a:xfrm>
            <a:off x="9930384" y="4718304"/>
            <a:ext cx="640080" cy="6400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72" name="Image 11" descr="./icons/check_white.png"/>
          <p:cNvPicPr>
            <a:picLocks noChangeAspect="1"/>
          </p:cNvPicPr>
          <p:nvPr/>
        </p:nvPicPr>
        <p:blipFill>
          <a:blip r:embed="rId24"/>
          <a:stretch>
            <a:fillRect/>
          </a:stretch>
        </p:blipFill>
        <p:spPr>
          <a:xfrm>
            <a:off x="10096805" y="4884725"/>
            <a:ext cx="307238" cy="307238"/>
          </a:xfrm>
          <a:prstGeom prst="rect">
            <a:avLst/>
          </a:prstGeom>
        </p:spPr>
      </p:pic>
      <p:sp>
        <p:nvSpPr>
          <p:cNvPr id="73" name="Text 59">
            <a:hlinkClick r:id="rId23" action="ppaction://hlinksldjump"/>
          </p:cNvPr>
          <p:cNvSpPr/>
          <p:nvPr/>
        </p:nvSpPr>
        <p:spPr>
          <a:xfrm>
            <a:off x="9006840" y="5385816"/>
            <a:ext cx="2487168" cy="320040"/>
          </a:xfrm>
          <a:prstGeom prst="rect">
            <a:avLst/>
          </a:prstGeom>
          <a:noFill/>
        </p:spPr>
        <p:txBody>
          <a:bodyPr wrap="square" lIns="0" tIns="0" rIns="0" bIns="0" rtlCol="0" anchor="ctr"/>
          <a:lstStyle/>
          <a:p>
            <a:pPr marL="0" indent="0" algn="ctr">
              <a:buNone/>
            </a:pPr>
            <a:r>
              <a:rPr lang="en-US" sz="13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23" action="ppaction://hlinksldjump"/>
              </a:rPr>
              <a:t>Feasibility Verdict</a:t>
            </a:r>
            <a:endParaRPr lang="en-US" sz="1300" dirty="0"/>
          </a:p>
        </p:txBody>
      </p:sp>
      <p:sp>
        <p:nvSpPr>
          <p:cNvPr id="74" name="Text 60">
            <a:hlinkClick r:id="rId23" action="ppaction://hlinksldjump"/>
          </p:cNvPr>
          <p:cNvSpPr/>
          <p:nvPr/>
        </p:nvSpPr>
        <p:spPr>
          <a:xfrm>
            <a:off x="9006840" y="5705856"/>
            <a:ext cx="2487168" cy="411480"/>
          </a:xfrm>
          <a:prstGeom prst="rect">
            <a:avLst/>
          </a:prstGeom>
          <a:noFill/>
        </p:spPr>
        <p:txBody>
          <a:bodyPr wrap="square" lIns="0" tIns="0" rIns="0" bIns="0" rtlCol="0" anchor="ctr"/>
          <a:lstStyle/>
          <a:p>
            <a:pPr marL="0" indent="0" algn="ctr">
              <a:buNone/>
            </a:pPr>
            <a:r>
              <a:rPr lang="en-US" sz="950" u="sng" dirty="0">
                <a:solidFill>
                  <a:srgbClr val="C7C396"/>
                </a:solidFill>
                <a:latin typeface="Segoe UI" panose="020B0502040204020203" pitchFamily="34" charset="0"/>
                <a:ea typeface="Segoe UI" panose="020B0502040204020203" pitchFamily="34" charset="-122"/>
                <a:cs typeface="Segoe UI" panose="020B0502040204020203" pitchFamily="34" charset="-120"/>
                <a:hlinkClick r:id="rId23" action="ppaction://hlinksldjump"/>
              </a:rPr>
              <a:t>Technical assessment &amp; final score</a:t>
            </a:r>
            <a:endParaRPr lang="en-US" sz="950" dirty="0"/>
          </a:p>
        </p:txBody>
      </p:sp>
      <p:sp>
        <p:nvSpPr>
          <p:cNvPr id="75" name="Text 61"/>
          <p:cNvSpPr/>
          <p:nvPr/>
        </p:nvSpPr>
        <p:spPr>
          <a:xfrm>
            <a:off x="9025128" y="4681728"/>
            <a:ext cx="548640" cy="274320"/>
          </a:xfrm>
          <a:prstGeom prst="rect">
            <a:avLst/>
          </a:prstGeom>
          <a:noFill/>
        </p:spPr>
        <p:txBody>
          <a:bodyPr wrap="square" lIns="0" tIns="0" rIns="0" bIns="0" rtlCol="0" anchor="ctr"/>
          <a:lstStyle/>
          <a:p>
            <a:pPr marL="0" indent="0">
              <a:buNone/>
            </a:pPr>
            <a:r>
              <a:rPr lang="en-US" sz="95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12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01 · STRATEGIC LANDSCAPE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Vision &amp; Contextual Landscape</a:t>
            </a:r>
            <a:endParaRPr lang="en-US" sz="2800" dirty="0"/>
          </a:p>
        </p:txBody>
      </p:sp>
      <p:sp>
        <p:nvSpPr>
          <p:cNvPr id="4" name="Text 2"/>
          <p:cNvSpPr/>
          <p:nvPr/>
        </p:nvSpPr>
        <p:spPr>
          <a:xfrm>
            <a:off x="548640" y="1417320"/>
            <a:ext cx="10607040" cy="868680"/>
          </a:xfrm>
          <a:prstGeom prst="rect">
            <a:avLst/>
          </a:prstGeom>
          <a:noFill/>
        </p:spPr>
        <p:txBody>
          <a:bodyPr wrap="square" lIns="0" tIns="0" rIns="0" bIns="0" rtlCol="0" anchor="ctr"/>
          <a:lstStyle/>
          <a:p>
            <a:pPr marL="0" indent="0" algn="just">
              <a:lnSpc>
                <a:spcPct val="12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Current environmental sustainability platforms emphasize monitoring and historical reporting rather than intelligent decision support. They typically require heavy manual logging, offer generic advice, focus only on carbon, and lack simulation, optimization, explainability, or verification capabilities. EcoSphere shifts this paradigm by treating sustainability as an active decision-support problem: learning user behavior, predicting future carbon, energy, and water usage, and generating multi-resource optimizations with explainable AI reasoning.</a:t>
            </a:r>
            <a:endParaRPr lang="en-US" sz="1350" dirty="0"/>
          </a:p>
        </p:txBody>
      </p:sp>
      <p:sp>
        <p:nvSpPr>
          <p:cNvPr id="5" name="Shape 3"/>
          <p:cNvSpPr/>
          <p:nvPr/>
        </p:nvSpPr>
        <p:spPr>
          <a:xfrm>
            <a:off x="548640" y="2423160"/>
            <a:ext cx="10607040" cy="1188720"/>
          </a:xfrm>
          <a:prstGeom prst="roundRect">
            <a:avLst>
              <a:gd name="adj" fmla="val 7692"/>
            </a:avLst>
          </a:prstGeom>
          <a:solidFill>
            <a:srgbClr val="FFFFFF"/>
          </a:solidFill>
          <a:effectLst>
            <a:outerShdw blurRad="101600" dist="38100" dir="2700000" algn="bl" rotWithShape="0">
              <a:srgbClr val="000000">
                <a:alpha val="12000"/>
              </a:srgbClr>
            </a:outerShdw>
          </a:effectLst>
        </p:spPr>
        <p:txBody>
          <a:bodyPr/>
          <a:p/>
        </p:txBody>
      </p:sp>
      <p:sp>
        <p:nvSpPr>
          <p:cNvPr id="6" name="Text 4"/>
          <p:cNvSpPr/>
          <p:nvPr/>
        </p:nvSpPr>
        <p:spPr>
          <a:xfrm>
            <a:off x="822960" y="2578608"/>
            <a:ext cx="3657600" cy="274320"/>
          </a:xfrm>
          <a:prstGeom prst="rect">
            <a:avLst/>
          </a:prstGeom>
          <a:noFill/>
        </p:spPr>
        <p:txBody>
          <a:bodyPr wrap="square" lIns="0" tIns="0" rIns="0" bIns="0" rtlCol="0" anchor="ctr"/>
          <a:lstStyle/>
          <a:p>
            <a:pPr marL="0" indent="0">
              <a:buNone/>
            </a:pPr>
            <a:r>
              <a:rPr lang="en-US" sz="1100" b="1" kern="0" spc="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VISION</a:t>
            </a:r>
            <a:endParaRPr lang="en-US" sz="1100" dirty="0"/>
          </a:p>
        </p:txBody>
      </p:sp>
      <p:sp>
        <p:nvSpPr>
          <p:cNvPr id="7" name="Text 5"/>
          <p:cNvSpPr/>
          <p:nvPr/>
        </p:nvSpPr>
        <p:spPr>
          <a:xfrm>
            <a:off x="822960" y="2852928"/>
            <a:ext cx="10058400" cy="685800"/>
          </a:xfrm>
          <a:prstGeom prst="rect">
            <a:avLst/>
          </a:prstGeom>
          <a:noFill/>
        </p:spPr>
        <p:txBody>
          <a:bodyPr wrap="square" lIns="0" tIns="0" rIns="0" bIns="0" rtlCol="0" anchor="ctr"/>
          <a:lstStyle/>
          <a:p>
            <a:pPr marL="0" indent="0" algn="just">
              <a:lnSpc>
                <a:spcPct val="120000"/>
              </a:lnSpc>
              <a:buNone/>
            </a:pPr>
            <a:r>
              <a:rPr lang="en-US" sz="1450" i="1" dirty="0">
                <a:solidFill>
                  <a:srgbClr val="156D4F"/>
                </a:solidFill>
                <a:latin typeface="Georgia" panose="02040502050405020303" pitchFamily="34" charset="0"/>
                <a:ea typeface="Georgia" panose="02040502050405020303" pitchFamily="34" charset="-122"/>
                <a:cs typeface="Georgia" panose="02040502050405020303" pitchFamily="34" charset="-120"/>
              </a:rPr>
              <a:t>An ML-driven sustainability platform combining behavioral forecasting, digital twin simulations, multi-objective optimization, and explainable AI to guide users toward verified eco-friendly lifestyles.</a:t>
            </a:r>
            <a:endParaRPr lang="en-US" sz="1450" dirty="0"/>
          </a:p>
        </p:txBody>
      </p:sp>
      <p:sp>
        <p:nvSpPr>
          <p:cNvPr id="8" name="Shape 6"/>
          <p:cNvSpPr/>
          <p:nvPr/>
        </p:nvSpPr>
        <p:spPr>
          <a:xfrm>
            <a:off x="548640" y="3657600"/>
            <a:ext cx="5166360" cy="2240280"/>
          </a:xfrm>
          <a:prstGeom prst="roundRect">
            <a:avLst>
              <a:gd name="adj" fmla="val 3673"/>
            </a:avLst>
          </a:prstGeom>
          <a:solidFill>
            <a:srgbClr val="FFFFFF"/>
          </a:solidFill>
          <a:effectLst>
            <a:outerShdw blurRad="76200" dist="25400" dir="2700000" algn="bl" rotWithShape="0">
              <a:srgbClr val="000000">
                <a:alpha val="8000"/>
              </a:srgbClr>
            </a:outerShdw>
          </a:effectLst>
        </p:spPr>
        <p:txBody>
          <a:bodyPr/>
          <a:p/>
        </p:txBody>
      </p:sp>
      <p:sp>
        <p:nvSpPr>
          <p:cNvPr id="9" name="Text 7"/>
          <p:cNvSpPr/>
          <p:nvPr/>
        </p:nvSpPr>
        <p:spPr>
          <a:xfrm>
            <a:off x="777240" y="3794760"/>
            <a:ext cx="470916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LIMITATIONS OF TRADITIONAL APPS</a:t>
            </a:r>
            <a:endParaRPr lang="en-US" sz="1550" dirty="0"/>
          </a:p>
        </p:txBody>
      </p:sp>
      <p:sp>
        <p:nvSpPr>
          <p:cNvPr id="10" name="Text 8"/>
          <p:cNvSpPr/>
          <p:nvPr/>
        </p:nvSpPr>
        <p:spPr>
          <a:xfrm>
            <a:off x="777240" y="4206240"/>
            <a:ext cx="4754880" cy="155448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Historical Auditing: Reports past emissions instead of predicting future impacts.</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Single-Resource Focus: Optimizes one metric while ignoring conflicts with others.</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Generic Interventions: Suggests static tips, leading to quick user disengagement.</a:t>
            </a:r>
            <a:endParaRPr lang="en-US" sz="1200" dirty="0"/>
          </a:p>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 No Verification: Lacks evidence submission to validate environmental achievements.</a:t>
            </a:r>
            <a:endParaRPr lang="en-US" sz="1200" dirty="0"/>
          </a:p>
        </p:txBody>
      </p:sp>
      <p:sp>
        <p:nvSpPr>
          <p:cNvPr id="11" name="Shape 9"/>
          <p:cNvSpPr/>
          <p:nvPr/>
        </p:nvSpPr>
        <p:spPr>
          <a:xfrm>
            <a:off x="5897880" y="3657600"/>
            <a:ext cx="5257800" cy="2240280"/>
          </a:xfrm>
          <a:prstGeom prst="roundRect">
            <a:avLst>
              <a:gd name="adj" fmla="val 3673"/>
            </a:avLst>
          </a:prstGeom>
          <a:solidFill>
            <a:srgbClr val="FFFFFF"/>
          </a:solidFill>
          <a:ln w="15875">
            <a:solidFill>
              <a:srgbClr val="156D4F"/>
            </a:solidFill>
            <a:prstDash val="solid"/>
          </a:ln>
          <a:effectLst>
            <a:outerShdw blurRad="76200" dist="25400" dir="2700000" algn="bl" rotWithShape="0">
              <a:srgbClr val="000000">
                <a:alpha val="8000"/>
              </a:srgbClr>
            </a:outerShdw>
          </a:effectLst>
        </p:spPr>
        <p:txBody>
          <a:bodyPr/>
          <a:p/>
        </p:txBody>
      </p:sp>
      <p:sp>
        <p:nvSpPr>
          <p:cNvPr id="12" name="Text 10"/>
          <p:cNvSpPr/>
          <p:nvPr/>
        </p:nvSpPr>
        <p:spPr>
          <a:xfrm>
            <a:off x="6126480" y="3794760"/>
            <a:ext cx="480060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THE ECOSPHERE SOLUTION</a:t>
            </a:r>
            <a:endParaRPr lang="en-US" sz="1550" dirty="0"/>
          </a:p>
        </p:txBody>
      </p:sp>
      <p:sp>
        <p:nvSpPr>
          <p:cNvPr id="13" name="Text 11"/>
          <p:cNvSpPr/>
          <p:nvPr/>
        </p:nvSpPr>
        <p:spPr>
          <a:xfrm>
            <a:off x="6126480" y="4251960"/>
            <a:ext cx="4800600" cy="1463040"/>
          </a:xfrm>
          <a:prstGeom prst="rect">
            <a:avLst/>
          </a:prstGeom>
          <a:noFill/>
        </p:spPr>
        <p:txBody>
          <a:bodyPr wrap="square" lIns="0" tIns="0" rIns="0" bIns="0" rtlCol="0" anchor="ctr"/>
          <a:lstStyle/>
          <a:p>
            <a:pPr marL="0" indent="0" algn="just">
              <a:lnSpc>
                <a:spcPct val="125000"/>
              </a:lnSpc>
              <a:buNone/>
            </a:pPr>
            <a:r>
              <a:rPr lang="en-US" sz="1450" dirty="0">
                <a:solidFill>
                  <a:srgbClr val="156D4F"/>
                </a:solidFill>
                <a:latin typeface="Segoe UI" panose="020B0502040204020203" pitchFamily="34" charset="0"/>
                <a:ea typeface="Segoe UI" panose="020B0502040204020203" pitchFamily="34" charset="-122"/>
                <a:cs typeface="Segoe UI" panose="020B0502040204020203" pitchFamily="34" charset="-120"/>
              </a:rPr>
              <a:t>An integrated decision framework combining behavioral analytics, multi-objective constraint solvers (Google OR-Tools), digital twin simulations, and natural-language explanations to drive verified, personalized, and collective sustainability improvements.</a:t>
            </a:r>
            <a:endParaRPr lang="en-US" sz="1450" dirty="0"/>
          </a:p>
        </p:txBody>
      </p:sp>
      <p:sp>
        <p:nvSpPr>
          <p:cNvPr id="14" name="Text 12"/>
          <p:cNvSpPr/>
          <p:nvPr/>
        </p:nvSpPr>
        <p:spPr>
          <a:xfrm>
            <a:off x="548640" y="5989320"/>
            <a:ext cx="10607040" cy="365760"/>
          </a:xfrm>
          <a:prstGeom prst="rect">
            <a:avLst/>
          </a:prstGeom>
          <a:noFill/>
        </p:spPr>
        <p:txBody>
          <a:bodyPr wrap="square" lIns="0" tIns="0" rIns="0" bIns="0" rtlCol="0" anchor="ctr"/>
          <a:lstStyle/>
          <a:p>
            <a:pPr marL="0" indent="0">
              <a:buNone/>
            </a:pPr>
            <a:r>
              <a:rPr lang="en-US" sz="1100" i="1"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helps individuals and institutions move from basic reporting to predictive decision support.</a:t>
            </a:r>
            <a:endParaRPr lang="en-US" sz="1100" dirty="0"/>
          </a:p>
        </p:txBody>
      </p:sp>
      <p:sp>
        <p:nvSpPr>
          <p:cNvPr id="15" name="Shape 13"/>
          <p:cNvSpPr/>
          <p:nvPr/>
        </p:nvSpPr>
        <p:spPr>
          <a:xfrm>
            <a:off x="530352" y="6364224"/>
            <a:ext cx="237744" cy="237744"/>
          </a:xfrm>
          <a:prstGeom prst="ellipse">
            <a:avLst/>
          </a:prstGeom>
          <a:solidFill>
            <a:srgbClr val="156D4F"/>
          </a:solidFill>
        </p:spPr>
        <p:txBody>
          <a:bodyPr/>
          <a:p/>
        </p:txBody>
      </p:sp>
      <p:pic>
        <p:nvPicPr>
          <p:cNvPr id="16" name="Image 0" descr="./icons/arrow_left_white.png">
            <a:hlinkClick r:id="rId1" action="ppaction://hlinksldjump"/>
          </p:cNvPr>
          <p:cNvPicPr>
            <a:picLocks noChangeAspect="1"/>
          </p:cNvPicPr>
          <p:nvPr/>
        </p:nvPicPr>
        <p:blipFill>
          <a:blip r:embed="rId2"/>
          <a:stretch>
            <a:fillRect/>
          </a:stretch>
        </p:blipFill>
        <p:spPr>
          <a:xfrm>
            <a:off x="548640" y="6382512"/>
            <a:ext cx="201168" cy="201168"/>
          </a:xfrm>
          <a:prstGeom prst="rect">
            <a:avLst/>
          </a:prstGeom>
        </p:spPr>
      </p:pic>
      <p:sp>
        <p:nvSpPr>
          <p:cNvPr id="17" name="Shape 14">
            <a:hlinkClick r:id="rId1" action="ppaction://hlinksldjump"/>
          </p:cNvPr>
          <p:cNvSpPr/>
          <p:nvPr/>
        </p:nvSpPr>
        <p:spPr>
          <a:xfrm>
            <a:off x="530352" y="6355080"/>
            <a:ext cx="2377440" cy="365760"/>
          </a:xfrm>
          <a:prstGeom prst="rect">
            <a:avLst/>
          </a:prstGeom>
          <a:solidFill>
            <a:srgbClr val="364327">
              <a:alpha val="0"/>
            </a:srgbClr>
          </a:solidFill>
        </p:spPr>
        <p:txBody>
          <a:bodyPr/>
          <a:p/>
        </p:txBody>
      </p:sp>
      <p:sp>
        <p:nvSpPr>
          <p:cNvPr id="18" name="Text 15">
            <a:hlinkClick r:id="rId1"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BACK TO REVIEW BOARD</a:t>
            </a:r>
            <a:endParaRPr lang="en-US" sz="1100" dirty="0"/>
          </a:p>
        </p:txBody>
      </p:sp>
      <p:sp>
        <p:nvSpPr>
          <p:cNvPr id="19" name="Text 16"/>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Vision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02 · CHRONOLOGICAL WORKFLOW</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Sequential Sustainability Decision Pipeline in EcoSphere</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sequences environmental data capture, predictive modeling, optimization, and verification in a strict pipeline.</a:t>
            </a:r>
            <a:endParaRPr lang="en-US" sz="1250" dirty="0"/>
          </a:p>
        </p:txBody>
      </p:sp>
      <p:graphicFrame>
        <p:nvGraphicFramePr>
          <p:cNvPr id="7" name="Table 0"/>
          <p:cNvGraphicFramePr>
            <a:graphicFrameLocks noGrp="1"/>
          </p:cNvGraphicFramePr>
          <p:nvPr/>
        </p:nvGraphicFramePr>
        <p:xfrm>
          <a:off x="596900" y="1691640"/>
          <a:ext cx="10607040" cy="4535424"/>
        </p:xfrm>
        <a:graphic>
          <a:graphicData uri="http://schemas.openxmlformats.org/drawingml/2006/table">
            <a:tbl>
              <a:tblPr/>
              <a:tblGrid>
                <a:gridCol w="2103120"/>
                <a:gridCol w="2834640"/>
                <a:gridCol w="2834640"/>
                <a:gridCol w="2834640"/>
              </a:tblGrid>
              <a:tr h="566928">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Workflow Stage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Core Mechanism</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Functional Objective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1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Outcome &amp; Deliverable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1. Activity Tracking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Multi-Resource Logging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Logs daily transport, water, energy, and waste data.</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Clean activity logs stored in PostgreSQL.</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2. Behaviour Learning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Pattern Mining Engine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Learns routines, preferences, and intervention responses.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Personalized user behavior profile.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3. ML Forecasting</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XGBoost Regression Model</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Predicts future resource footprint based on historical trends.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Future impact predictions and alerts.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4. Twin Simulation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Digital Twin Simulator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Simulates hypothetical scenarios (e.g. solar panels, LEDs).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Comparative impact-cost estimates.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5. Resource Optimization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Google OR-Tools Solver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Resolves trade-offs between cost, carbon, and user goals.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Optimized action plans.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6. AI Explanation</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GenAI (Gemini / OpenAI)</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Explains recommendations and scores in clear English.</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Human-readable personalized advice.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566928">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7. Verification Layer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Evidence Audit Engine</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Validates eco-actions using images, geolocations, and QR.</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150" dirty="0">
                          <a:solidFill>
                            <a:srgbClr val="156D4F"/>
                          </a:solidFill>
                          <a:latin typeface="Segoe UI" panose="020B0502040204020203" pitchFamily="34" charset="0"/>
                          <a:ea typeface="Segoe UI" panose="020B0502040204020203" pitchFamily="34" charset="-122"/>
                          <a:cs typeface="Segoe UI" panose="020B0502040204020203" pitchFamily="34" charset="-120"/>
                        </a:rPr>
                        <a:t>Verified sustainability badge updates.</a:t>
                      </a:r>
                      <a:endParaRPr lang="en-US" sz="11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6" name="Text 3"/>
          <p:cNvSpPr/>
          <p:nvPr/>
        </p:nvSpPr>
        <p:spPr>
          <a:xfrm>
            <a:off x="2532380" y="6273800"/>
            <a:ext cx="6851015" cy="320040"/>
          </a:xfrm>
          <a:prstGeom prst="rect">
            <a:avLst/>
          </a:prstGeom>
          <a:noFill/>
        </p:spPr>
        <p:txBody>
          <a:bodyPr wrap="square" lIns="0" tIns="0" rIns="0" bIns="0" rtlCol="0" anchor="ctr"/>
          <a:lstStyle/>
          <a:p>
            <a:pPr marL="0" indent="0" algn="just">
              <a:buNone/>
            </a:pPr>
            <a:r>
              <a:rPr lang="en-US" sz="1100" i="1" dirty="0">
                <a:solidFill>
                  <a:srgbClr val="364327"/>
                </a:solidFill>
                <a:latin typeface="Segoe UI" panose="020B0502040204020203" pitchFamily="34" charset="0"/>
                <a:ea typeface="Segoe UI" panose="020B0502040204020203" pitchFamily="34" charset="-122"/>
                <a:cs typeface="Segoe UI" panose="020B0502040204020203" pitchFamily="34" charset="-120"/>
              </a:rPr>
              <a:t>The sequential pipeline ensures that user actions are monitored, optimized, explained, and verified systematically.</a:t>
            </a:r>
            <a:endParaRPr lang="en-US" sz="1100" dirty="0"/>
          </a:p>
        </p:txBody>
      </p:sp>
      <p:sp>
        <p:nvSpPr>
          <p:cNvPr id="5" name="Shape 4"/>
          <p:cNvSpPr/>
          <p:nvPr/>
        </p:nvSpPr>
        <p:spPr>
          <a:xfrm>
            <a:off x="530352" y="6364224"/>
            <a:ext cx="237744" cy="237744"/>
          </a:xfrm>
          <a:prstGeom prst="ellipse">
            <a:avLst/>
          </a:prstGeom>
          <a:solidFill>
            <a:srgbClr val="156D4F"/>
          </a:solidFill>
        </p:spPr>
        <p:txBody>
          <a:bodyPr/>
          <a:p/>
        </p:txBody>
      </p:sp>
      <p:pic>
        <p:nvPicPr>
          <p:cNvPr id="8" name="Image 0" descr="./icons/arrow_left_white.png">
            <a:hlinkClick r:id="rId1" action="ppaction://hlinksldjump"/>
          </p:cNvPr>
          <p:cNvPicPr>
            <a:picLocks noChangeAspect="1"/>
          </p:cNvPicPr>
          <p:nvPr/>
        </p:nvPicPr>
        <p:blipFill>
          <a:blip r:embed="rId2"/>
          <a:stretch>
            <a:fillRect/>
          </a:stretch>
        </p:blipFill>
        <p:spPr>
          <a:xfrm>
            <a:off x="548640" y="6382512"/>
            <a:ext cx="201168" cy="201168"/>
          </a:xfrm>
          <a:prstGeom prst="rect">
            <a:avLst/>
          </a:prstGeom>
        </p:spPr>
      </p:pic>
      <p:sp>
        <p:nvSpPr>
          <p:cNvPr id="9" name="Shape 5">
            <a:hlinkClick r:id="rId1" action="ppaction://hlinksldjump"/>
          </p:cNvPr>
          <p:cNvSpPr/>
          <p:nvPr/>
        </p:nvSpPr>
        <p:spPr>
          <a:xfrm>
            <a:off x="530352" y="6355080"/>
            <a:ext cx="2377440" cy="365760"/>
          </a:xfrm>
          <a:prstGeom prst="rect">
            <a:avLst/>
          </a:prstGeom>
          <a:solidFill>
            <a:srgbClr val="364327">
              <a:alpha val="0"/>
            </a:srgbClr>
          </a:solidFill>
        </p:spPr>
        <p:txBody>
          <a:bodyPr/>
          <a:p/>
        </p:txBody>
      </p:sp>
      <p:sp>
        <p:nvSpPr>
          <p:cNvPr id="10" name="Text 6">
            <a:hlinkClick r:id="rId1"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1" action="ppaction://hlinksldjump"/>
              </a:rPr>
              <a:t>BACK TO REVIEW BOARD</a:t>
            </a:r>
            <a:endParaRPr lang="en-US" sz="1100" dirty="0"/>
          </a:p>
        </p:txBody>
      </p:sp>
      <p:sp>
        <p:nvSpPr>
          <p:cNvPr id="11" name="Text 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Workflow Pipeline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03 · CORE FEATURES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Dual-Engine Framework &amp; System Layer Model</a:t>
            </a:r>
            <a:endParaRPr lang="en-US" sz="2800" dirty="0"/>
          </a:p>
        </p:txBody>
      </p:sp>
      <p:sp>
        <p:nvSpPr>
          <p:cNvPr id="4" name="Shape 2"/>
          <p:cNvSpPr/>
          <p:nvPr/>
        </p:nvSpPr>
        <p:spPr>
          <a:xfrm>
            <a:off x="677545"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txBody>
          <a:bodyPr/>
          <a:p/>
        </p:txBody>
      </p:sp>
      <p:sp>
        <p:nvSpPr>
          <p:cNvPr id="5" name="Shape 3"/>
          <p:cNvSpPr/>
          <p:nvPr/>
        </p:nvSpPr>
        <p:spPr>
          <a:xfrm>
            <a:off x="777240" y="1938528"/>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6" name="Image 0" descr="./icons/robot_white.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Dual-Engine Architecture</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Behavior Learning: Tracks habits and measures user responses to past advice.</a:t>
            </a:r>
            <a:endParaRPr lang="en-US" sz="1250" dirty="0"/>
          </a:p>
        </p:txBody>
      </p:sp>
      <p:pic>
        <p:nvPicPr>
          <p:cNvPr id="10" name="Image 2" descr="./icons/check_dark.png"/>
          <p:cNvPicPr>
            <a:picLocks noChangeAspect="1"/>
          </p:cNvPicPr>
          <p:nvPr/>
        </p:nvPicPr>
        <p:blipFill>
          <a:blip r:embed="rId2"/>
          <a:stretch>
            <a:fillRect/>
          </a:stretch>
        </p:blipFill>
        <p:spPr>
          <a:xfrm>
            <a:off x="777240" y="3191256"/>
            <a:ext cx="164592" cy="164592"/>
          </a:xfrm>
          <a:prstGeom prst="rect">
            <a:avLst/>
          </a:prstGeom>
        </p:spPr>
      </p:pic>
      <p:sp>
        <p:nvSpPr>
          <p:cNvPr id="11" name="Text 6"/>
          <p:cNvSpPr/>
          <p:nvPr/>
        </p:nvSpPr>
        <p:spPr>
          <a:xfrm>
            <a:off x="1051560" y="315468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Impact Forecasting: XGBoost regression models predict future water, power, and carbon consumption.</a:t>
            </a:r>
            <a:endParaRPr lang="en-US" sz="1250" dirty="0"/>
          </a:p>
        </p:txBody>
      </p:sp>
      <p:pic>
        <p:nvPicPr>
          <p:cNvPr id="12" name="Image 3" descr="./icons/check_dark.png"/>
          <p:cNvPicPr>
            <a:picLocks noChangeAspect="1"/>
          </p:cNvPicPr>
          <p:nvPr/>
        </p:nvPicPr>
        <p:blipFill>
          <a:blip r:embed="rId2"/>
          <a:stretch>
            <a:fillRect/>
          </a:stretch>
        </p:blipFill>
        <p:spPr>
          <a:xfrm>
            <a:off x="777240" y="3739896"/>
            <a:ext cx="164592" cy="164592"/>
          </a:xfrm>
          <a:prstGeom prst="rect">
            <a:avLst/>
          </a:prstGeom>
        </p:spPr>
      </p:pic>
      <p:sp>
        <p:nvSpPr>
          <p:cNvPr id="13" name="Text 7"/>
          <p:cNvSpPr/>
          <p:nvPr/>
        </p:nvSpPr>
        <p:spPr>
          <a:xfrm>
            <a:off x="1051560" y="370332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Cross-Domain Solver: Evaluates cost, carbon, energy, and waste using Google OR-Tools.</a:t>
            </a:r>
            <a:endParaRPr lang="en-US" sz="1250" dirty="0"/>
          </a:p>
        </p:txBody>
      </p:sp>
      <p:pic>
        <p:nvPicPr>
          <p:cNvPr id="14" name="Image 4" descr="./icons/check_dark.png"/>
          <p:cNvPicPr>
            <a:picLocks noChangeAspect="1"/>
          </p:cNvPicPr>
          <p:nvPr/>
        </p:nvPicPr>
        <p:blipFill>
          <a:blip r:embed="rId2"/>
          <a:stretch>
            <a:fillRect/>
          </a:stretch>
        </p:blipFill>
        <p:spPr>
          <a:xfrm>
            <a:off x="777240" y="4288536"/>
            <a:ext cx="164592" cy="164592"/>
          </a:xfrm>
          <a:prstGeom prst="rect">
            <a:avLst/>
          </a:prstGeom>
        </p:spPr>
      </p:pic>
      <p:sp>
        <p:nvSpPr>
          <p:cNvPr id="15" name="Text 8"/>
          <p:cNvSpPr/>
          <p:nvPr/>
        </p:nvSpPr>
        <p:spPr>
          <a:xfrm>
            <a:off x="1051560" y="425196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Explainable AI: Translates raw scores and simulation numbers into clear descriptions.</a:t>
            </a:r>
            <a:endParaRPr lang="en-US" sz="1250" dirty="0"/>
          </a:p>
        </p:txBody>
      </p:sp>
      <p:pic>
        <p:nvPicPr>
          <p:cNvPr id="16" name="Image 5" descr="./icons/check_dark.png"/>
          <p:cNvPicPr>
            <a:picLocks noChangeAspect="1"/>
          </p:cNvPicPr>
          <p:nvPr/>
        </p:nvPicPr>
        <p:blipFill>
          <a:blip r:embed="rId2"/>
          <a:stretch>
            <a:fillRect/>
          </a:stretch>
        </p:blipFill>
        <p:spPr>
          <a:xfrm>
            <a:off x="777240" y="4837176"/>
            <a:ext cx="164592" cy="164592"/>
          </a:xfrm>
          <a:prstGeom prst="rect">
            <a:avLst/>
          </a:prstGeom>
        </p:spPr>
      </p:pic>
      <p:sp>
        <p:nvSpPr>
          <p:cNvPr id="17" name="Text 9"/>
          <p:cNvSpPr/>
          <p:nvPr/>
        </p:nvSpPr>
        <p:spPr>
          <a:xfrm>
            <a:off x="1051560" y="480060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Adaptive Coaching: Tailors intervention style (beginner vs advanced) to user progress.</a:t>
            </a:r>
            <a:endParaRPr lang="en-US" sz="1250" dirty="0"/>
          </a:p>
        </p:txBody>
      </p:sp>
      <p:pic>
        <p:nvPicPr>
          <p:cNvPr id="18" name="Image 6" descr="./icons/check_dark.png"/>
          <p:cNvPicPr>
            <a:picLocks noChangeAspect="1"/>
          </p:cNvPicPr>
          <p:nvPr/>
        </p:nvPicPr>
        <p:blipFill>
          <a:blip r:embed="rId2"/>
          <a:stretch>
            <a:fillRect/>
          </a:stretch>
        </p:blipFill>
        <p:spPr>
          <a:xfrm>
            <a:off x="777240" y="5385816"/>
            <a:ext cx="164592" cy="164592"/>
          </a:xfrm>
          <a:prstGeom prst="rect">
            <a:avLst/>
          </a:prstGeom>
        </p:spPr>
      </p:pic>
      <p:sp>
        <p:nvSpPr>
          <p:cNvPr id="19" name="Text 10"/>
          <p:cNvSpPr/>
          <p:nvPr/>
        </p:nvSpPr>
        <p:spPr>
          <a:xfrm>
            <a:off x="1051560" y="5349240"/>
            <a:ext cx="4526280" cy="475488"/>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Verification: Audits photos, geolocations, and QR codes to confirm achievements.</a:t>
            </a:r>
            <a:endParaRPr lang="en-US" sz="1250" dirty="0"/>
          </a:p>
        </p:txBody>
      </p:sp>
      <p:sp>
        <p:nvSpPr>
          <p:cNvPr id="20" name="Shape 11"/>
          <p:cNvSpPr/>
          <p:nvPr/>
        </p:nvSpPr>
        <p:spPr>
          <a:xfrm>
            <a:off x="608076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txBody>
          <a:bodyPr/>
          <a:p/>
        </p:txBody>
      </p:sp>
      <p:sp>
        <p:nvSpPr>
          <p:cNvPr id="21" name="Shape 12"/>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22" name="Image 7" descr="./icons/tags_white.png"/>
          <p:cNvPicPr>
            <a:picLocks noChangeAspect="1"/>
          </p:cNvPicPr>
          <p:nvPr/>
        </p:nvPicPr>
        <p:blipFill>
          <a:blip r:embed="rId3"/>
          <a:stretch>
            <a:fillRect/>
          </a:stretch>
        </p:blipFill>
        <p:spPr>
          <a:xfrm>
            <a:off x="6302959" y="2069287"/>
            <a:ext cx="241402" cy="241402"/>
          </a:xfrm>
          <a:prstGeom prst="rect">
            <a:avLst/>
          </a:prstGeom>
        </p:spPr>
      </p:pic>
      <p:sp>
        <p:nvSpPr>
          <p:cNvPr id="23" name="Text 13"/>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7-Layer System Model</a:t>
            </a:r>
            <a:endParaRPr lang="en-US" sz="1750" dirty="0"/>
          </a:p>
        </p:txBody>
      </p:sp>
      <p:sp>
        <p:nvSpPr>
          <p:cNvPr id="24" name="Text 14"/>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DATA TO INTERVENTION PLATFORM MODEL</a:t>
            </a:r>
            <a:endParaRPr lang="en-US" sz="1300" dirty="0"/>
          </a:p>
        </p:txBody>
      </p:sp>
      <p:pic>
        <p:nvPicPr>
          <p:cNvPr id="25" name="Image 8"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6" name="Text 15"/>
          <p:cNvSpPr/>
          <p:nvPr/>
        </p:nvSpPr>
        <p:spPr>
          <a:xfrm>
            <a:off x="6446520" y="2743200"/>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1: Logging &amp; Data — Coordinates multi-resource user logging and API imports.</a:t>
            </a:r>
            <a:endParaRPr lang="en-US" sz="1200" dirty="0"/>
          </a:p>
        </p:txBody>
      </p:sp>
      <p:pic>
        <p:nvPicPr>
          <p:cNvPr id="27" name="Image 9" descr="./icons/check_dark.png"/>
          <p:cNvPicPr>
            <a:picLocks noChangeAspect="1"/>
          </p:cNvPicPr>
          <p:nvPr/>
        </p:nvPicPr>
        <p:blipFill>
          <a:blip r:embed="rId2"/>
          <a:stretch>
            <a:fillRect/>
          </a:stretch>
        </p:blipFill>
        <p:spPr>
          <a:xfrm>
            <a:off x="6172200" y="3246120"/>
            <a:ext cx="164592" cy="164592"/>
          </a:xfrm>
          <a:prstGeom prst="rect">
            <a:avLst/>
          </a:prstGeom>
        </p:spPr>
      </p:pic>
      <p:sp>
        <p:nvSpPr>
          <p:cNvPr id="28" name="Text 16"/>
          <p:cNvSpPr/>
          <p:nvPr/>
        </p:nvSpPr>
        <p:spPr>
          <a:xfrm>
            <a:off x="6446520" y="3218688"/>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2: Behavioral Analytics — Performs pattern mining, anomaly and risk detection.</a:t>
            </a:r>
            <a:endParaRPr lang="en-US" sz="1200" dirty="0"/>
          </a:p>
        </p:txBody>
      </p:sp>
      <p:pic>
        <p:nvPicPr>
          <p:cNvPr id="29" name="Image 10" descr="./icons/check_dark.png"/>
          <p:cNvPicPr>
            <a:picLocks noChangeAspect="1"/>
          </p:cNvPicPr>
          <p:nvPr/>
        </p:nvPicPr>
        <p:blipFill>
          <a:blip r:embed="rId2"/>
          <a:stretch>
            <a:fillRect/>
          </a:stretch>
        </p:blipFill>
        <p:spPr>
          <a:xfrm>
            <a:off x="6172200" y="3721608"/>
            <a:ext cx="164592" cy="164592"/>
          </a:xfrm>
          <a:prstGeom prst="rect">
            <a:avLst/>
          </a:prstGeom>
        </p:spPr>
      </p:pic>
      <p:sp>
        <p:nvSpPr>
          <p:cNvPr id="30" name="Text 17"/>
          <p:cNvSpPr/>
          <p:nvPr/>
        </p:nvSpPr>
        <p:spPr>
          <a:xfrm>
            <a:off x="6446520" y="3694176"/>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3: Forecasting Engine — Operates time-series models for future footprint forecasting.</a:t>
            </a:r>
            <a:endParaRPr lang="en-US" sz="1200" dirty="0"/>
          </a:p>
        </p:txBody>
      </p:sp>
      <p:pic>
        <p:nvPicPr>
          <p:cNvPr id="31" name="Image 11" descr="./icons/check_dark.png"/>
          <p:cNvPicPr>
            <a:picLocks noChangeAspect="1"/>
          </p:cNvPicPr>
          <p:nvPr/>
        </p:nvPicPr>
        <p:blipFill>
          <a:blip r:embed="rId2"/>
          <a:stretch>
            <a:fillRect/>
          </a:stretch>
        </p:blipFill>
        <p:spPr>
          <a:xfrm>
            <a:off x="6172200" y="4197096"/>
            <a:ext cx="164592" cy="164592"/>
          </a:xfrm>
          <a:prstGeom prst="rect">
            <a:avLst/>
          </a:prstGeom>
        </p:spPr>
      </p:pic>
      <p:sp>
        <p:nvSpPr>
          <p:cNvPr id="32" name="Text 18"/>
          <p:cNvSpPr/>
          <p:nvPr/>
        </p:nvSpPr>
        <p:spPr>
          <a:xfrm>
            <a:off x="6446520" y="4169664"/>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4: Optimization Solver — Executes Google OR-Tools multi-objective optimization.</a:t>
            </a:r>
            <a:endParaRPr lang="en-US" sz="1200" dirty="0"/>
          </a:p>
        </p:txBody>
      </p:sp>
      <p:pic>
        <p:nvPicPr>
          <p:cNvPr id="33" name="Image 12" descr="./icons/check_dark.png"/>
          <p:cNvPicPr>
            <a:picLocks noChangeAspect="1"/>
          </p:cNvPicPr>
          <p:nvPr/>
        </p:nvPicPr>
        <p:blipFill>
          <a:blip r:embed="rId2"/>
          <a:stretch>
            <a:fillRect/>
          </a:stretch>
        </p:blipFill>
        <p:spPr>
          <a:xfrm>
            <a:off x="6172200" y="4672584"/>
            <a:ext cx="164592" cy="164592"/>
          </a:xfrm>
          <a:prstGeom prst="rect">
            <a:avLst/>
          </a:prstGeom>
        </p:spPr>
      </p:pic>
      <p:sp>
        <p:nvSpPr>
          <p:cNvPr id="34" name="Text 19"/>
          <p:cNvSpPr/>
          <p:nvPr/>
        </p:nvSpPr>
        <p:spPr>
          <a:xfrm>
            <a:off x="6446520" y="4645152"/>
            <a:ext cx="4846320" cy="438912"/>
          </a:xfrm>
          <a:prstGeom prst="rect">
            <a:avLst/>
          </a:prstGeom>
          <a:noFill/>
        </p:spPr>
        <p:txBody>
          <a:bodyPr wrap="square" lIns="0" tIns="0" rIns="0" bIns="0" rtlCol="0" anchor="ctr"/>
          <a:lstStyle/>
          <a:p>
            <a:pPr marL="0" indent="0" algn="just">
              <a:lnSpc>
                <a:spcPct val="118000"/>
              </a:lnSpc>
              <a:buNone/>
            </a:pPr>
            <a:r>
              <a:t>Layer 5: Cognitive Reasoning — Manages Groq API (Llama-3.3-70b) prompts &amp; local grounded fallback for advice.</a:t>
            </a:r>
            <a:endParaRPr lang="en-US" sz="1200" dirty="0"/>
          </a:p>
        </p:txBody>
      </p:sp>
      <p:pic>
        <p:nvPicPr>
          <p:cNvPr id="35" name="Image 13" descr="./icons/check_dark.png"/>
          <p:cNvPicPr>
            <a:picLocks noChangeAspect="1"/>
          </p:cNvPicPr>
          <p:nvPr/>
        </p:nvPicPr>
        <p:blipFill>
          <a:blip r:embed="rId2"/>
          <a:stretch>
            <a:fillRect/>
          </a:stretch>
        </p:blipFill>
        <p:spPr>
          <a:xfrm>
            <a:off x="6172200" y="5148072"/>
            <a:ext cx="164592" cy="164592"/>
          </a:xfrm>
          <a:prstGeom prst="rect">
            <a:avLst/>
          </a:prstGeom>
        </p:spPr>
      </p:pic>
      <p:sp>
        <p:nvSpPr>
          <p:cNvPr id="36" name="Text 20"/>
          <p:cNvSpPr/>
          <p:nvPr/>
        </p:nvSpPr>
        <p:spPr>
          <a:xfrm>
            <a:off x="6446520" y="5120640"/>
            <a:ext cx="4846320" cy="438912"/>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Layer 6: Intervention &amp; Coaching — Drives adaptive recommendations and gamified challenges.</a:t>
            </a:r>
            <a:endParaRPr lang="en-US" sz="1200" dirty="0"/>
          </a:p>
        </p:txBody>
      </p:sp>
      <p:pic>
        <p:nvPicPr>
          <p:cNvPr id="37" name="Image 14" descr="./icons/check_dark.png"/>
          <p:cNvPicPr>
            <a:picLocks noChangeAspect="1"/>
          </p:cNvPicPr>
          <p:nvPr/>
        </p:nvPicPr>
        <p:blipFill>
          <a:blip r:embed="rId2"/>
          <a:stretch>
            <a:fillRect/>
          </a:stretch>
        </p:blipFill>
        <p:spPr>
          <a:xfrm>
            <a:off x="6172200" y="5623560"/>
            <a:ext cx="164592" cy="164592"/>
          </a:xfrm>
          <a:prstGeom prst="rect">
            <a:avLst/>
          </a:prstGeom>
        </p:spPr>
      </p:pic>
      <p:sp>
        <p:nvSpPr>
          <p:cNvPr id="38" name="Text 21"/>
          <p:cNvSpPr/>
          <p:nvPr/>
        </p:nvSpPr>
        <p:spPr>
          <a:xfrm>
            <a:off x="6446520" y="5596128"/>
            <a:ext cx="4846320" cy="438912"/>
          </a:xfrm>
          <a:prstGeom prst="rect">
            <a:avLst/>
          </a:prstGeom>
          <a:noFill/>
        </p:spPr>
        <p:txBody>
          <a:bodyPr wrap="square" lIns="0" tIns="0" rIns="0" bIns="0" rtlCol="0" anchor="ctr"/>
          <a:lstStyle/>
          <a:p>
            <a:pPr marL="0" indent="0" algn="just">
              <a:lnSpc>
                <a:spcPct val="118000"/>
              </a:lnSpc>
              <a:buNone/>
            </a:pPr>
            <a:r>
              <a:t>Layer 7: Verification &amp; Audit — Runs MongoDB 2dsphere geofencing, MinIO S3 proof storage, and Tesseract OCR.</a:t>
            </a:r>
            <a:endParaRPr lang="en-US" sz="1200" dirty="0"/>
          </a:p>
        </p:txBody>
      </p:sp>
      <p:sp>
        <p:nvSpPr>
          <p:cNvPr id="39" name="Shape 22"/>
          <p:cNvSpPr/>
          <p:nvPr/>
        </p:nvSpPr>
        <p:spPr>
          <a:xfrm>
            <a:off x="530352" y="6364224"/>
            <a:ext cx="237744" cy="237744"/>
          </a:xfrm>
          <a:prstGeom prst="ellipse">
            <a:avLst/>
          </a:prstGeom>
          <a:solidFill>
            <a:srgbClr val="156D4F"/>
          </a:solidFill>
        </p:spPr>
        <p:txBody>
          <a:bodyPr/>
          <a:p/>
        </p:txBody>
      </p:sp>
      <p:pic>
        <p:nvPicPr>
          <p:cNvPr id="40" name="Image 15"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41" name="Shape 23">
            <a:hlinkClick r:id="rId4" action="ppaction://hlinksldjump"/>
          </p:cNvPr>
          <p:cNvSpPr/>
          <p:nvPr/>
        </p:nvSpPr>
        <p:spPr>
          <a:xfrm>
            <a:off x="530352" y="6355080"/>
            <a:ext cx="2377440" cy="365760"/>
          </a:xfrm>
          <a:prstGeom prst="rect">
            <a:avLst/>
          </a:prstGeom>
          <a:solidFill>
            <a:srgbClr val="364327">
              <a:alpha val="0"/>
            </a:srgbClr>
          </a:solidFill>
        </p:spPr>
        <p:txBody>
          <a:bodyPr/>
          <a:p/>
        </p:txBody>
      </p:sp>
      <p:sp>
        <p:nvSpPr>
          <p:cNvPr id="42" name="Text 24">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43" name="Text 2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Architecture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 · ARCHITECTURE &amp; TECH STACK</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Layered Technical Stack of the EcoSphere Architecture</a:t>
            </a:r>
            <a:endParaRPr lang="en-US" sz="2800" dirty="0"/>
          </a:p>
        </p:txBody>
      </p:sp>
      <p:graphicFrame>
        <p:nvGraphicFramePr>
          <p:cNvPr id="9" name="Table 0"/>
          <p:cNvGraphicFramePr>
            <a:graphicFrameLocks noGrp="1"/>
          </p:cNvGraphicFramePr>
          <p:nvPr/>
        </p:nvGraphicFramePr>
        <p:xfrm>
          <a:off x="548640" y="1417320"/>
          <a:ext cx="6126480" cy="3328416"/>
        </p:xfrm>
        <a:graphic>
          <a:graphicData uri="http://schemas.openxmlformats.org/drawingml/2006/table">
            <a:tbl>
              <a:tblPr/>
              <a:tblGrid>
                <a:gridCol w="2011680"/>
                <a:gridCol w="4114800"/>
              </a:tblGrid>
              <a:tr h="475488">
                <a:tc>
                  <a:txBody>
                    <a:bodyPr/>
                    <a:lstStyle/>
                    <a:p>
                      <a:pPr marL="0" indent="0">
                        <a:buNone/>
                      </a:pPr>
                      <a:r>
                        <a:rPr lang="en-US" sz="12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Architectural Layer</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2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Technologies and Implementation Rationale</a:t>
                      </a:r>
                      <a:endParaRPr lang="en-US" sz="120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475488">
                <a:tc>
                  <a:txBody>
                    <a:bodyPr/>
                    <a:lstStyle/>
                    <a:p>
                      <a:r>
                        <a:t>Frontend Framework</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React 18 Spatial Canvas + Emerald Oasis theme, Groq AI Omnibar, 3-Mode View Switcher.</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r>
                        <a:t>Backend Gateway</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Spring Boot 3.2, Spring Security with JWT tokens, and Spring Data MongoDB.</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r>
                        <a:t>Data &amp; Storage</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MongoDB 7.0 (2dsphere spatial index), MinIO / AWS S3 object storage for bill proof photos and OCR.</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r>
                        <a:t>Machine Learning</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FastAPI (Python 3.11), scikit-learn IsolationForest anomaly engine, XGBoost regression (30-day forecast).</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r>
                        <a:t>Optimization Solver</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Google OR-Tools Mixed-Integer Linear Programming (MILP solver with pywraplp).</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75488">
                <a:tc>
                  <a:txBody>
                    <a:bodyPr/>
                    <a:lstStyle/>
                    <a:p>
                      <a:r>
                        <a:t>AI &amp; External APIs</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Groq API Gateway (Llama-3.3-70b-versatile) + Local Grounded Fallback Engine, OpenWeather &amp; AQICN APIs.</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5" name="Shape 2"/>
          <p:cNvSpPr/>
          <p:nvPr/>
        </p:nvSpPr>
        <p:spPr>
          <a:xfrm>
            <a:off x="6949440" y="1417320"/>
            <a:ext cx="4709160" cy="4352925"/>
          </a:xfrm>
          <a:prstGeom prst="roundRect">
            <a:avLst>
              <a:gd name="adj" fmla="val 1942"/>
            </a:avLst>
          </a:prstGeom>
          <a:solidFill>
            <a:srgbClr val="FFFFFF"/>
          </a:solidFill>
          <a:effectLst>
            <a:outerShdw blurRad="101600" dist="38100" dir="2700000" algn="bl" rotWithShape="0">
              <a:srgbClr val="000000">
                <a:alpha val="12000"/>
              </a:srgbClr>
            </a:outerShdw>
          </a:effectLst>
        </p:spPr>
        <p:txBody>
          <a:bodyPr/>
          <a:p/>
        </p:txBody>
      </p:sp>
      <p:sp>
        <p:nvSpPr>
          <p:cNvPr id="6" name="Text 3"/>
          <p:cNvSpPr/>
          <p:nvPr/>
        </p:nvSpPr>
        <p:spPr>
          <a:xfrm>
            <a:off x="7223760" y="1600200"/>
            <a:ext cx="4206240" cy="274320"/>
          </a:xfrm>
          <a:prstGeom prst="rect">
            <a:avLst/>
          </a:prstGeom>
          <a:noFill/>
        </p:spPr>
        <p:txBody>
          <a:bodyPr wrap="square" lIns="0" tIns="0" rIns="0" bIns="0" rtlCol="0" anchor="ctr"/>
          <a:lstStyle/>
          <a:p>
            <a:pPr marL="0" indent="0">
              <a:buNone/>
            </a:pPr>
            <a:r>
              <a:rPr lang="en-US" sz="1500" b="1" kern="0" spc="150" dirty="0">
                <a:solidFill>
                  <a:srgbClr val="156D4F"/>
                </a:solidFill>
                <a:latin typeface="Segoe UI" panose="020B0502040204020203" pitchFamily="34" charset="0"/>
                <a:ea typeface="Segoe UI" panose="020B0502040204020203" pitchFamily="34" charset="-122"/>
                <a:cs typeface="Segoe UI" panose="020B0502040204020203" pitchFamily="34" charset="-120"/>
              </a:rPr>
              <a:t>INTELLIGENT DECISION LOOP</a:t>
            </a:r>
            <a:endParaRPr lang="en-US" sz="1500" dirty="0"/>
          </a:p>
        </p:txBody>
      </p:sp>
      <p:sp>
        <p:nvSpPr>
          <p:cNvPr id="7" name="Shape 4"/>
          <p:cNvSpPr/>
          <p:nvPr/>
        </p:nvSpPr>
        <p:spPr>
          <a:xfrm>
            <a:off x="7223760" y="1965960"/>
            <a:ext cx="4160520" cy="365760"/>
          </a:xfrm>
          <a:prstGeom prst="roundRect">
            <a:avLst>
              <a:gd name="adj" fmla="val 17500"/>
            </a:avLst>
          </a:prstGeom>
          <a:solidFill>
            <a:srgbClr val="FFFFFF"/>
          </a:solidFill>
          <a:ln w="12700">
            <a:solidFill>
              <a:srgbClr val="57926E"/>
            </a:solidFill>
            <a:prstDash val="solid"/>
          </a:ln>
        </p:spPr>
        <p:txBody>
          <a:bodyPr/>
          <a:p/>
        </p:txBody>
      </p:sp>
      <p:sp>
        <p:nvSpPr>
          <p:cNvPr id="8" name="Text 5"/>
          <p:cNvSpPr/>
          <p:nvPr/>
        </p:nvSpPr>
        <p:spPr>
          <a:xfrm>
            <a:off x="7360920" y="1965960"/>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1. User Logs Activities &amp; System Syncs Environmental APIs</a:t>
            </a:r>
            <a:endParaRPr lang="en-US" sz="1150" dirty="0"/>
          </a:p>
        </p:txBody>
      </p:sp>
      <p:sp>
        <p:nvSpPr>
          <p:cNvPr id="4" name="Shape 6"/>
          <p:cNvSpPr/>
          <p:nvPr/>
        </p:nvSpPr>
        <p:spPr>
          <a:xfrm>
            <a:off x="7223760" y="2404872"/>
            <a:ext cx="4160520" cy="365760"/>
          </a:xfrm>
          <a:prstGeom prst="roundRect">
            <a:avLst>
              <a:gd name="adj" fmla="val 17500"/>
            </a:avLst>
          </a:prstGeom>
          <a:solidFill>
            <a:srgbClr val="FFFFFF"/>
          </a:solidFill>
          <a:ln w="12700">
            <a:solidFill>
              <a:srgbClr val="57926E"/>
            </a:solidFill>
            <a:prstDash val="solid"/>
          </a:ln>
        </p:spPr>
        <p:txBody>
          <a:bodyPr/>
          <a:p/>
        </p:txBody>
      </p:sp>
      <p:sp>
        <p:nvSpPr>
          <p:cNvPr id="10" name="Text 7"/>
          <p:cNvSpPr/>
          <p:nvPr/>
        </p:nvSpPr>
        <p:spPr>
          <a:xfrm>
            <a:off x="7360920" y="2404872"/>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2. Behavioral Engine Calculates Patterns &amp; Trends</a:t>
            </a:r>
            <a:endParaRPr lang="en-US" sz="1150" dirty="0"/>
          </a:p>
        </p:txBody>
      </p:sp>
      <p:sp>
        <p:nvSpPr>
          <p:cNvPr id="11" name="Shape 8"/>
          <p:cNvSpPr/>
          <p:nvPr/>
        </p:nvSpPr>
        <p:spPr>
          <a:xfrm>
            <a:off x="7223760" y="2843784"/>
            <a:ext cx="4160520" cy="365760"/>
          </a:xfrm>
          <a:prstGeom prst="roundRect">
            <a:avLst>
              <a:gd name="adj" fmla="val 17500"/>
            </a:avLst>
          </a:prstGeom>
          <a:solidFill>
            <a:srgbClr val="FFFFFF"/>
          </a:solidFill>
          <a:ln w="12700">
            <a:solidFill>
              <a:srgbClr val="57926E"/>
            </a:solidFill>
            <a:prstDash val="solid"/>
          </a:ln>
        </p:spPr>
        <p:txBody>
          <a:bodyPr/>
          <a:p/>
        </p:txBody>
      </p:sp>
      <p:sp>
        <p:nvSpPr>
          <p:cNvPr id="12" name="Text 9"/>
          <p:cNvSpPr/>
          <p:nvPr/>
        </p:nvSpPr>
        <p:spPr>
          <a:xfrm>
            <a:off x="7360920" y="2843784"/>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3. XGBoost Forecasts Carbon &amp; Resource Trajectory</a:t>
            </a:r>
            <a:endParaRPr lang="en-US" sz="1150" dirty="0"/>
          </a:p>
        </p:txBody>
      </p:sp>
      <p:sp>
        <p:nvSpPr>
          <p:cNvPr id="13" name="Shape 10"/>
          <p:cNvSpPr/>
          <p:nvPr/>
        </p:nvSpPr>
        <p:spPr>
          <a:xfrm>
            <a:off x="7223760" y="3282696"/>
            <a:ext cx="4160520" cy="365760"/>
          </a:xfrm>
          <a:prstGeom prst="roundRect">
            <a:avLst>
              <a:gd name="adj" fmla="val 17500"/>
            </a:avLst>
          </a:prstGeom>
          <a:solidFill>
            <a:srgbClr val="FFFFFF"/>
          </a:solidFill>
          <a:ln w="12700">
            <a:solidFill>
              <a:srgbClr val="57926E"/>
            </a:solidFill>
            <a:prstDash val="solid"/>
          </a:ln>
        </p:spPr>
        <p:txBody>
          <a:bodyPr/>
          <a:p/>
        </p:txBody>
      </p:sp>
      <p:sp>
        <p:nvSpPr>
          <p:cNvPr id="14" name="Text 11"/>
          <p:cNvSpPr/>
          <p:nvPr/>
        </p:nvSpPr>
        <p:spPr>
          <a:xfrm>
            <a:off x="7360920" y="3282696"/>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4. Digital Twin Simulates Scenario Impact vs Cost</a:t>
            </a:r>
            <a:endParaRPr lang="en-US" sz="1150" dirty="0"/>
          </a:p>
        </p:txBody>
      </p:sp>
      <p:sp>
        <p:nvSpPr>
          <p:cNvPr id="15" name="Shape 12"/>
          <p:cNvSpPr/>
          <p:nvPr/>
        </p:nvSpPr>
        <p:spPr>
          <a:xfrm>
            <a:off x="7223760" y="3721608"/>
            <a:ext cx="4160520" cy="365760"/>
          </a:xfrm>
          <a:prstGeom prst="roundRect">
            <a:avLst>
              <a:gd name="adj" fmla="val 17500"/>
            </a:avLst>
          </a:prstGeom>
          <a:solidFill>
            <a:srgbClr val="FFFFFF"/>
          </a:solidFill>
          <a:ln w="12700">
            <a:solidFill>
              <a:srgbClr val="57926E"/>
            </a:solidFill>
            <a:prstDash val="solid"/>
          </a:ln>
        </p:spPr>
        <p:txBody>
          <a:bodyPr/>
          <a:p/>
        </p:txBody>
      </p:sp>
      <p:sp>
        <p:nvSpPr>
          <p:cNvPr id="16" name="Text 13"/>
          <p:cNvSpPr/>
          <p:nvPr/>
        </p:nvSpPr>
        <p:spPr>
          <a:xfrm>
            <a:off x="7360920" y="3721608"/>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5. Google OR-Tools Optimizes Multi-Objective Choices</a:t>
            </a:r>
            <a:endParaRPr lang="en-US" sz="1150" dirty="0"/>
          </a:p>
        </p:txBody>
      </p:sp>
      <p:sp>
        <p:nvSpPr>
          <p:cNvPr id="17" name="Shape 14"/>
          <p:cNvSpPr/>
          <p:nvPr/>
        </p:nvSpPr>
        <p:spPr>
          <a:xfrm>
            <a:off x="7223760" y="4160520"/>
            <a:ext cx="4160520" cy="365760"/>
          </a:xfrm>
          <a:prstGeom prst="roundRect">
            <a:avLst>
              <a:gd name="adj" fmla="val 17500"/>
            </a:avLst>
          </a:prstGeom>
          <a:solidFill>
            <a:srgbClr val="C7C396"/>
          </a:solidFill>
          <a:ln w="12700">
            <a:solidFill>
              <a:srgbClr val="57926E"/>
            </a:solidFill>
            <a:prstDash val="solid"/>
          </a:ln>
        </p:spPr>
        <p:txBody>
          <a:bodyPr/>
          <a:p/>
        </p:txBody>
      </p:sp>
      <p:sp>
        <p:nvSpPr>
          <p:cNvPr id="18" name="Text 15"/>
          <p:cNvSpPr/>
          <p:nvPr/>
        </p:nvSpPr>
        <p:spPr>
          <a:xfrm>
            <a:off x="7360920" y="4160520"/>
            <a:ext cx="3886200" cy="365760"/>
          </a:xfrm>
          <a:prstGeom prst="rect">
            <a:avLst/>
          </a:prstGeom>
          <a:noFill/>
        </p:spPr>
        <p:txBody>
          <a:bodyPr wrap="square" lIns="0" tIns="0" rIns="0" bIns="0" rtlCol="0" anchor="ctr"/>
          <a:lstStyle/>
          <a:p>
            <a:pPr marL="0" indent="0">
              <a:buNone/>
            </a:pPr>
            <a:r>
              <a:rPr lang="en-US" sz="11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6. GenAI Assistant Explains Choices and Issues Coaching</a:t>
            </a:r>
            <a:endParaRPr lang="en-US" sz="1150" dirty="0"/>
          </a:p>
        </p:txBody>
      </p:sp>
      <p:pic>
        <p:nvPicPr>
          <p:cNvPr id="19" name="Image 0" descr="./icons/check_dark.png"/>
          <p:cNvPicPr>
            <a:picLocks noChangeAspect="1"/>
          </p:cNvPicPr>
          <p:nvPr/>
        </p:nvPicPr>
        <p:blipFill>
          <a:blip r:embed="rId1"/>
          <a:stretch>
            <a:fillRect/>
          </a:stretch>
        </p:blipFill>
        <p:spPr>
          <a:xfrm>
            <a:off x="7223760" y="4700016"/>
            <a:ext cx="146304" cy="146304"/>
          </a:xfrm>
          <a:prstGeom prst="rect">
            <a:avLst/>
          </a:prstGeom>
        </p:spPr>
      </p:pic>
      <p:sp>
        <p:nvSpPr>
          <p:cNvPr id="20" name="Text 16"/>
          <p:cNvSpPr/>
          <p:nvPr/>
        </p:nvSpPr>
        <p:spPr>
          <a:xfrm>
            <a:off x="7452360" y="4672584"/>
            <a:ext cx="3931920" cy="228600"/>
          </a:xfrm>
          <a:prstGeom prst="rect">
            <a:avLst/>
          </a:prstGeom>
          <a:noFill/>
        </p:spPr>
        <p:txBody>
          <a:bodyPr wrap="square" lIns="0" tIns="0" rIns="0" bIns="0" rtlCol="0" anchor="ctr"/>
          <a:lstStyle/>
          <a:p>
            <a:pPr marL="0" indent="0">
              <a:buNone/>
            </a:pPr>
            <a:r>
              <a:t>MongoDB 2dsphere Geofences Campus Radius</a:t>
            </a:r>
            <a:endParaRPr lang="en-US" sz="1200" dirty="0"/>
          </a:p>
        </p:txBody>
      </p:sp>
      <p:pic>
        <p:nvPicPr>
          <p:cNvPr id="21" name="Image 1" descr="./icons/check_dark.png"/>
          <p:cNvPicPr>
            <a:picLocks noChangeAspect="1"/>
          </p:cNvPicPr>
          <p:nvPr/>
        </p:nvPicPr>
        <p:blipFill>
          <a:blip r:embed="rId1"/>
          <a:stretch>
            <a:fillRect/>
          </a:stretch>
        </p:blipFill>
        <p:spPr>
          <a:xfrm>
            <a:off x="7223760" y="4974336"/>
            <a:ext cx="146304" cy="146304"/>
          </a:xfrm>
          <a:prstGeom prst="rect">
            <a:avLst/>
          </a:prstGeom>
        </p:spPr>
      </p:pic>
      <p:sp>
        <p:nvSpPr>
          <p:cNvPr id="22" name="Text 17"/>
          <p:cNvSpPr/>
          <p:nvPr/>
        </p:nvSpPr>
        <p:spPr>
          <a:xfrm>
            <a:off x="7452360" y="494690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XGBoost Foresees Future Emissions</a:t>
            </a:r>
            <a:endParaRPr lang="en-US" sz="1200" dirty="0"/>
          </a:p>
        </p:txBody>
      </p:sp>
      <p:pic>
        <p:nvPicPr>
          <p:cNvPr id="23" name="Image 2" descr="./icons/check_dark.png"/>
          <p:cNvPicPr>
            <a:picLocks noChangeAspect="1"/>
          </p:cNvPicPr>
          <p:nvPr/>
        </p:nvPicPr>
        <p:blipFill>
          <a:blip r:embed="rId1"/>
          <a:stretch>
            <a:fillRect/>
          </a:stretch>
        </p:blipFill>
        <p:spPr>
          <a:xfrm>
            <a:off x="7223760" y="5248656"/>
            <a:ext cx="146304" cy="146304"/>
          </a:xfrm>
          <a:prstGeom prst="rect">
            <a:avLst/>
          </a:prstGeom>
        </p:spPr>
      </p:pic>
      <p:sp>
        <p:nvSpPr>
          <p:cNvPr id="24" name="Text 18"/>
          <p:cNvSpPr/>
          <p:nvPr/>
        </p:nvSpPr>
        <p:spPr>
          <a:xfrm>
            <a:off x="7452360" y="5221224"/>
            <a:ext cx="3931920" cy="228600"/>
          </a:xfrm>
          <a:prstGeom prst="rect">
            <a:avLst/>
          </a:prstGeom>
          <a:noFill/>
        </p:spPr>
        <p:txBody>
          <a:bodyPr wrap="square" lIns="0" tIns="0" rIns="0" bIns="0" rtlCol="0" anchor="ctr"/>
          <a:lstStyle/>
          <a:p>
            <a:pPr marL="0" indent="0">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Handles Conflicting Goals</a:t>
            </a:r>
            <a:endParaRPr lang="en-US" sz="1200" dirty="0"/>
          </a:p>
        </p:txBody>
      </p:sp>
      <p:pic>
        <p:nvPicPr>
          <p:cNvPr id="25" name="Image 3" descr="./icons/check_dark.png"/>
          <p:cNvPicPr>
            <a:picLocks noChangeAspect="1"/>
          </p:cNvPicPr>
          <p:nvPr/>
        </p:nvPicPr>
        <p:blipFill>
          <a:blip r:embed="rId1"/>
          <a:stretch>
            <a:fillRect/>
          </a:stretch>
        </p:blipFill>
        <p:spPr>
          <a:xfrm>
            <a:off x="7223760" y="5522976"/>
            <a:ext cx="146304" cy="146304"/>
          </a:xfrm>
          <a:prstGeom prst="rect">
            <a:avLst/>
          </a:prstGeom>
        </p:spPr>
      </p:pic>
      <p:sp>
        <p:nvSpPr>
          <p:cNvPr id="26" name="Text 19"/>
          <p:cNvSpPr/>
          <p:nvPr/>
        </p:nvSpPr>
        <p:spPr>
          <a:xfrm>
            <a:off x="7452360" y="5495544"/>
            <a:ext cx="3931920" cy="228600"/>
          </a:xfrm>
          <a:prstGeom prst="rect">
            <a:avLst/>
          </a:prstGeom>
          <a:noFill/>
        </p:spPr>
        <p:txBody>
          <a:bodyPr wrap="square" lIns="0" tIns="0" rIns="0" bIns="0" rtlCol="0" anchor="ctr"/>
          <a:lstStyle/>
          <a:p>
            <a:pPr marL="0" indent="0">
              <a:buNone/>
            </a:pPr>
            <a:r>
              <a:t>Groq LLM Gateway Explains Decision Logic</a:t>
            </a:r>
            <a:endParaRPr lang="en-US" sz="1200" dirty="0"/>
          </a:p>
        </p:txBody>
      </p:sp>
      <p:sp>
        <p:nvSpPr>
          <p:cNvPr id="27" name="Shape 20">
            <a:hlinkClick r:id="rId2" action="ppaction://hlinksldjump"/>
          </p:cNvPr>
          <p:cNvSpPr/>
          <p:nvPr/>
        </p:nvSpPr>
        <p:spPr>
          <a:xfrm>
            <a:off x="548640" y="4892040"/>
            <a:ext cx="6126480" cy="502920"/>
          </a:xfrm>
          <a:prstGeom prst="roundRect">
            <a:avLst>
              <a:gd name="adj" fmla="val 18182"/>
            </a:avLst>
          </a:prstGeom>
          <a:solidFill>
            <a:srgbClr val="FFFFFF"/>
          </a:solidFill>
          <a:ln w="19050">
            <a:solidFill>
              <a:srgbClr val="57926E"/>
            </a:solidFill>
            <a:prstDash val="solid"/>
          </a:ln>
          <a:effectLst>
            <a:outerShdw blurRad="76200" dist="25400" dir="2700000" algn="bl" rotWithShape="0">
              <a:srgbClr val="000000">
                <a:alpha val="8000"/>
              </a:srgbClr>
            </a:outerShdw>
          </a:effectLst>
        </p:spPr>
        <p:txBody>
          <a:bodyPr/>
          <a:p/>
        </p:txBody>
      </p:sp>
      <p:pic>
        <p:nvPicPr>
          <p:cNvPr id="28" name="Image 4" descr="./icons/layer_white.png">
            <a:hlinkClick r:id="rId2" action="ppaction://hlinksldjump"/>
          </p:cNvPr>
          <p:cNvPicPr>
            <a:picLocks noChangeAspect="1"/>
          </p:cNvPicPr>
          <p:nvPr/>
        </p:nvPicPr>
        <p:blipFill>
          <a:blip r:embed="rId3"/>
          <a:stretch>
            <a:fillRect/>
          </a:stretch>
        </p:blipFill>
        <p:spPr>
          <a:xfrm>
            <a:off x="777240" y="5010912"/>
            <a:ext cx="274320" cy="274320"/>
          </a:xfrm>
          <a:prstGeom prst="rect">
            <a:avLst/>
          </a:prstGeom>
        </p:spPr>
      </p:pic>
      <p:sp>
        <p:nvSpPr>
          <p:cNvPr id="29" name="Text 21">
            <a:hlinkClick r:id="rId2" action="ppaction://hlinksldjump"/>
          </p:cNvPr>
          <p:cNvSpPr/>
          <p:nvPr/>
        </p:nvSpPr>
        <p:spPr>
          <a:xfrm>
            <a:off x="1188720" y="4892040"/>
            <a:ext cx="5303520" cy="502920"/>
          </a:xfrm>
          <a:prstGeom prst="rect">
            <a:avLst/>
          </a:prstGeom>
          <a:noFill/>
        </p:spPr>
        <p:txBody>
          <a:bodyPr wrap="square" lIns="0" tIns="0" rIns="0" bIns="0" rtlCol="0" anchor="ctr"/>
          <a:lstStyle/>
          <a:p>
            <a:pPr marL="0" indent="0">
              <a:buNone/>
            </a:pPr>
            <a:r>
              <a:rPr lang="en-US" sz="12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2" action="ppaction://hlinksldjump"/>
              </a:rPr>
              <a:t>VIEW SYSTEM ARCHITECTURE DIAGRAM  →</a:t>
            </a:r>
            <a:endParaRPr lang="en-US" sz="1200" dirty="0"/>
          </a:p>
        </p:txBody>
      </p:sp>
      <p:sp>
        <p:nvSpPr>
          <p:cNvPr id="30" name="Shape 22"/>
          <p:cNvSpPr/>
          <p:nvPr/>
        </p:nvSpPr>
        <p:spPr>
          <a:xfrm>
            <a:off x="530352" y="6364224"/>
            <a:ext cx="237744" cy="237744"/>
          </a:xfrm>
          <a:prstGeom prst="ellipse">
            <a:avLst/>
          </a:prstGeom>
          <a:solidFill>
            <a:srgbClr val="156D4F"/>
          </a:solidFill>
        </p:spPr>
        <p:txBody>
          <a:bodyPr/>
          <a:p/>
        </p:txBody>
      </p:sp>
      <p:pic>
        <p:nvPicPr>
          <p:cNvPr id="31" name="Image 5"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2" name="Shape 23">
            <a:hlinkClick r:id="rId4" action="ppaction://hlinksldjump"/>
          </p:cNvPr>
          <p:cNvSpPr/>
          <p:nvPr/>
        </p:nvSpPr>
        <p:spPr>
          <a:xfrm>
            <a:off x="530352" y="6355080"/>
            <a:ext cx="2377440" cy="365760"/>
          </a:xfrm>
          <a:prstGeom prst="rect">
            <a:avLst/>
          </a:prstGeom>
          <a:solidFill>
            <a:srgbClr val="364327">
              <a:alpha val="0"/>
            </a:srgbClr>
          </a:solidFill>
        </p:spPr>
        <p:txBody>
          <a:bodyPr/>
          <a:p/>
        </p:txBody>
      </p:sp>
      <p:sp>
        <p:nvSpPr>
          <p:cNvPr id="33" name="Text 24">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4" name="Text 2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Layered Stack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 · ARCHITECTURE &amp; TECH STACK</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Enterprise System Architecture Blueprint</a:t>
            </a:r>
            <a:endParaRPr lang="en-US" sz="2800" dirty="0"/>
          </a:p>
        </p:txBody>
      </p:sp>
      <p:sp>
        <p:nvSpPr>
          <p:cNvPr id="4" name="Text 2"/>
          <p:cNvSpPr/>
          <p:nvPr/>
        </p:nvSpPr>
        <p:spPr>
          <a:xfrm>
            <a:off x="548640" y="1280160"/>
            <a:ext cx="11091672"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Comprehensive system mapping of the EcoSphere framework showcasing the flow from client layer, through backend API, environmental intelligence, solvers, and data persistence layers.</a:t>
            </a:r>
            <a:endParaRPr lang="en-US" sz="1250" dirty="0"/>
          </a:p>
        </p:txBody>
      </p:sp>
      <p:sp>
        <p:nvSpPr>
          <p:cNvPr id="5" name="Shape 3"/>
          <p:cNvSpPr/>
          <p:nvPr/>
        </p:nvSpPr>
        <p:spPr>
          <a:xfrm>
            <a:off x="548640" y="1691640"/>
            <a:ext cx="11091672" cy="4526280"/>
          </a:xfrm>
          <a:prstGeom prst="roundRect">
            <a:avLst>
              <a:gd name="adj" fmla="val 1010"/>
            </a:avLst>
          </a:prstGeom>
          <a:solidFill>
            <a:srgbClr val="FFFFFF"/>
          </a:solidFill>
          <a:ln w="12700">
            <a:solidFill>
              <a:srgbClr val="57926E"/>
            </a:solidFill>
            <a:prstDash val="solid"/>
          </a:ln>
          <a:effectLst>
            <a:outerShdw blurRad="101600" dist="38100" dir="2700000" algn="bl" rotWithShape="0">
              <a:srgbClr val="000000">
                <a:alpha val="12000"/>
              </a:srgbClr>
            </a:outerShdw>
          </a:effectLst>
        </p:spPr>
      </p:sp>
      <p:pic>
        <p:nvPicPr>
          <p:cNvPr id="6" name="Image 0" descr="./icons/architecture_diagram.png"/>
          <p:cNvPicPr>
            <a:picLocks noChangeAspect="1"/>
          </p:cNvPicPr>
          <p:nvPr/>
        </p:nvPicPr>
        <p:blipFill>
          <a:blip r:embed="rId1"/>
          <a:stretch>
            <a:fillRect/>
          </a:stretch>
        </p:blipFill>
        <p:spPr>
          <a:xfrm>
            <a:off x="548640" y="1691640"/>
            <a:ext cx="11091672" cy="4526280"/>
          </a:xfrm>
          <a:prstGeom prst="rect">
            <a:avLst/>
          </a:prstGeom>
        </p:spPr>
      </p:pic>
      <p:sp>
        <p:nvSpPr>
          <p:cNvPr id="7" name="Shape 4"/>
          <p:cNvSpPr/>
          <p:nvPr/>
        </p:nvSpPr>
        <p:spPr>
          <a:xfrm>
            <a:off x="530352" y="6364224"/>
            <a:ext cx="237744" cy="237744"/>
          </a:xfrm>
          <a:prstGeom prst="ellipse">
            <a:avLst/>
          </a:prstGeom>
          <a:solidFill>
            <a:srgbClr val="156D4F"/>
          </a:solidFill>
        </p:spPr>
      </p:sp>
      <p:pic>
        <p:nvPicPr>
          <p:cNvPr id="8" name="Image 1" descr="./icons/arrow_left_white.png">
            <a:hlinkClick r:id="rId2" action="ppaction://hlinksldjump"/>
          </p:cNvPr>
          <p:cNvPicPr>
            <a:picLocks noChangeAspect="1"/>
          </p:cNvPicPr>
          <p:nvPr/>
        </p:nvPicPr>
        <p:blipFill>
          <a:blip r:embed="rId3"/>
          <a:stretch>
            <a:fillRect/>
          </a:stretch>
        </p:blipFill>
        <p:spPr>
          <a:xfrm>
            <a:off x="548640" y="6382512"/>
            <a:ext cx="201168" cy="201168"/>
          </a:xfrm>
          <a:prstGeom prst="rect">
            <a:avLst/>
          </a:prstGeom>
        </p:spPr>
      </p:pic>
      <p:sp>
        <p:nvSpPr>
          <p:cNvPr id="9" name="Shape 5">
            <a:hlinkClick r:id="rId2" action="ppaction://hlinksldjump"/>
          </p:cNvPr>
          <p:cNvSpPr/>
          <p:nvPr/>
        </p:nvSpPr>
        <p:spPr>
          <a:xfrm>
            <a:off x="530352" y="6355080"/>
            <a:ext cx="2377440" cy="365760"/>
          </a:xfrm>
          <a:prstGeom prst="rect">
            <a:avLst/>
          </a:prstGeom>
          <a:solidFill>
            <a:srgbClr val="364327">
              <a:alpha val="0"/>
            </a:srgbClr>
          </a:solidFill>
        </p:spPr>
      </p:sp>
      <p:sp>
        <p:nvSpPr>
          <p:cNvPr id="10" name="Text 6">
            <a:hlinkClick r:id="rId2"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2" action="ppaction://hlinksldjump"/>
              </a:rPr>
              <a:t>BACK TO REVIEW BOARD</a:t>
            </a:r>
            <a:endParaRPr lang="en-US" sz="1100" dirty="0"/>
          </a:p>
        </p:txBody>
      </p:sp>
      <p:sp>
        <p:nvSpPr>
          <p:cNvPr id="11" name="Text 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Architecture Diagram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04A · INTERFACE &amp; DESIGN</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React Web Application &amp; Dashboard Portals</a:t>
            </a:r>
            <a:endParaRPr lang="en-US" sz="2800" dirty="0"/>
          </a:p>
        </p:txBody>
      </p:sp>
      <p:sp>
        <p:nvSpPr>
          <p:cNvPr id="4" name="Shape 2"/>
          <p:cNvSpPr/>
          <p:nvPr/>
        </p:nvSpPr>
        <p:spPr>
          <a:xfrm>
            <a:off x="548640"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txBody>
          <a:bodyPr/>
          <a:p/>
        </p:txBody>
      </p:sp>
      <p:sp>
        <p:nvSpPr>
          <p:cNvPr id="5" name="Shape 3"/>
          <p:cNvSpPr/>
          <p:nvPr/>
        </p:nvSpPr>
        <p:spPr>
          <a:xfrm>
            <a:off x="777240" y="1938528"/>
            <a:ext cx="502920" cy="502920"/>
          </a:xfrm>
          <a:prstGeom prst="ellipse">
            <a:avLst/>
          </a:prstGeom>
          <a:solidFill>
            <a:srgbClr val="C7C396"/>
          </a:solidFill>
          <a:effectLst>
            <a:outerShdw blurRad="76200" dist="25400" dir="2700000" algn="bl" rotWithShape="0">
              <a:srgbClr val="000000">
                <a:alpha val="8000"/>
              </a:srgbClr>
            </a:outerShdw>
          </a:effectLst>
        </p:spPr>
        <p:txBody>
          <a:bodyPr/>
          <a:p/>
        </p:txBody>
      </p:sp>
      <p:pic>
        <p:nvPicPr>
          <p:cNvPr id="6" name="Image 0" descr="./icons/gateway_dark.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t>React 18 Spatial Canvas Client</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t>Spatial Canvas Workspace: 2D infinite workspace with drag-to-pan, SVG data streams, and 12 interactive nodes.</a:t>
            </a:r>
            <a:endParaRPr lang="en-US" sz="1250" dirty="0"/>
          </a:p>
        </p:txBody>
      </p:sp>
      <p:pic>
        <p:nvPicPr>
          <p:cNvPr id="10"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1" name="Text 6"/>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Map Visualization: Integrates Leaflet.js and OpenStreetMap for tree planting and recycling tracking.</a:t>
            </a:r>
            <a:endParaRPr lang="en-US" sz="1250" dirty="0"/>
          </a:p>
        </p:txBody>
      </p:sp>
      <p:pic>
        <p:nvPicPr>
          <p:cNvPr id="12"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3" name="Text 7"/>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Multi-Resource Forms: Streamlined logging for water, electricity, transportation, waste, and fuel.</a:t>
            </a:r>
            <a:endParaRPr lang="en-US" sz="1250" dirty="0"/>
          </a:p>
        </p:txBody>
      </p:sp>
      <p:pic>
        <p:nvPicPr>
          <p:cNvPr id="14"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5" name="Text 8"/>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t>Groq AI Omnibar &amp; Assistant: Floating command bar with natural language intent parser and instant chat.</a:t>
            </a:r>
            <a:endParaRPr lang="en-US" sz="1250" dirty="0"/>
          </a:p>
        </p:txBody>
      </p:sp>
      <p:pic>
        <p:nvPicPr>
          <p:cNvPr id="16"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7" name="Text 9"/>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Achievement Gallery: Displays verified eco-challenges, badges, and verified progress.</a:t>
            </a:r>
            <a:endParaRPr lang="en-US" sz="1250" dirty="0"/>
          </a:p>
        </p:txBody>
      </p:sp>
      <p:sp>
        <p:nvSpPr>
          <p:cNvPr id="18" name="Shape 10"/>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txBody>
          <a:bodyPr/>
          <a:p/>
        </p:txBody>
      </p:sp>
      <p:sp>
        <p:nvSpPr>
          <p:cNvPr id="19" name="Shape 11"/>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20" name="Image 6" descr="./icons/server_white.png"/>
          <p:cNvPicPr>
            <a:picLocks noChangeAspect="1"/>
          </p:cNvPicPr>
          <p:nvPr/>
        </p:nvPicPr>
        <p:blipFill>
          <a:blip r:embed="rId3"/>
          <a:stretch>
            <a:fillRect/>
          </a:stretch>
        </p:blipFill>
        <p:spPr>
          <a:xfrm>
            <a:off x="6302959" y="2069287"/>
            <a:ext cx="241402" cy="241402"/>
          </a:xfrm>
          <a:prstGeom prst="rect">
            <a:avLst/>
          </a:prstGeom>
        </p:spPr>
      </p:pic>
      <p:sp>
        <p:nvSpPr>
          <p:cNvPr id="21" name="Text 12"/>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Next.js Admin &amp; Web Portal</a:t>
            </a:r>
            <a:endParaRPr lang="en-US" sz="1750" dirty="0"/>
          </a:p>
        </p:txBody>
      </p:sp>
      <p:sp>
        <p:nvSpPr>
          <p:cNvPr id="22" name="Text 13"/>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ADMINISTRATION, REPORTS &amp; AUDITING</a:t>
            </a:r>
            <a:endParaRPr lang="en-US" sz="1300" dirty="0"/>
          </a:p>
        </p:txBody>
      </p:sp>
      <p:pic>
        <p:nvPicPr>
          <p:cNvPr id="23"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4" name="Text 14"/>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Colleges &amp; Communities: Aggregates campus sustainability stats and overall carbon reduction indicators.</a:t>
            </a:r>
            <a:endParaRPr lang="en-US" sz="1200" dirty="0"/>
          </a:p>
        </p:txBody>
      </p:sp>
      <p:pic>
        <p:nvPicPr>
          <p:cNvPr id="25"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6" name="Text 15"/>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Verification Console: Validates uploaded images, geolocations, and QR codes of user eco-activities.</a:t>
            </a:r>
            <a:endParaRPr lang="en-US" sz="1200" dirty="0"/>
          </a:p>
        </p:txBody>
      </p:sp>
      <p:pic>
        <p:nvPicPr>
          <p:cNvPr id="27"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8" name="Text 16"/>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PDF Report Generator: Utilizes Apache PDFBox to compile and export detailed environmental profiles.</a:t>
            </a:r>
            <a:endParaRPr lang="en-US" sz="1200" dirty="0"/>
          </a:p>
        </p:txBody>
      </p:sp>
      <p:pic>
        <p:nvPicPr>
          <p:cNvPr id="29"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0" name="Text 17"/>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Coaching Configuration: System Admin interface to feed knowledge rules and update assistant prompts.</a:t>
            </a:r>
            <a:endParaRPr lang="en-US" sz="1200" dirty="0"/>
          </a:p>
        </p:txBody>
      </p:sp>
      <p:pic>
        <p:nvPicPr>
          <p:cNvPr id="31"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2" name="Text 18"/>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External API Health: Monitors connectivity to weather services, air quality APIs, and geocoders.</a:t>
            </a:r>
            <a:endParaRPr lang="en-US" sz="1200" dirty="0"/>
          </a:p>
        </p:txBody>
      </p:sp>
      <p:pic>
        <p:nvPicPr>
          <p:cNvPr id="33"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4" name="Text 19"/>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EAS Notifications: Coordinates push notifications and emails to dispatch environmental warnings.</a:t>
            </a:r>
            <a:endParaRPr lang="en-US" sz="1200" dirty="0"/>
          </a:p>
        </p:txBody>
      </p:sp>
      <p:sp>
        <p:nvSpPr>
          <p:cNvPr id="35" name="Shape 20"/>
          <p:cNvSpPr/>
          <p:nvPr/>
        </p:nvSpPr>
        <p:spPr>
          <a:xfrm>
            <a:off x="530352" y="6364224"/>
            <a:ext cx="237744" cy="237744"/>
          </a:xfrm>
          <a:prstGeom prst="ellipse">
            <a:avLst/>
          </a:prstGeom>
          <a:solidFill>
            <a:srgbClr val="156D4F"/>
          </a:solidFill>
        </p:spPr>
        <p:txBody>
          <a:bodyPr/>
          <a:p/>
        </p:txBody>
      </p:sp>
      <p:pic>
        <p:nvPicPr>
          <p:cNvPr id="36"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7" name="Shape 21">
            <a:hlinkClick r:id="rId4" action="ppaction://hlinksldjump"/>
          </p:cNvPr>
          <p:cNvSpPr/>
          <p:nvPr/>
        </p:nvSpPr>
        <p:spPr>
          <a:xfrm>
            <a:off x="530352" y="6355080"/>
            <a:ext cx="2377440" cy="365760"/>
          </a:xfrm>
          <a:prstGeom prst="rect">
            <a:avLst/>
          </a:prstGeom>
          <a:solidFill>
            <a:srgbClr val="364327">
              <a:alpha val="0"/>
            </a:srgbClr>
          </a:solidFill>
        </p:spPr>
        <p:txBody>
          <a:bodyPr/>
          <a:p/>
        </p:txBody>
      </p:sp>
      <p:sp>
        <p:nvSpPr>
          <p:cNvPr id="38" name="Text 22">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9" name="Text 23"/>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Frontend Applications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04B · BACKEND MIDDLEWARE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Spring Boot API Gateway &amp; ML Forecasting Backend</a:t>
            </a:r>
            <a:endParaRPr lang="en-US" sz="2800" dirty="0"/>
          </a:p>
        </p:txBody>
      </p:sp>
      <p:sp>
        <p:nvSpPr>
          <p:cNvPr id="4" name="Shape 2"/>
          <p:cNvSpPr/>
          <p:nvPr/>
        </p:nvSpPr>
        <p:spPr>
          <a:xfrm>
            <a:off x="548640" y="1737360"/>
            <a:ext cx="516636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txBody>
          <a:bodyPr/>
          <a:p/>
        </p:txBody>
      </p:sp>
      <p:sp>
        <p:nvSpPr>
          <p:cNvPr id="5" name="Shape 3"/>
          <p:cNvSpPr/>
          <p:nvPr/>
        </p:nvSpPr>
        <p:spPr>
          <a:xfrm>
            <a:off x="777240" y="1938528"/>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6" name="Image 0" descr="./icons/flask_white.png"/>
          <p:cNvPicPr>
            <a:picLocks noChangeAspect="1"/>
          </p:cNvPicPr>
          <p:nvPr/>
        </p:nvPicPr>
        <p:blipFill>
          <a:blip r:embed="rId1"/>
          <a:stretch>
            <a:fillRect/>
          </a:stretch>
        </p:blipFill>
        <p:spPr>
          <a:xfrm>
            <a:off x="907999" y="2069287"/>
            <a:ext cx="241402" cy="241402"/>
          </a:xfrm>
          <a:prstGeom prst="rect">
            <a:avLst/>
          </a:prstGeom>
        </p:spPr>
      </p:pic>
      <p:sp>
        <p:nvSpPr>
          <p:cNvPr id="7" name="Text 4"/>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Spring Boot Gateway Core</a:t>
            </a:r>
            <a:endParaRPr lang="en-US" sz="1750" dirty="0"/>
          </a:p>
        </p:txBody>
      </p:sp>
      <p:pic>
        <p:nvPicPr>
          <p:cNvPr id="8"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9" name="Text 5"/>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REST Services: Exposes clean controllers for auth, user management, metrics, and challenges.</a:t>
            </a:r>
            <a:endParaRPr lang="en-US" sz="1250" dirty="0"/>
          </a:p>
        </p:txBody>
      </p:sp>
      <p:pic>
        <p:nvPicPr>
          <p:cNvPr id="10"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1" name="Text 6"/>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JWT Security: Implements Spring Security with JWT tokens and RBAC (User, Institution, SysAdmin).</a:t>
            </a:r>
            <a:endParaRPr lang="en-US" sz="1250" dirty="0"/>
          </a:p>
        </p:txBody>
      </p:sp>
      <p:pic>
        <p:nvPicPr>
          <p:cNvPr id="12"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3" name="Text 7"/>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t>Data Persistence: Utilizes Spring Data MongoDB for document storage and 2dsphere GeoJSON spatial queries.</a:t>
            </a:r>
            <a:endParaRPr lang="en-US" sz="1250" dirty="0"/>
          </a:p>
        </p:txBody>
      </p:sp>
      <p:pic>
        <p:nvPicPr>
          <p:cNvPr id="14"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5" name="Text 8"/>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Background Scheduler: Spring Scheduler triggers monthly reports, cache updates, and reminders.</a:t>
            </a:r>
            <a:endParaRPr lang="en-US" sz="1250" dirty="0"/>
          </a:p>
        </p:txBody>
      </p:sp>
      <p:pic>
        <p:nvPicPr>
          <p:cNvPr id="16"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7" name="Text 9"/>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Default-Deny Triggers: Rejects evidence approvals if geolocations or hash audits fail validation.</a:t>
            </a:r>
            <a:endParaRPr lang="en-US" sz="1250" dirty="0"/>
          </a:p>
        </p:txBody>
      </p:sp>
      <p:sp>
        <p:nvSpPr>
          <p:cNvPr id="18" name="Shape 10"/>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txBody>
          <a:bodyPr/>
          <a:p/>
        </p:txBody>
      </p:sp>
      <p:sp>
        <p:nvSpPr>
          <p:cNvPr id="19" name="Shape 11"/>
          <p:cNvSpPr/>
          <p:nvPr/>
        </p:nvSpPr>
        <p:spPr>
          <a:xfrm>
            <a:off x="6172200" y="1938528"/>
            <a:ext cx="502920" cy="502920"/>
          </a:xfrm>
          <a:prstGeom prst="ellipse">
            <a:avLst/>
          </a:prstGeom>
          <a:solidFill>
            <a:srgbClr val="C7C396"/>
          </a:solidFill>
          <a:effectLst>
            <a:outerShdw blurRad="76200" dist="25400" dir="2700000" algn="bl" rotWithShape="0">
              <a:srgbClr val="000000">
                <a:alpha val="8000"/>
              </a:srgbClr>
            </a:outerShdw>
          </a:effectLst>
        </p:spPr>
        <p:txBody>
          <a:bodyPr/>
          <a:p/>
        </p:txBody>
      </p:sp>
      <p:pic>
        <p:nvPicPr>
          <p:cNvPr id="20" name="Image 6" descr="./icons/key_dark.png"/>
          <p:cNvPicPr>
            <a:picLocks noChangeAspect="1"/>
          </p:cNvPicPr>
          <p:nvPr/>
        </p:nvPicPr>
        <p:blipFill>
          <a:blip r:embed="rId3"/>
          <a:stretch>
            <a:fillRect/>
          </a:stretch>
        </p:blipFill>
        <p:spPr>
          <a:xfrm>
            <a:off x="6302959" y="2069287"/>
            <a:ext cx="241402" cy="241402"/>
          </a:xfrm>
          <a:prstGeom prst="rect">
            <a:avLst/>
          </a:prstGeom>
        </p:spPr>
      </p:pic>
      <p:sp>
        <p:nvSpPr>
          <p:cNvPr id="21" name="Text 12"/>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FastAPI Machine Learning Service</a:t>
            </a:r>
            <a:endParaRPr lang="en-US" sz="1750" dirty="0"/>
          </a:p>
        </p:txBody>
      </p:sp>
      <p:sp>
        <p:nvSpPr>
          <p:cNvPr id="22" name="Text 13"/>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TIME-SERIES FORECASTING &amp; CACHE MANAGEMENT</a:t>
            </a:r>
            <a:endParaRPr lang="en-US" sz="1300" dirty="0"/>
          </a:p>
        </p:txBody>
      </p:sp>
      <p:pic>
        <p:nvPicPr>
          <p:cNvPr id="23"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4" name="Text 14"/>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FastAPI Integration: Exposes scikit-learn &amp; XGBoost regression models as REST services.</a:t>
            </a:r>
            <a:endParaRPr lang="en-US" sz="1200" dirty="0"/>
          </a:p>
        </p:txBody>
      </p:sp>
      <p:pic>
        <p:nvPicPr>
          <p:cNvPr id="25"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6" name="Text 15"/>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Footprint Forecasting: Calculates predictions for carbon, water, and power footprint metrics.</a:t>
            </a:r>
            <a:endParaRPr lang="en-US" sz="1200" dirty="0"/>
          </a:p>
        </p:txBody>
      </p:sp>
      <p:pic>
        <p:nvPicPr>
          <p:cNvPr id="27"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8" name="Text 16"/>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Redis Session &amp; Scores: Caches forecasts, reports, and real-time dashboard calculations.</a:t>
            </a:r>
            <a:endParaRPr lang="en-US" sz="1200" dirty="0"/>
          </a:p>
        </p:txBody>
      </p:sp>
      <p:pic>
        <p:nvPicPr>
          <p:cNvPr id="29"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0" name="Text 17"/>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solver: Runs optimizations in FastAPI, resolving multivariable tradeoffs.</a:t>
            </a:r>
            <a:endParaRPr lang="en-US" sz="1200" dirty="0"/>
          </a:p>
        </p:txBody>
      </p:sp>
      <p:pic>
        <p:nvPicPr>
          <p:cNvPr id="31"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2" name="Text 18"/>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t>Groq LLM Gateway: Manages Groq API calls (Llama-3.3-70b) with local grounded fallback engine for offline reliability.</a:t>
            </a:r>
            <a:endParaRPr lang="en-US" sz="1200" dirty="0"/>
          </a:p>
        </p:txBody>
      </p:sp>
      <p:pic>
        <p:nvPicPr>
          <p:cNvPr id="33"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4" name="Text 19"/>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Object Storage (MinIO/S3): Stores user evidence uploads, invoices, and compiled PDFs.</a:t>
            </a:r>
            <a:endParaRPr lang="en-US" sz="1200" dirty="0"/>
          </a:p>
        </p:txBody>
      </p:sp>
      <p:sp>
        <p:nvSpPr>
          <p:cNvPr id="35" name="Shape 20"/>
          <p:cNvSpPr/>
          <p:nvPr/>
        </p:nvSpPr>
        <p:spPr>
          <a:xfrm>
            <a:off x="530352" y="6364224"/>
            <a:ext cx="237744" cy="237744"/>
          </a:xfrm>
          <a:prstGeom prst="ellipse">
            <a:avLst/>
          </a:prstGeom>
          <a:solidFill>
            <a:srgbClr val="156D4F"/>
          </a:solidFill>
        </p:spPr>
        <p:txBody>
          <a:bodyPr/>
          <a:p/>
        </p:txBody>
      </p:sp>
      <p:pic>
        <p:nvPicPr>
          <p:cNvPr id="36"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7" name="Shape 21">
            <a:hlinkClick r:id="rId4" action="ppaction://hlinksldjump"/>
          </p:cNvPr>
          <p:cNvSpPr/>
          <p:nvPr/>
        </p:nvSpPr>
        <p:spPr>
          <a:xfrm>
            <a:off x="530352" y="6355080"/>
            <a:ext cx="2377440" cy="365760"/>
          </a:xfrm>
          <a:prstGeom prst="rect">
            <a:avLst/>
          </a:prstGeom>
          <a:solidFill>
            <a:srgbClr val="364327">
              <a:alpha val="0"/>
            </a:srgbClr>
          </a:solidFill>
        </p:spPr>
        <p:txBody>
          <a:bodyPr/>
          <a:p/>
        </p:txBody>
      </p:sp>
      <p:sp>
        <p:nvSpPr>
          <p:cNvPr id="38" name="Text 22">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39" name="Text 23"/>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Backend Middleware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05 · NOVELTY HIGHLIGHTS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Multi-Objective Optimization &amp; Adaptive Coaching</a:t>
            </a:r>
            <a:endParaRPr lang="en-US" sz="2800" dirty="0"/>
          </a:p>
        </p:txBody>
      </p:sp>
      <p:sp>
        <p:nvSpPr>
          <p:cNvPr id="4" name="Text 2"/>
          <p:cNvSpPr/>
          <p:nvPr/>
        </p:nvSpPr>
        <p:spPr>
          <a:xfrm>
            <a:off x="548640" y="1146175"/>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implements distinct intelligence modules that move environmental tracking from logs to active solutions.</a:t>
            </a:r>
            <a:endParaRPr lang="en-US" sz="1250" dirty="0"/>
          </a:p>
        </p:txBody>
      </p:sp>
      <p:graphicFrame>
        <p:nvGraphicFramePr>
          <p:cNvPr id="13" name="Table 0"/>
          <p:cNvGraphicFramePr>
            <a:graphicFrameLocks noGrp="1"/>
          </p:cNvGraphicFramePr>
          <p:nvPr/>
        </p:nvGraphicFramePr>
        <p:xfrm>
          <a:off x="548640" y="1463040"/>
          <a:ext cx="6858000" cy="2414016"/>
        </p:xfrm>
        <a:graphic>
          <a:graphicData uri="http://schemas.openxmlformats.org/drawingml/2006/table">
            <a:tbl>
              <a:tblPr/>
              <a:tblGrid>
                <a:gridCol w="1645920"/>
                <a:gridCol w="2926080"/>
                <a:gridCol w="2286000"/>
              </a:tblGrid>
              <a:tr h="402336">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Engine Core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Optimization Control</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c>
                  <a:txBody>
                    <a:bodyPr/>
                    <a:lstStyle/>
                    <a:p>
                      <a:pPr marL="0" indent="0">
                        <a:buNone/>
                      </a:pPr>
                      <a:r>
                        <a:rPr lang="en-US" sz="10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Technical Realization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solidFill>
                      <a:srgbClr val="156D4F"/>
                    </a:solidFill>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Carbon &amp; Energy</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XGBoost Regression Model</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Forecasts future resource demand and flags wasteful behavior trends.</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Cross-Domain Solver</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Google OR-Tools Optimization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Simultaneously balances cost, carbon, energy, waste, and preference.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Digital Twin Simulation</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Scenario Playbook Engine</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Estimates impact before real-world adoption (solar panel, LED, transit).</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r>
                        <a:t>Explainable AI</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Groq LLM Reasoning &amp; Fallback</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r>
                        <a:t>Translates regression forecasts and OR-Tools MILP scores into structured decision explanations.</a:t>
                      </a: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r h="402336">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Adaptive Coach</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Behavior Response Learning</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c>
                  <a:txBody>
                    <a:bodyPr/>
                    <a:lstStyle/>
                    <a:p>
                      <a:pPr marL="0" indent="0">
                        <a:buNone/>
                      </a:pPr>
                      <a:r>
                        <a:rPr lang="en-US" sz="1050"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Adapts coaching tone and suggestions based on observed user actions.</a:t>
                      </a:r>
                      <a:endParaRPr lang="en-US" sz="1050" dirty="0">
                        <a:latin typeface="Segoe UI" panose="020B0502040204020203" pitchFamily="34" charset="0"/>
                        <a:ea typeface="Segoe UI" panose="020B0502040204020203" pitchFamily="34" charset="0"/>
                        <a:cs typeface="Segoe UI" panose="020B0502040204020203" pitchFamily="34" charset="0"/>
                      </a:endParaRPr>
                    </a:p>
                  </a:txBody>
                  <a:tcPr anchor="ctr">
                    <a:lnL w="6350" cap="flat" cmpd="sng" algn="ctr">
                      <a:solidFill>
                        <a:srgbClr val="156D4F"/>
                      </a:solidFill>
                      <a:prstDash val="solid"/>
                      <a:round/>
                      <a:headEnd type="none" w="med" len="med"/>
                      <a:tailEnd type="none" w="med" len="med"/>
                    </a:lnL>
                    <a:lnR w="6350" cap="flat" cmpd="sng" algn="ctr">
                      <a:solidFill>
                        <a:srgbClr val="156D4F"/>
                      </a:solidFill>
                      <a:prstDash val="solid"/>
                      <a:round/>
                      <a:headEnd type="none" w="med" len="med"/>
                      <a:tailEnd type="none" w="med" len="med"/>
                    </a:lnR>
                    <a:lnT w="6350" cap="flat" cmpd="sng" algn="ctr">
                      <a:solidFill>
                        <a:srgbClr val="156D4F"/>
                      </a:solidFill>
                      <a:prstDash val="solid"/>
                      <a:round/>
                      <a:headEnd type="none" w="med" len="med"/>
                      <a:tailEnd type="none" w="med" len="med"/>
                    </a:lnT>
                    <a:lnB w="6350" cap="flat" cmpd="sng" algn="ctr">
                      <a:solidFill>
                        <a:srgbClr val="156D4F"/>
                      </a:solidFill>
                      <a:prstDash val="solid"/>
                      <a:round/>
                      <a:headEnd type="none" w="med" len="med"/>
                      <a:tailEnd type="none" w="med" len="med"/>
                    </a:lnB>
                  </a:tcPr>
                </a:tc>
              </a:tr>
            </a:tbl>
          </a:graphicData>
        </a:graphic>
      </p:graphicFrame>
      <p:sp>
        <p:nvSpPr>
          <p:cNvPr id="6" name="Text 3"/>
          <p:cNvSpPr/>
          <p:nvPr/>
        </p:nvSpPr>
        <p:spPr>
          <a:xfrm>
            <a:off x="548640" y="4574540"/>
            <a:ext cx="6858000" cy="274320"/>
          </a:xfrm>
          <a:prstGeom prst="rect">
            <a:avLst/>
          </a:prstGeom>
          <a:noFill/>
        </p:spPr>
        <p:txBody>
          <a:bodyPr wrap="square" lIns="0" tIns="0" rIns="0" bIns="0" rtlCol="0" anchor="ctr"/>
          <a:lstStyle/>
          <a:p>
            <a:pPr marL="0" indent="0">
              <a:buNone/>
            </a:pPr>
            <a:r>
              <a:rPr lang="en-US" sz="1500" b="1" kern="0" spc="100" dirty="0">
                <a:solidFill>
                  <a:srgbClr val="156D4F"/>
                </a:solidFill>
                <a:latin typeface="Segoe UI" panose="020B0502040204020203" pitchFamily="34" charset="0"/>
                <a:ea typeface="Segoe UI" panose="020B0502040204020203" pitchFamily="34" charset="-122"/>
                <a:cs typeface="Segoe UI" panose="020B0502040204020203" pitchFamily="34" charset="-120"/>
              </a:rPr>
              <a:t>CORE INTELLIGENT CAPABILITIES &amp; METRICS</a:t>
            </a:r>
            <a:endParaRPr lang="en-US" sz="1500" dirty="0"/>
          </a:p>
        </p:txBody>
      </p:sp>
      <p:sp>
        <p:nvSpPr>
          <p:cNvPr id="7" name="Text 4"/>
          <p:cNvSpPr/>
          <p:nvPr/>
        </p:nvSpPr>
        <p:spPr>
          <a:xfrm>
            <a:off x="548640" y="4754880"/>
            <a:ext cx="6858000" cy="594360"/>
          </a:xfrm>
          <a:prstGeom prst="rect">
            <a:avLst/>
          </a:prstGeom>
          <a:noFill/>
        </p:spPr>
        <p:txBody>
          <a:bodyPr wrap="square" lIns="0" tIns="0" rIns="0" bIns="0" rtlCol="0" anchor="ctr"/>
          <a:lstStyle/>
          <a:p>
            <a:pPr marL="0" indent="0" algn="just">
              <a:lnSpc>
                <a:spcPct val="120000"/>
              </a:lnSpc>
              <a:buNone/>
            </a:pPr>
            <a:r>
              <a:rPr lang="en-US" sz="13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Cross-Domain Optimization:  </a:t>
            </a:r>
            <a:r>
              <a:rPr lang="en-US" sz="1300" dirty="0">
                <a:solidFill>
                  <a:srgbClr val="364327"/>
                </a:solidFill>
                <a:latin typeface="Segoe UI" panose="020B0502040204020203" pitchFamily="34" charset="0"/>
                <a:ea typeface="Segoe UI" panose="020B0502040204020203" pitchFamily="34" charset="-122"/>
                <a:cs typeface="Segoe UI" panose="020B0502040204020203" pitchFamily="34" charset="-120"/>
              </a:rPr>
              <a:t>Simultaneously evaluates multiple resources (carbon, water, costs) using Google OR-Tools solvers to avoid contradictory advice.</a:t>
            </a:r>
            <a:endParaRPr lang="en-US" sz="1300" dirty="0"/>
          </a:p>
        </p:txBody>
      </p:sp>
      <p:sp>
        <p:nvSpPr>
          <p:cNvPr id="8" name="Text 5"/>
          <p:cNvSpPr/>
          <p:nvPr/>
        </p:nvSpPr>
        <p:spPr>
          <a:xfrm>
            <a:off x="548640" y="5358384"/>
            <a:ext cx="6858000" cy="594360"/>
          </a:xfrm>
          <a:prstGeom prst="rect">
            <a:avLst/>
          </a:prstGeom>
          <a:noFill/>
        </p:spPr>
        <p:txBody>
          <a:bodyPr wrap="square" lIns="0" tIns="0" rIns="0" bIns="0" rtlCol="0" anchor="ctr"/>
          <a:lstStyle/>
          <a:p>
            <a:pPr marL="0" indent="0" algn="just">
              <a:lnSpc>
                <a:spcPct val="120000"/>
              </a:lnSpc>
              <a:buNone/>
            </a:pPr>
            <a:r>
              <a:rPr lang="en-US" sz="130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Adaptive Intervention Engine:  </a:t>
            </a:r>
            <a:r>
              <a:rPr lang="en-US" sz="1300" dirty="0">
                <a:solidFill>
                  <a:srgbClr val="364327"/>
                </a:solidFill>
                <a:latin typeface="Segoe UI" panose="020B0502040204020203" pitchFamily="34" charset="0"/>
                <a:ea typeface="Segoe UI" panose="020B0502040204020203" pitchFamily="34" charset="-122"/>
                <a:cs typeface="Segoe UI" panose="020B0502040204020203" pitchFamily="34" charset="-120"/>
              </a:rPr>
              <a:t>Monitors user adherence to recommended actions, dynamically updating future suggestion routes to match behavior patterns.</a:t>
            </a:r>
            <a:endParaRPr lang="en-US" sz="1300" dirty="0"/>
          </a:p>
        </p:txBody>
      </p:sp>
      <p:sp>
        <p:nvSpPr>
          <p:cNvPr id="9" name="Shape 6"/>
          <p:cNvSpPr/>
          <p:nvPr/>
        </p:nvSpPr>
        <p:spPr>
          <a:xfrm>
            <a:off x="7910195" y="1737360"/>
            <a:ext cx="3748405" cy="3605530"/>
          </a:xfrm>
          <a:prstGeom prst="roundRect">
            <a:avLst>
              <a:gd name="adj" fmla="val 2299"/>
            </a:avLst>
          </a:prstGeom>
          <a:solidFill>
            <a:srgbClr val="FFFFFF"/>
          </a:solidFill>
          <a:effectLst>
            <a:outerShdw blurRad="101600" dist="38100" dir="2700000" algn="bl" rotWithShape="0">
              <a:srgbClr val="000000">
                <a:alpha val="12000"/>
              </a:srgbClr>
            </a:outerShdw>
          </a:effectLst>
        </p:spPr>
        <p:txBody>
          <a:bodyPr/>
          <a:p/>
        </p:txBody>
      </p:sp>
      <p:pic>
        <p:nvPicPr>
          <p:cNvPr id="10" name="Image 0" descr="./icons/lock_white.png"/>
          <p:cNvPicPr>
            <a:picLocks noChangeAspect="1"/>
          </p:cNvPicPr>
          <p:nvPr/>
        </p:nvPicPr>
        <p:blipFill>
          <a:blip r:embed="rId1"/>
          <a:stretch>
            <a:fillRect/>
          </a:stretch>
        </p:blipFill>
        <p:spPr>
          <a:xfrm>
            <a:off x="7909560" y="1920240"/>
            <a:ext cx="365760" cy="365760"/>
          </a:xfrm>
          <a:prstGeom prst="rect">
            <a:avLst/>
          </a:prstGeom>
        </p:spPr>
      </p:pic>
      <p:sp>
        <p:nvSpPr>
          <p:cNvPr id="11" name="Text 7"/>
          <p:cNvSpPr/>
          <p:nvPr/>
        </p:nvSpPr>
        <p:spPr>
          <a:xfrm>
            <a:off x="8366760" y="1920240"/>
            <a:ext cx="3200400" cy="365760"/>
          </a:xfrm>
          <a:prstGeom prst="rect">
            <a:avLst/>
          </a:prstGeom>
          <a:noFill/>
        </p:spPr>
        <p:txBody>
          <a:bodyPr wrap="square" lIns="0" tIns="0" rIns="0" bIns="0" rtlCol="0" anchor="ctr"/>
          <a:lstStyle/>
          <a:p>
            <a:pPr marL="0" indent="0">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EVALUATION &amp; VERIFICATION</a:t>
            </a:r>
            <a:endParaRPr lang="en-US" sz="1550" dirty="0"/>
          </a:p>
        </p:txBody>
      </p:sp>
      <p:pic>
        <p:nvPicPr>
          <p:cNvPr id="12" name="Image 1" descr="./icons/check_dark.png"/>
          <p:cNvPicPr>
            <a:picLocks noChangeAspect="1"/>
          </p:cNvPicPr>
          <p:nvPr/>
        </p:nvPicPr>
        <p:blipFill>
          <a:blip r:embed="rId2"/>
          <a:stretch>
            <a:fillRect/>
          </a:stretch>
        </p:blipFill>
        <p:spPr>
          <a:xfrm>
            <a:off x="7909560" y="2468880"/>
            <a:ext cx="146304" cy="146304"/>
          </a:xfrm>
          <a:prstGeom prst="rect">
            <a:avLst/>
          </a:prstGeom>
        </p:spPr>
      </p:pic>
      <p:sp>
        <p:nvSpPr>
          <p:cNvPr id="5" name="Text 8"/>
          <p:cNvSpPr/>
          <p:nvPr/>
        </p:nvSpPr>
        <p:spPr>
          <a:xfrm>
            <a:off x="8138160" y="2423160"/>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Behavioral anomaly detectors flagging high-consumption periods.</a:t>
            </a:r>
            <a:endParaRPr lang="en-US" sz="1350" dirty="0"/>
          </a:p>
        </p:txBody>
      </p:sp>
      <p:pic>
        <p:nvPicPr>
          <p:cNvPr id="14" name="Image 2" descr="./icons/check_dark.png"/>
          <p:cNvPicPr>
            <a:picLocks noChangeAspect="1"/>
          </p:cNvPicPr>
          <p:nvPr/>
        </p:nvPicPr>
        <p:blipFill>
          <a:blip r:embed="rId2"/>
          <a:stretch>
            <a:fillRect/>
          </a:stretch>
        </p:blipFill>
        <p:spPr>
          <a:xfrm>
            <a:off x="7909560" y="2944368"/>
            <a:ext cx="146304" cy="146304"/>
          </a:xfrm>
          <a:prstGeom prst="rect">
            <a:avLst/>
          </a:prstGeom>
        </p:spPr>
      </p:pic>
      <p:sp>
        <p:nvSpPr>
          <p:cNvPr id="15" name="Text 9"/>
          <p:cNvSpPr/>
          <p:nvPr/>
        </p:nvSpPr>
        <p:spPr>
          <a:xfrm>
            <a:off x="8138160" y="2898648"/>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Digital Twin algorithms simulating LED, solar, and public transit.</a:t>
            </a:r>
            <a:endParaRPr lang="en-US" sz="1350" dirty="0"/>
          </a:p>
        </p:txBody>
      </p:sp>
      <p:pic>
        <p:nvPicPr>
          <p:cNvPr id="16" name="Image 3" descr="./icons/check_dark.png"/>
          <p:cNvPicPr>
            <a:picLocks noChangeAspect="1"/>
          </p:cNvPicPr>
          <p:nvPr/>
        </p:nvPicPr>
        <p:blipFill>
          <a:blip r:embed="rId2"/>
          <a:stretch>
            <a:fillRect/>
          </a:stretch>
        </p:blipFill>
        <p:spPr>
          <a:xfrm>
            <a:off x="7909560" y="3419856"/>
            <a:ext cx="146304" cy="146304"/>
          </a:xfrm>
          <a:prstGeom prst="rect">
            <a:avLst/>
          </a:prstGeom>
        </p:spPr>
      </p:pic>
      <p:sp>
        <p:nvSpPr>
          <p:cNvPr id="17" name="Text 10"/>
          <p:cNvSpPr/>
          <p:nvPr/>
        </p:nvSpPr>
        <p:spPr>
          <a:xfrm>
            <a:off x="8138160" y="3374136"/>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Google OR-Tools solver code calculating multi-resource trade-offs.</a:t>
            </a:r>
            <a:endParaRPr lang="en-US" sz="1350" dirty="0"/>
          </a:p>
        </p:txBody>
      </p:sp>
      <p:pic>
        <p:nvPicPr>
          <p:cNvPr id="18" name="Image 4" descr="./icons/check_dark.png"/>
          <p:cNvPicPr>
            <a:picLocks noChangeAspect="1"/>
          </p:cNvPicPr>
          <p:nvPr/>
        </p:nvPicPr>
        <p:blipFill>
          <a:blip r:embed="rId2"/>
          <a:stretch>
            <a:fillRect/>
          </a:stretch>
        </p:blipFill>
        <p:spPr>
          <a:xfrm>
            <a:off x="7909560" y="3895344"/>
            <a:ext cx="146304" cy="146304"/>
          </a:xfrm>
          <a:prstGeom prst="rect">
            <a:avLst/>
          </a:prstGeom>
        </p:spPr>
      </p:pic>
      <p:sp>
        <p:nvSpPr>
          <p:cNvPr id="19" name="Text 11"/>
          <p:cNvSpPr/>
          <p:nvPr/>
        </p:nvSpPr>
        <p:spPr>
          <a:xfrm>
            <a:off x="8138160" y="3849624"/>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Generative AI connectors explaining score increases dynamically.</a:t>
            </a:r>
            <a:endParaRPr lang="en-US" sz="1350" dirty="0"/>
          </a:p>
        </p:txBody>
      </p:sp>
      <p:pic>
        <p:nvPicPr>
          <p:cNvPr id="20" name="Image 5" descr="./icons/check_dark.png"/>
          <p:cNvPicPr>
            <a:picLocks noChangeAspect="1"/>
          </p:cNvPicPr>
          <p:nvPr/>
        </p:nvPicPr>
        <p:blipFill>
          <a:blip r:embed="rId2"/>
          <a:stretch>
            <a:fillRect/>
          </a:stretch>
        </p:blipFill>
        <p:spPr>
          <a:xfrm>
            <a:off x="7909560" y="4370832"/>
            <a:ext cx="146304" cy="146304"/>
          </a:xfrm>
          <a:prstGeom prst="rect">
            <a:avLst/>
          </a:prstGeom>
        </p:spPr>
      </p:pic>
      <p:sp>
        <p:nvSpPr>
          <p:cNvPr id="21" name="Text 12"/>
          <p:cNvSpPr/>
          <p:nvPr/>
        </p:nvSpPr>
        <p:spPr>
          <a:xfrm>
            <a:off x="8138160" y="4325112"/>
            <a:ext cx="3383280" cy="411480"/>
          </a:xfrm>
          <a:prstGeom prst="rect">
            <a:avLst/>
          </a:prstGeom>
          <a:noFill/>
        </p:spPr>
        <p:txBody>
          <a:bodyPr wrap="square" lIns="0" tIns="0" rIns="0" bIns="0" rtlCol="0" anchor="ctr"/>
          <a:lstStyle/>
          <a:p>
            <a:pPr marL="0" indent="0" algn="just">
              <a:lnSpc>
                <a:spcPct val="115000"/>
              </a:lnSpc>
              <a:buNone/>
            </a:pPr>
            <a:r>
              <a:rPr lang="en-US" sz="13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checker evaluating uploaded receipt and geo-coordinate files.</a:t>
            </a:r>
            <a:endParaRPr lang="en-US" sz="1350" dirty="0"/>
          </a:p>
        </p:txBody>
      </p:sp>
      <p:pic>
        <p:nvPicPr>
          <p:cNvPr id="22" name="Image 6" descr="./icons/check_dark.png"/>
          <p:cNvPicPr>
            <a:picLocks noChangeAspect="1"/>
          </p:cNvPicPr>
          <p:nvPr/>
        </p:nvPicPr>
        <p:blipFill>
          <a:blip r:embed="rId2"/>
          <a:stretch>
            <a:fillRect/>
          </a:stretch>
        </p:blipFill>
        <p:spPr>
          <a:xfrm>
            <a:off x="7909560" y="4846320"/>
            <a:ext cx="146304" cy="146304"/>
          </a:xfrm>
          <a:prstGeom prst="rect">
            <a:avLst/>
          </a:prstGeom>
        </p:spPr>
      </p:pic>
      <p:sp>
        <p:nvSpPr>
          <p:cNvPr id="23" name="Text 13"/>
          <p:cNvSpPr/>
          <p:nvPr/>
        </p:nvSpPr>
        <p:spPr>
          <a:xfrm>
            <a:off x="8138160" y="4800600"/>
            <a:ext cx="3383280" cy="411480"/>
          </a:xfrm>
          <a:prstGeom prst="rect">
            <a:avLst/>
          </a:prstGeom>
          <a:noFill/>
        </p:spPr>
        <p:txBody>
          <a:bodyPr wrap="square" lIns="0" tIns="0" rIns="0" bIns="0" rtlCol="0" anchor="ctr"/>
          <a:lstStyle/>
          <a:p>
            <a:pPr marL="0" indent="0" algn="just">
              <a:lnSpc>
                <a:spcPct val="115000"/>
              </a:lnSpc>
              <a:buNone/>
            </a:pPr>
            <a:r>
              <a:t>MongoDB native indexes &amp; MinIO S3 proof storage managing fast metric retrieval.</a:t>
            </a:r>
            <a:endParaRPr lang="en-US" sz="1350" dirty="0"/>
          </a:p>
        </p:txBody>
      </p:sp>
      <p:sp>
        <p:nvSpPr>
          <p:cNvPr id="24" name="Shape 14"/>
          <p:cNvSpPr/>
          <p:nvPr/>
        </p:nvSpPr>
        <p:spPr>
          <a:xfrm>
            <a:off x="530352" y="6364224"/>
            <a:ext cx="237744" cy="237744"/>
          </a:xfrm>
          <a:prstGeom prst="ellipse">
            <a:avLst/>
          </a:prstGeom>
          <a:solidFill>
            <a:srgbClr val="156D4F"/>
          </a:solidFill>
        </p:spPr>
        <p:txBody>
          <a:bodyPr/>
          <a:p/>
        </p:txBody>
      </p:sp>
      <p:pic>
        <p:nvPicPr>
          <p:cNvPr id="25" name="Image 7" descr="./icons/arrow_left_white.png">
            <a:hlinkClick r:id="rId3" action="ppaction://hlinksldjump"/>
          </p:cNvPr>
          <p:cNvPicPr>
            <a:picLocks noChangeAspect="1"/>
          </p:cNvPicPr>
          <p:nvPr/>
        </p:nvPicPr>
        <p:blipFill>
          <a:blip r:embed="rId4"/>
          <a:stretch>
            <a:fillRect/>
          </a:stretch>
        </p:blipFill>
        <p:spPr>
          <a:xfrm>
            <a:off x="548640" y="6382512"/>
            <a:ext cx="201168" cy="201168"/>
          </a:xfrm>
          <a:prstGeom prst="rect">
            <a:avLst/>
          </a:prstGeom>
        </p:spPr>
      </p:pic>
      <p:sp>
        <p:nvSpPr>
          <p:cNvPr id="26" name="Shape 15">
            <a:hlinkClick r:id="rId3" action="ppaction://hlinksldjump"/>
          </p:cNvPr>
          <p:cNvSpPr/>
          <p:nvPr/>
        </p:nvSpPr>
        <p:spPr>
          <a:xfrm>
            <a:off x="530352" y="6355080"/>
            <a:ext cx="2377440" cy="365760"/>
          </a:xfrm>
          <a:prstGeom prst="rect">
            <a:avLst/>
          </a:prstGeom>
          <a:solidFill>
            <a:srgbClr val="364327">
              <a:alpha val="0"/>
            </a:srgbClr>
          </a:solidFill>
        </p:spPr>
        <p:txBody>
          <a:bodyPr/>
          <a:p/>
        </p:txBody>
      </p:sp>
      <p:sp>
        <p:nvSpPr>
          <p:cNvPr id="27" name="Text 16">
            <a:hlinkClick r:id="rId3"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BACK TO REVIEW BOARD</a:t>
            </a:r>
            <a:endParaRPr lang="en-US" sz="1100" dirty="0"/>
          </a:p>
        </p:txBody>
      </p:sp>
      <p:sp>
        <p:nvSpPr>
          <p:cNvPr id="28" name="Text 17"/>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Intelligent Engines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06 · TEAM STRUCTURE</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Team Structure &amp; Developer Roles</a:t>
            </a:r>
            <a:endParaRPr lang="en-US" sz="2800" dirty="0"/>
          </a:p>
        </p:txBody>
      </p:sp>
      <p:sp>
        <p:nvSpPr>
          <p:cNvPr id="4" name="Text 2"/>
          <p:cNvSpPr/>
          <p:nvPr/>
        </p:nvSpPr>
        <p:spPr>
          <a:xfrm>
            <a:off x="548640" y="128016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EcoSphere is designed and developed by a coordinated 4-member final-year project team.</a:t>
            </a:r>
            <a:endParaRPr lang="en-US" sz="1250" dirty="0"/>
          </a:p>
        </p:txBody>
      </p:sp>
      <p:sp>
        <p:nvSpPr>
          <p:cNvPr id="5" name="Shape 3"/>
          <p:cNvSpPr/>
          <p:nvPr/>
        </p:nvSpPr>
        <p:spPr>
          <a:xfrm>
            <a:off x="5486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txBody>
          <a:bodyPr/>
          <a:p/>
        </p:txBody>
      </p:sp>
      <p:sp>
        <p:nvSpPr>
          <p:cNvPr id="6" name="Shape 4"/>
          <p:cNvSpPr/>
          <p:nvPr/>
        </p:nvSpPr>
        <p:spPr>
          <a:xfrm>
            <a:off x="548640" y="1645920"/>
            <a:ext cx="2606040" cy="502920"/>
          </a:xfrm>
          <a:prstGeom prst="roundRect">
            <a:avLst>
              <a:gd name="adj" fmla="val 14545"/>
            </a:avLst>
          </a:prstGeom>
          <a:solidFill>
            <a:srgbClr val="C7C396"/>
          </a:solidFill>
        </p:spPr>
        <p:txBody>
          <a:bodyPr/>
          <a:p/>
        </p:txBody>
      </p:sp>
      <p:sp>
        <p:nvSpPr>
          <p:cNvPr id="7" name="Shape 5"/>
          <p:cNvSpPr/>
          <p:nvPr/>
        </p:nvSpPr>
        <p:spPr>
          <a:xfrm>
            <a:off x="548640" y="1874520"/>
            <a:ext cx="2606040" cy="274320"/>
          </a:xfrm>
          <a:prstGeom prst="rect">
            <a:avLst/>
          </a:prstGeom>
          <a:solidFill>
            <a:srgbClr val="C7C396"/>
          </a:solidFill>
        </p:spPr>
        <p:txBody>
          <a:bodyPr/>
          <a:p/>
        </p:txBody>
      </p:sp>
      <p:sp>
        <p:nvSpPr>
          <p:cNvPr id="8" name="Text 6"/>
          <p:cNvSpPr/>
          <p:nvPr/>
        </p:nvSpPr>
        <p:spPr>
          <a:xfrm>
            <a:off x="6858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Gangash12</a:t>
            </a:r>
            <a:endParaRPr lang="en-US" sz="1550" dirty="0"/>
          </a:p>
        </p:txBody>
      </p:sp>
      <p:sp>
        <p:nvSpPr>
          <p:cNvPr id="9" name="Shape 7"/>
          <p:cNvSpPr/>
          <p:nvPr/>
        </p:nvSpPr>
        <p:spPr>
          <a:xfrm>
            <a:off x="2651760" y="1737360"/>
            <a:ext cx="320040" cy="32004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10" name="Image 0" descr="./icons/gateway_dark.png"/>
          <p:cNvPicPr>
            <a:picLocks noChangeAspect="1"/>
          </p:cNvPicPr>
          <p:nvPr/>
        </p:nvPicPr>
        <p:blipFill>
          <a:blip r:embed="rId1"/>
          <a:stretch>
            <a:fillRect/>
          </a:stretch>
        </p:blipFill>
        <p:spPr>
          <a:xfrm>
            <a:off x="2734970" y="1820570"/>
            <a:ext cx="153619" cy="153619"/>
          </a:xfrm>
          <a:prstGeom prst="rect">
            <a:avLst/>
          </a:prstGeom>
        </p:spPr>
      </p:pic>
      <p:sp>
        <p:nvSpPr>
          <p:cNvPr id="11" name="Text 8"/>
          <p:cNvSpPr/>
          <p:nvPr/>
        </p:nvSpPr>
        <p:spPr>
          <a:xfrm>
            <a:off x="6858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UI/UX Engineer &amp; Frontend Developer</a:t>
            </a:r>
            <a:endParaRPr lang="en-US" sz="1300" dirty="0"/>
          </a:p>
        </p:txBody>
      </p:sp>
      <p:sp>
        <p:nvSpPr>
          <p:cNvPr id="12" name="Text 9"/>
          <p:cNvSpPr/>
          <p:nvPr/>
        </p:nvSpPr>
        <p:spPr>
          <a:xfrm>
            <a:off x="685800" y="2880360"/>
            <a:ext cx="2331720" cy="2560320"/>
          </a:xfrm>
          <a:prstGeom prst="rect">
            <a:avLst/>
          </a:prstGeom>
          <a:noFill/>
        </p:spPr>
        <p:txBody>
          <a:bodyPr wrap="square" lIns="0" tIns="0" rIns="0" bIns="0" rtlCol="0" anchor="ctr"/>
          <a:lstStyle/>
          <a:p>
            <a:pPr marL="0" indent="0" algn="l">
              <a:lnSpc>
                <a:spcPct val="120000"/>
              </a:lnSpc>
              <a:buNone/>
            </a:pPr>
            <a:r>
              <a:t>• Designed Emerald Oasis UI/UX theme, React 18 2D Spatial Canvas, and Groq AI Omnibar.</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t>• Built 12 workspace nodes, 3-mode view switcher (Canvas, Desktop, Mobile), and interactive charts.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Integrated responsive interfaces using Tailwind CSS and Material UI.</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Programmed charts using Apache ECharts and map overlays.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13" name="Shape 10"/>
          <p:cNvSpPr/>
          <p:nvPr/>
        </p:nvSpPr>
        <p:spPr>
          <a:xfrm>
            <a:off x="32918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txBody>
          <a:bodyPr/>
          <a:p/>
        </p:txBody>
      </p:sp>
      <p:sp>
        <p:nvSpPr>
          <p:cNvPr id="14" name="Shape 11"/>
          <p:cNvSpPr/>
          <p:nvPr/>
        </p:nvSpPr>
        <p:spPr>
          <a:xfrm>
            <a:off x="3291840" y="1645920"/>
            <a:ext cx="2606040" cy="502920"/>
          </a:xfrm>
          <a:prstGeom prst="roundRect">
            <a:avLst>
              <a:gd name="adj" fmla="val 14545"/>
            </a:avLst>
          </a:prstGeom>
          <a:solidFill>
            <a:srgbClr val="C7C396"/>
          </a:solidFill>
        </p:spPr>
        <p:txBody>
          <a:bodyPr/>
          <a:p/>
        </p:txBody>
      </p:sp>
      <p:sp>
        <p:nvSpPr>
          <p:cNvPr id="15" name="Shape 12"/>
          <p:cNvSpPr/>
          <p:nvPr/>
        </p:nvSpPr>
        <p:spPr>
          <a:xfrm>
            <a:off x="3291840" y="1874520"/>
            <a:ext cx="2606040" cy="274320"/>
          </a:xfrm>
          <a:prstGeom prst="rect">
            <a:avLst/>
          </a:prstGeom>
          <a:solidFill>
            <a:srgbClr val="C7C396"/>
          </a:solidFill>
        </p:spPr>
        <p:txBody>
          <a:bodyPr/>
          <a:p/>
        </p:txBody>
      </p:sp>
      <p:sp>
        <p:nvSpPr>
          <p:cNvPr id="16" name="Text 13"/>
          <p:cNvSpPr/>
          <p:nvPr/>
        </p:nvSpPr>
        <p:spPr>
          <a:xfrm>
            <a:off x="34290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Girijesh</a:t>
            </a:r>
            <a:endParaRPr lang="en-US" sz="1550" dirty="0"/>
          </a:p>
        </p:txBody>
      </p:sp>
      <p:sp>
        <p:nvSpPr>
          <p:cNvPr id="17" name="Shape 14"/>
          <p:cNvSpPr/>
          <p:nvPr/>
        </p:nvSpPr>
        <p:spPr>
          <a:xfrm>
            <a:off x="5394960" y="1737360"/>
            <a:ext cx="320040" cy="32004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18" name="Image 1" descr="./icons/lock_white.png"/>
          <p:cNvPicPr>
            <a:picLocks noChangeAspect="1"/>
          </p:cNvPicPr>
          <p:nvPr/>
        </p:nvPicPr>
        <p:blipFill>
          <a:blip r:embed="rId2"/>
          <a:stretch>
            <a:fillRect/>
          </a:stretch>
        </p:blipFill>
        <p:spPr>
          <a:xfrm>
            <a:off x="5478170" y="1820570"/>
            <a:ext cx="153619" cy="153619"/>
          </a:xfrm>
          <a:prstGeom prst="rect">
            <a:avLst/>
          </a:prstGeom>
        </p:spPr>
      </p:pic>
      <p:sp>
        <p:nvSpPr>
          <p:cNvPr id="19" name="Text 15"/>
          <p:cNvSpPr/>
          <p:nvPr/>
        </p:nvSpPr>
        <p:spPr>
          <a:xfrm>
            <a:off x="34290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Software Developer &amp; Tester</a:t>
            </a:r>
            <a:endParaRPr lang="en-US" sz="1300" dirty="0"/>
          </a:p>
        </p:txBody>
      </p:sp>
      <p:sp>
        <p:nvSpPr>
          <p:cNvPr id="20" name="Text 16"/>
          <p:cNvSpPr/>
          <p:nvPr/>
        </p:nvSpPr>
        <p:spPr>
          <a:xfrm>
            <a:off x="3429000" y="2880360"/>
            <a:ext cx="2331720" cy="2560320"/>
          </a:xfrm>
          <a:prstGeom prst="rect">
            <a:avLst/>
          </a:prstGeom>
          <a:noFill/>
        </p:spPr>
        <p:txBody>
          <a:bodyPr wrap="square" lIns="0" tIns="0" rIns="0" bIns="0" rtlCol="0" anchor="ctr"/>
          <a:lstStyle/>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Developed assigned application modules and backend routes.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t>• Built JUnit 5 REST suite, Pytest ML suite, and 36-endpoint Node.js integration test suite.</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Handled QA processes, bug reporting, and functional verification.</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t>• Implemented Server-Sent Events (SSE) notification streaming and system telemetry monitoring.</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21" name="Shape 17"/>
          <p:cNvSpPr/>
          <p:nvPr/>
        </p:nvSpPr>
        <p:spPr>
          <a:xfrm>
            <a:off x="60350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txBody>
          <a:bodyPr/>
          <a:p/>
        </p:txBody>
      </p:sp>
      <p:sp>
        <p:nvSpPr>
          <p:cNvPr id="22" name="Shape 18"/>
          <p:cNvSpPr/>
          <p:nvPr/>
        </p:nvSpPr>
        <p:spPr>
          <a:xfrm>
            <a:off x="6035040" y="1645920"/>
            <a:ext cx="2606040" cy="502920"/>
          </a:xfrm>
          <a:prstGeom prst="roundRect">
            <a:avLst>
              <a:gd name="adj" fmla="val 14545"/>
            </a:avLst>
          </a:prstGeom>
          <a:solidFill>
            <a:srgbClr val="C7C396"/>
          </a:solidFill>
        </p:spPr>
        <p:txBody>
          <a:bodyPr/>
          <a:p/>
        </p:txBody>
      </p:sp>
      <p:sp>
        <p:nvSpPr>
          <p:cNvPr id="23" name="Shape 19"/>
          <p:cNvSpPr/>
          <p:nvPr/>
        </p:nvSpPr>
        <p:spPr>
          <a:xfrm>
            <a:off x="6035040" y="1874520"/>
            <a:ext cx="2606040" cy="274320"/>
          </a:xfrm>
          <a:prstGeom prst="rect">
            <a:avLst/>
          </a:prstGeom>
          <a:solidFill>
            <a:srgbClr val="C7C396"/>
          </a:solidFill>
        </p:spPr>
        <p:txBody>
          <a:bodyPr/>
          <a:p/>
        </p:txBody>
      </p:sp>
      <p:sp>
        <p:nvSpPr>
          <p:cNvPr id="24" name="Text 20"/>
          <p:cNvSpPr/>
          <p:nvPr/>
        </p:nvSpPr>
        <p:spPr>
          <a:xfrm>
            <a:off x="61722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Grish Narayanan S</a:t>
            </a:r>
            <a:endParaRPr lang="en-US" sz="1550" dirty="0"/>
          </a:p>
        </p:txBody>
      </p:sp>
      <p:sp>
        <p:nvSpPr>
          <p:cNvPr id="25" name="Shape 21"/>
          <p:cNvSpPr/>
          <p:nvPr/>
        </p:nvSpPr>
        <p:spPr>
          <a:xfrm>
            <a:off x="8138160" y="1737360"/>
            <a:ext cx="320040" cy="32004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26" name="Image 2" descr="./icons/flask_white.png"/>
          <p:cNvPicPr>
            <a:picLocks noChangeAspect="1"/>
          </p:cNvPicPr>
          <p:nvPr/>
        </p:nvPicPr>
        <p:blipFill>
          <a:blip r:embed="rId3"/>
          <a:stretch>
            <a:fillRect/>
          </a:stretch>
        </p:blipFill>
        <p:spPr>
          <a:xfrm>
            <a:off x="8221370" y="1820570"/>
            <a:ext cx="153619" cy="153619"/>
          </a:xfrm>
          <a:prstGeom prst="rect">
            <a:avLst/>
          </a:prstGeom>
        </p:spPr>
      </p:pic>
      <p:sp>
        <p:nvSpPr>
          <p:cNvPr id="27" name="Text 22"/>
          <p:cNvSpPr/>
          <p:nvPr/>
        </p:nvSpPr>
        <p:spPr>
          <a:xfrm>
            <a:off x="61722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Solution Architect &amp; Backend (Lead)</a:t>
            </a:r>
            <a:endParaRPr lang="en-US" sz="1300" dirty="0"/>
          </a:p>
        </p:txBody>
      </p:sp>
      <p:sp>
        <p:nvSpPr>
          <p:cNvPr id="28" name="Text 23"/>
          <p:cNvSpPr/>
          <p:nvPr/>
        </p:nvSpPr>
        <p:spPr>
          <a:xfrm>
            <a:off x="6172200" y="2880360"/>
            <a:ext cx="2331720" cy="2560320"/>
          </a:xfrm>
          <a:prstGeom prst="rect">
            <a:avLst/>
          </a:prstGeom>
          <a:noFill/>
        </p:spPr>
        <p:txBody>
          <a:bodyPr wrap="square" lIns="0" tIns="0" rIns="0" bIns="0" rtlCol="0" anchor="ctr"/>
          <a:lstStyle/>
          <a:p>
            <a:pPr marL="0" indent="0" algn="l">
              <a:lnSpc>
                <a:spcPct val="120000"/>
              </a:lnSpc>
              <a:buNone/>
            </a:pPr>
            <a:r>
              <a:t>• Architected Spring Boot 3.2 REST services and MongoDB 2dsphere GeoJSON schemas.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Structured Python FastAPI services and predictive ML models.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t>• Configured Google OR-Tools MILP solver, FastAPI XGBoost pipeline, and Groq AI LLM Gateway.</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Guided design paths and integrated central APIs.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29" name="Shape 24"/>
          <p:cNvSpPr/>
          <p:nvPr/>
        </p:nvSpPr>
        <p:spPr>
          <a:xfrm>
            <a:off x="8778240" y="1645920"/>
            <a:ext cx="2606040" cy="4023360"/>
          </a:xfrm>
          <a:prstGeom prst="roundRect">
            <a:avLst>
              <a:gd name="adj" fmla="val 2807"/>
            </a:avLst>
          </a:prstGeom>
          <a:solidFill>
            <a:srgbClr val="FFFFFF"/>
          </a:solidFill>
          <a:effectLst>
            <a:outerShdw blurRad="76200" dist="25400" dir="2700000" algn="bl" rotWithShape="0">
              <a:srgbClr val="000000">
                <a:alpha val="8000"/>
              </a:srgbClr>
            </a:outerShdw>
          </a:effectLst>
        </p:spPr>
        <p:txBody>
          <a:bodyPr/>
          <a:p/>
        </p:txBody>
      </p:sp>
      <p:sp>
        <p:nvSpPr>
          <p:cNvPr id="30" name="Shape 25"/>
          <p:cNvSpPr/>
          <p:nvPr/>
        </p:nvSpPr>
        <p:spPr>
          <a:xfrm>
            <a:off x="8778240" y="1645920"/>
            <a:ext cx="2606040" cy="502920"/>
          </a:xfrm>
          <a:prstGeom prst="roundRect">
            <a:avLst>
              <a:gd name="adj" fmla="val 14545"/>
            </a:avLst>
          </a:prstGeom>
          <a:solidFill>
            <a:srgbClr val="C7C396"/>
          </a:solidFill>
        </p:spPr>
        <p:txBody>
          <a:bodyPr/>
          <a:p/>
        </p:txBody>
      </p:sp>
      <p:sp>
        <p:nvSpPr>
          <p:cNvPr id="31" name="Shape 26"/>
          <p:cNvSpPr/>
          <p:nvPr/>
        </p:nvSpPr>
        <p:spPr>
          <a:xfrm>
            <a:off x="8778240" y="1874520"/>
            <a:ext cx="2606040" cy="274320"/>
          </a:xfrm>
          <a:prstGeom prst="rect">
            <a:avLst/>
          </a:prstGeom>
          <a:solidFill>
            <a:srgbClr val="C7C396"/>
          </a:solidFill>
        </p:spPr>
        <p:txBody>
          <a:bodyPr/>
          <a:p/>
        </p:txBody>
      </p:sp>
      <p:sp>
        <p:nvSpPr>
          <p:cNvPr id="32" name="Text 27"/>
          <p:cNvSpPr/>
          <p:nvPr/>
        </p:nvSpPr>
        <p:spPr>
          <a:xfrm>
            <a:off x="8915400" y="1645920"/>
            <a:ext cx="1965960" cy="502920"/>
          </a:xfrm>
          <a:prstGeom prst="rect">
            <a:avLst/>
          </a:prstGeom>
          <a:noFill/>
        </p:spPr>
        <p:txBody>
          <a:bodyPr wrap="square" lIns="0" tIns="0" rIns="0" bIns="0" rtlCol="0" anchor="ctr"/>
          <a:lstStyle/>
          <a:p>
            <a:pPr marL="0" indent="0" algn="l">
              <a:buNone/>
            </a:pPr>
            <a:r>
              <a:rPr lang="en-US" sz="15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Godfrey</a:t>
            </a:r>
            <a:endParaRPr lang="en-US" sz="1550" dirty="0"/>
          </a:p>
        </p:txBody>
      </p:sp>
      <p:sp>
        <p:nvSpPr>
          <p:cNvPr id="33" name="Shape 28"/>
          <p:cNvSpPr/>
          <p:nvPr/>
        </p:nvSpPr>
        <p:spPr>
          <a:xfrm>
            <a:off x="10881360" y="1737360"/>
            <a:ext cx="320040" cy="32004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34" name="Image 3" descr="./icons/brain_white.png"/>
          <p:cNvPicPr>
            <a:picLocks noChangeAspect="1"/>
          </p:cNvPicPr>
          <p:nvPr/>
        </p:nvPicPr>
        <p:blipFill>
          <a:blip r:embed="rId4"/>
          <a:stretch>
            <a:fillRect/>
          </a:stretch>
        </p:blipFill>
        <p:spPr>
          <a:xfrm>
            <a:off x="10964570" y="1820570"/>
            <a:ext cx="153619" cy="153619"/>
          </a:xfrm>
          <a:prstGeom prst="rect">
            <a:avLst/>
          </a:prstGeom>
        </p:spPr>
      </p:pic>
      <p:sp>
        <p:nvSpPr>
          <p:cNvPr id="35" name="Text 29"/>
          <p:cNvSpPr/>
          <p:nvPr/>
        </p:nvSpPr>
        <p:spPr>
          <a:xfrm>
            <a:off x="8915400" y="2286000"/>
            <a:ext cx="2331720" cy="457200"/>
          </a:xfrm>
          <a:prstGeom prst="rect">
            <a:avLst/>
          </a:prstGeom>
          <a:noFill/>
        </p:spPr>
        <p:txBody>
          <a:bodyPr wrap="square" lIns="0" tIns="0" rIns="0" bIns="0" rtlCol="0" anchor="ctr"/>
          <a:lstStyle/>
          <a:p>
            <a:pPr marL="0" indent="0">
              <a:buNone/>
            </a:pPr>
            <a:r>
              <a:rPr lang="en-US" sz="1300" b="1" dirty="0">
                <a:solidFill>
                  <a:srgbClr val="156D4F"/>
                </a:solidFill>
                <a:latin typeface="Georgia" panose="02040502050405020303" pitchFamily="34" charset="0"/>
                <a:ea typeface="Georgia" panose="02040502050405020303" pitchFamily="34" charset="-122"/>
                <a:cs typeface="Georgia" panose="02040502050405020303" pitchFamily="34" charset="-120"/>
              </a:rPr>
              <a:t>Integration Support</a:t>
            </a:r>
            <a:endParaRPr lang="en-US" sz="1300" dirty="0"/>
          </a:p>
        </p:txBody>
      </p:sp>
      <p:sp>
        <p:nvSpPr>
          <p:cNvPr id="36" name="Text 30"/>
          <p:cNvSpPr/>
          <p:nvPr/>
        </p:nvSpPr>
        <p:spPr>
          <a:xfrm>
            <a:off x="8915400" y="2880360"/>
            <a:ext cx="2331720" cy="2560320"/>
          </a:xfrm>
          <a:prstGeom prst="rect">
            <a:avLst/>
          </a:prstGeom>
          <a:noFill/>
        </p:spPr>
        <p:txBody>
          <a:bodyPr wrap="square" lIns="0" tIns="0" rIns="0" bIns="0" rtlCol="0" anchor="ctr"/>
          <a:lstStyle/>
          <a:p>
            <a:pPr marL="0" indent="0" algn="l">
              <a:lnSpc>
                <a:spcPct val="120000"/>
              </a:lnSpc>
              <a:buNone/>
            </a:pPr>
            <a:r>
              <a:t>• Built PowerShell multi-service system launcher (run-phase11-system.ps1) and PDF generator.</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t>• Configured MinIO S3 object storage and Tesseract OCR utility bill parsing.</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Drafted documentation, compiled reports, and built CI/CD lines.</a:t>
            </a:r>
            <a:endParaRPr lang="en-US" sz="1200" dirty="0">
              <a:latin typeface="Bahnschrift Light SemiCondensed" panose="020B0502040204020203" charset="0"/>
              <a:cs typeface="Bahnschrift Light SemiCondensed" panose="020B0502040204020203" charset="0"/>
            </a:endParaRPr>
          </a:p>
          <a:p>
            <a:pPr marL="0" indent="0" algn="l">
              <a:lnSpc>
                <a:spcPct val="120000"/>
              </a:lnSpc>
              <a:buNone/>
            </a:pPr>
            <a:r>
              <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rPr>
              <a:t>• Supported Git workflows, version control, and system deployments.</a:t>
            </a:r>
            <a:endParaRPr lang="en-US" sz="1200" dirty="0">
              <a:solidFill>
                <a:srgbClr val="364327"/>
              </a:solidFill>
              <a:latin typeface="Bahnschrift Light SemiCondensed" panose="020B0502040204020203" charset="0"/>
              <a:ea typeface="Segoe UI" panose="020B0502040204020203" pitchFamily="34" charset="-122"/>
              <a:cs typeface="Bahnschrift Light SemiCondensed" panose="020B0502040204020203" charset="0"/>
            </a:endParaRPr>
          </a:p>
        </p:txBody>
      </p:sp>
      <p:sp>
        <p:nvSpPr>
          <p:cNvPr id="37" name="Text 31"/>
          <p:cNvSpPr/>
          <p:nvPr/>
        </p:nvSpPr>
        <p:spPr>
          <a:xfrm>
            <a:off x="548640" y="5806440"/>
            <a:ext cx="10607040" cy="274320"/>
          </a:xfrm>
          <a:prstGeom prst="rect">
            <a:avLst/>
          </a:prstGeom>
          <a:noFill/>
        </p:spPr>
        <p:txBody>
          <a:bodyPr wrap="square" lIns="0" tIns="0" rIns="0" bIns="0" rtlCol="0" anchor="ctr"/>
          <a:lstStyle/>
          <a:p>
            <a:pPr marL="0" indent="0">
              <a:buNone/>
            </a:pPr>
            <a:r>
              <a:rPr lang="en-US" sz="1050" i="1" dirty="0">
                <a:solidFill>
                  <a:srgbClr val="364327"/>
                </a:solidFill>
                <a:latin typeface="Segoe UI" panose="020B0502040204020203" pitchFamily="34" charset="0"/>
                <a:ea typeface="Segoe UI" panose="020B0502040204020203" pitchFamily="34" charset="-122"/>
                <a:cs typeface="Segoe UI" panose="020B0502040204020203" pitchFamily="34" charset="-120"/>
              </a:rPr>
              <a:t>The defined task assignment ensures complete individual contributions covering UI development, testing, core backend services, and integration.</a:t>
            </a:r>
            <a:endParaRPr lang="en-US" sz="1050" dirty="0"/>
          </a:p>
        </p:txBody>
      </p:sp>
      <p:sp>
        <p:nvSpPr>
          <p:cNvPr id="38" name="Shape 32"/>
          <p:cNvSpPr/>
          <p:nvPr/>
        </p:nvSpPr>
        <p:spPr>
          <a:xfrm>
            <a:off x="530352" y="6364224"/>
            <a:ext cx="237744" cy="237744"/>
          </a:xfrm>
          <a:prstGeom prst="ellipse">
            <a:avLst/>
          </a:prstGeom>
          <a:solidFill>
            <a:srgbClr val="156D4F"/>
          </a:solidFill>
        </p:spPr>
        <p:txBody>
          <a:bodyPr/>
          <a:p/>
        </p:txBody>
      </p:sp>
      <p:pic>
        <p:nvPicPr>
          <p:cNvPr id="39" name="Image 4" descr="./icons/arrow_left_white.png">
            <a:hlinkClick r:id="rId5" action="ppaction://hlinksldjump"/>
          </p:cNvPr>
          <p:cNvPicPr>
            <a:picLocks noChangeAspect="1"/>
          </p:cNvPicPr>
          <p:nvPr/>
        </p:nvPicPr>
        <p:blipFill>
          <a:blip r:embed="rId6"/>
          <a:stretch>
            <a:fillRect/>
          </a:stretch>
        </p:blipFill>
        <p:spPr>
          <a:xfrm>
            <a:off x="548640" y="6382512"/>
            <a:ext cx="201168" cy="201168"/>
          </a:xfrm>
          <a:prstGeom prst="rect">
            <a:avLst/>
          </a:prstGeom>
        </p:spPr>
      </p:pic>
      <p:sp>
        <p:nvSpPr>
          <p:cNvPr id="40" name="Shape 33">
            <a:hlinkClick r:id="rId5" action="ppaction://hlinksldjump"/>
          </p:cNvPr>
          <p:cNvSpPr/>
          <p:nvPr/>
        </p:nvSpPr>
        <p:spPr>
          <a:xfrm>
            <a:off x="530352" y="6355080"/>
            <a:ext cx="2377440" cy="365760"/>
          </a:xfrm>
          <a:prstGeom prst="rect">
            <a:avLst/>
          </a:prstGeom>
          <a:solidFill>
            <a:srgbClr val="364327">
              <a:alpha val="0"/>
            </a:srgbClr>
          </a:solidFill>
        </p:spPr>
        <p:txBody>
          <a:bodyPr/>
          <a:p/>
        </p:txBody>
      </p:sp>
      <p:sp>
        <p:nvSpPr>
          <p:cNvPr id="41" name="Text 34">
            <a:hlinkClick r:id="rId5"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5" action="ppaction://hlinksldjump"/>
              </a:rPr>
              <a:t>BACK TO REVIEW BOARD</a:t>
            </a:r>
            <a:endParaRPr lang="en-US" sz="1100" dirty="0"/>
          </a:p>
        </p:txBody>
      </p:sp>
      <p:sp>
        <p:nvSpPr>
          <p:cNvPr id="42" name="Text 35"/>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Team Structure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07 · IMPLEMENTATION PLAN</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t>Full System Execution Roadmap — ALL PHASES COMPLETED ✅</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t>The system development roadmap maps 7 complete phases from ideation to production verification.</a:t>
            </a:r>
            <a:endParaRPr lang="en-US" sz="1250" dirty="0"/>
          </a:p>
        </p:txBody>
      </p:sp>
      <p:sp>
        <p:nvSpPr>
          <p:cNvPr id="5" name="Shape 3"/>
          <p:cNvSpPr/>
          <p:nvPr/>
        </p:nvSpPr>
        <p:spPr>
          <a:xfrm>
            <a:off x="548640" y="178308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txBody>
          <a:bodyPr/>
          <a:p/>
        </p:txBody>
      </p:sp>
      <p:sp>
        <p:nvSpPr>
          <p:cNvPr id="6" name="Shape 4"/>
          <p:cNvSpPr/>
          <p:nvPr/>
        </p:nvSpPr>
        <p:spPr>
          <a:xfrm>
            <a:off x="713232" y="1947672"/>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7" name="Image 0" descr="./icons/flask_white.png"/>
          <p:cNvPicPr>
            <a:picLocks noChangeAspect="1"/>
          </p:cNvPicPr>
          <p:nvPr/>
        </p:nvPicPr>
        <p:blipFill>
          <a:blip r:embed="rId1"/>
          <a:stretch>
            <a:fillRect/>
          </a:stretch>
        </p:blipFill>
        <p:spPr>
          <a:xfrm>
            <a:off x="843991" y="2078431"/>
            <a:ext cx="241402" cy="241402"/>
          </a:xfrm>
          <a:prstGeom prst="rect">
            <a:avLst/>
          </a:prstGeom>
        </p:spPr>
      </p:pic>
      <p:sp>
        <p:nvSpPr>
          <p:cNvPr id="8" name="Text 5"/>
          <p:cNvSpPr/>
          <p:nvPr/>
        </p:nvSpPr>
        <p:spPr>
          <a:xfrm>
            <a:off x="1325880" y="1920240"/>
            <a:ext cx="4297680" cy="502920"/>
          </a:xfrm>
          <a:prstGeom prst="rect">
            <a:avLst/>
          </a:prstGeom>
          <a:noFill/>
        </p:spPr>
        <p:txBody>
          <a:bodyPr wrap="square" lIns="0" tIns="0" rIns="0" bIns="0" rtlCol="0" anchor="t"/>
          <a:lstStyle/>
          <a:p>
            <a:pPr marL="0" indent="0">
              <a:buNone/>
            </a:pPr>
            <a:r>
              <a:t>Phase 1 &amp; 2: Client Spatial UI &amp; Spring Boot Backend — COMPLETED ✅</a:t>
            </a:r>
            <a:endParaRPr lang="en-US" sz="1600" dirty="0"/>
          </a:p>
        </p:txBody>
      </p:sp>
      <p:sp>
        <p:nvSpPr>
          <p:cNvPr id="9" name="Text 6"/>
          <p:cNvSpPr/>
          <p:nvPr/>
        </p:nvSpPr>
        <p:spPr>
          <a:xfrm>
            <a:off x="731520" y="2514600"/>
            <a:ext cx="4846320" cy="1143000"/>
          </a:xfrm>
          <a:prstGeom prst="rect">
            <a:avLst/>
          </a:prstGeom>
          <a:noFill/>
        </p:spPr>
        <p:txBody>
          <a:bodyPr wrap="square" lIns="0" tIns="0" rIns="0" bIns="0" rtlCol="0" anchor="ctr"/>
          <a:lstStyle/>
          <a:p>
            <a:pPr marL="0" indent="0" algn="just">
              <a:lnSpc>
                <a:spcPct val="118000"/>
              </a:lnSpc>
              <a:buNone/>
            </a:pPr>
            <a:r>
              <a:t>React 18 Spatial Canvas shell, Emerald Oasis theme, Spring Boot 3.2 REST services, JWT auth, and MongoDB schemas.</a:t>
            </a:r>
            <a:endParaRPr lang="en-US" sz="1350" dirty="0"/>
          </a:p>
        </p:txBody>
      </p:sp>
      <p:sp>
        <p:nvSpPr>
          <p:cNvPr id="10" name="Shape 7"/>
          <p:cNvSpPr/>
          <p:nvPr/>
        </p:nvSpPr>
        <p:spPr>
          <a:xfrm>
            <a:off x="5943600" y="178308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txBody>
          <a:bodyPr/>
          <a:p/>
        </p:txBody>
      </p:sp>
      <p:sp>
        <p:nvSpPr>
          <p:cNvPr id="11" name="Shape 8"/>
          <p:cNvSpPr/>
          <p:nvPr/>
        </p:nvSpPr>
        <p:spPr>
          <a:xfrm>
            <a:off x="6108192" y="1947672"/>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12" name="Image 1" descr="./icons/terminal_dark.png"/>
          <p:cNvPicPr>
            <a:picLocks noChangeAspect="1"/>
          </p:cNvPicPr>
          <p:nvPr/>
        </p:nvPicPr>
        <p:blipFill>
          <a:blip r:embed="rId2"/>
          <a:stretch>
            <a:fillRect/>
          </a:stretch>
        </p:blipFill>
        <p:spPr>
          <a:xfrm>
            <a:off x="6238951" y="2078431"/>
            <a:ext cx="241402" cy="241402"/>
          </a:xfrm>
          <a:prstGeom prst="rect">
            <a:avLst/>
          </a:prstGeom>
        </p:spPr>
      </p:pic>
      <p:sp>
        <p:nvSpPr>
          <p:cNvPr id="13" name="Text 9"/>
          <p:cNvSpPr/>
          <p:nvPr/>
        </p:nvSpPr>
        <p:spPr>
          <a:xfrm>
            <a:off x="6720840" y="1920240"/>
            <a:ext cx="4297680" cy="502920"/>
          </a:xfrm>
          <a:prstGeom prst="rect">
            <a:avLst/>
          </a:prstGeom>
          <a:noFill/>
        </p:spPr>
        <p:txBody>
          <a:bodyPr wrap="square" lIns="0" tIns="0" rIns="0" bIns="0" rtlCol="0" anchor="t"/>
          <a:lstStyle/>
          <a:p>
            <a:pPr marL="0" indent="0">
              <a:buNone/>
            </a:pPr>
            <a:r>
              <a:t>Phase 3 &amp; 4: ML Forecasting, MILP Solver &amp; GIS Tier — COMPLETED ✅</a:t>
            </a:r>
            <a:endParaRPr lang="en-US" sz="1600" dirty="0"/>
          </a:p>
        </p:txBody>
      </p:sp>
      <p:sp>
        <p:nvSpPr>
          <p:cNvPr id="14" name="Text 10"/>
          <p:cNvSpPr/>
          <p:nvPr/>
        </p:nvSpPr>
        <p:spPr>
          <a:xfrm>
            <a:off x="6126480" y="2514600"/>
            <a:ext cx="4846320" cy="1143000"/>
          </a:xfrm>
          <a:prstGeom prst="rect">
            <a:avLst/>
          </a:prstGeom>
          <a:noFill/>
        </p:spPr>
        <p:txBody>
          <a:bodyPr wrap="square" lIns="0" tIns="0" rIns="0" bIns="0" rtlCol="0" anchor="ctr"/>
          <a:lstStyle/>
          <a:p>
            <a:pPr marL="0" indent="0" algn="just">
              <a:lnSpc>
                <a:spcPct val="118000"/>
              </a:lnSpc>
              <a:buNone/>
            </a:pPr>
            <a:r>
              <a:t>FastAPI XGBoost 30-day forecaster, IsolationForest anomaly engine, Google OR-Tools MILP solver, MongoDB 2dsphere geofencing, MinIO S3 OCR.</a:t>
            </a:r>
            <a:endParaRPr lang="en-US" sz="1350" dirty="0"/>
          </a:p>
        </p:txBody>
      </p:sp>
      <p:sp>
        <p:nvSpPr>
          <p:cNvPr id="15" name="Shape 11"/>
          <p:cNvSpPr/>
          <p:nvPr/>
        </p:nvSpPr>
        <p:spPr>
          <a:xfrm>
            <a:off x="548640" y="393192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txBody>
          <a:bodyPr/>
          <a:p/>
        </p:txBody>
      </p:sp>
      <p:sp>
        <p:nvSpPr>
          <p:cNvPr id="16" name="Shape 12"/>
          <p:cNvSpPr/>
          <p:nvPr/>
        </p:nvSpPr>
        <p:spPr>
          <a:xfrm>
            <a:off x="713232" y="4096512"/>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17" name="Image 2" descr="./icons/puzzle_dark.png"/>
          <p:cNvPicPr>
            <a:picLocks noChangeAspect="1"/>
          </p:cNvPicPr>
          <p:nvPr/>
        </p:nvPicPr>
        <p:blipFill>
          <a:blip r:embed="rId3"/>
          <a:stretch>
            <a:fillRect/>
          </a:stretch>
        </p:blipFill>
        <p:spPr>
          <a:xfrm>
            <a:off x="843991" y="4227271"/>
            <a:ext cx="241402" cy="241402"/>
          </a:xfrm>
          <a:prstGeom prst="rect">
            <a:avLst/>
          </a:prstGeom>
        </p:spPr>
      </p:pic>
      <p:sp>
        <p:nvSpPr>
          <p:cNvPr id="18" name="Text 13"/>
          <p:cNvSpPr/>
          <p:nvPr/>
        </p:nvSpPr>
        <p:spPr>
          <a:xfrm>
            <a:off x="1325880" y="4069080"/>
            <a:ext cx="4297680" cy="502920"/>
          </a:xfrm>
          <a:prstGeom prst="rect">
            <a:avLst/>
          </a:prstGeom>
          <a:noFill/>
        </p:spPr>
        <p:txBody>
          <a:bodyPr wrap="square" lIns="0" tIns="0" rIns="0" bIns="0" rtlCol="0" anchor="t"/>
          <a:lstStyle/>
          <a:p>
            <a:pPr marL="0" indent="0">
              <a:buNone/>
            </a:pPr>
            <a:r>
              <a:t>Phase 5 &amp; 6: Groq LLM Gateway, SSE Stream &amp; Telemetry — COMPLETED ✅</a:t>
            </a:r>
            <a:endParaRPr lang="en-US" sz="1600" dirty="0"/>
          </a:p>
        </p:txBody>
      </p:sp>
      <p:sp>
        <p:nvSpPr>
          <p:cNvPr id="19" name="Text 14"/>
          <p:cNvSpPr/>
          <p:nvPr/>
        </p:nvSpPr>
        <p:spPr>
          <a:xfrm>
            <a:off x="731520" y="4663440"/>
            <a:ext cx="4846320" cy="1143000"/>
          </a:xfrm>
          <a:prstGeom prst="rect">
            <a:avLst/>
          </a:prstGeom>
          <a:noFill/>
        </p:spPr>
        <p:txBody>
          <a:bodyPr wrap="square" lIns="0" tIns="0" rIns="0" bIns="0" rtlCol="0" anchor="ctr"/>
          <a:lstStyle/>
          <a:p>
            <a:pPr marL="0" indent="0" algn="just">
              <a:lnSpc>
                <a:spcPct val="118000"/>
              </a:lnSpc>
              <a:buNone/>
            </a:pPr>
            <a:r>
              <a:t>Groq AI Gateway (Llama-3.3-70b) with local grounded fallback engine, SSE real-time notifications, system health telemetry.</a:t>
            </a:r>
            <a:endParaRPr lang="en-US" sz="1350" dirty="0"/>
          </a:p>
        </p:txBody>
      </p:sp>
      <p:sp>
        <p:nvSpPr>
          <p:cNvPr id="20" name="Shape 15"/>
          <p:cNvSpPr/>
          <p:nvPr/>
        </p:nvSpPr>
        <p:spPr>
          <a:xfrm>
            <a:off x="5943600" y="3931920"/>
            <a:ext cx="5212080" cy="2011680"/>
          </a:xfrm>
          <a:prstGeom prst="roundRect">
            <a:avLst>
              <a:gd name="adj" fmla="val 4091"/>
            </a:avLst>
          </a:prstGeom>
          <a:solidFill>
            <a:srgbClr val="FFFFFF"/>
          </a:solidFill>
          <a:effectLst>
            <a:outerShdw blurRad="76200" dist="25400" dir="2700000" algn="bl" rotWithShape="0">
              <a:srgbClr val="000000">
                <a:alpha val="8000"/>
              </a:srgbClr>
            </a:outerShdw>
          </a:effectLst>
        </p:spPr>
        <p:txBody>
          <a:bodyPr/>
          <a:p/>
        </p:txBody>
      </p:sp>
      <p:sp>
        <p:nvSpPr>
          <p:cNvPr id="21" name="Shape 16"/>
          <p:cNvSpPr/>
          <p:nvPr/>
        </p:nvSpPr>
        <p:spPr>
          <a:xfrm>
            <a:off x="6108192" y="4096512"/>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22" name="Image 3" descr="./icons/check_dark.png"/>
          <p:cNvPicPr>
            <a:picLocks noChangeAspect="1"/>
          </p:cNvPicPr>
          <p:nvPr/>
        </p:nvPicPr>
        <p:blipFill>
          <a:blip r:embed="rId4"/>
          <a:stretch>
            <a:fillRect/>
          </a:stretch>
        </p:blipFill>
        <p:spPr>
          <a:xfrm>
            <a:off x="6238951" y="4227271"/>
            <a:ext cx="241402" cy="241402"/>
          </a:xfrm>
          <a:prstGeom prst="rect">
            <a:avLst/>
          </a:prstGeom>
        </p:spPr>
      </p:pic>
      <p:sp>
        <p:nvSpPr>
          <p:cNvPr id="23" name="Text 17"/>
          <p:cNvSpPr/>
          <p:nvPr/>
        </p:nvSpPr>
        <p:spPr>
          <a:xfrm>
            <a:off x="6720840" y="4069080"/>
            <a:ext cx="4297680" cy="502920"/>
          </a:xfrm>
          <a:prstGeom prst="rect">
            <a:avLst/>
          </a:prstGeom>
          <a:noFill/>
        </p:spPr>
        <p:txBody>
          <a:bodyPr wrap="square" lIns="0" tIns="0" rIns="0" bIns="0" rtlCol="0" anchor="t"/>
          <a:lstStyle/>
          <a:p>
            <a:pPr marL="0" indent="0">
              <a:buNone/>
            </a:pPr>
            <a:r>
              <a:t>Phase 7: Automated Verification &amp; Production Release — COMPLETED ✅</a:t>
            </a:r>
            <a:endParaRPr lang="en-US" sz="1600" dirty="0"/>
          </a:p>
        </p:txBody>
      </p:sp>
      <p:sp>
        <p:nvSpPr>
          <p:cNvPr id="24" name="Text 18"/>
          <p:cNvSpPr/>
          <p:nvPr/>
        </p:nvSpPr>
        <p:spPr>
          <a:xfrm>
            <a:off x="6126480" y="4663440"/>
            <a:ext cx="4846320" cy="1143000"/>
          </a:xfrm>
          <a:prstGeom prst="rect">
            <a:avLst/>
          </a:prstGeom>
          <a:noFill/>
        </p:spPr>
        <p:txBody>
          <a:bodyPr wrap="square" lIns="0" tIns="0" rIns="0" bIns="0" rtlCol="0" anchor="ctr"/>
          <a:lstStyle/>
          <a:p>
            <a:pPr marL="0" indent="0" algn="just">
              <a:lnSpc>
                <a:spcPct val="118000"/>
              </a:lnSpc>
              <a:buNone/>
            </a:pPr>
            <a:r>
              <a:t>JUnit 5 + Pytest + 36-endpoint integration test suite, PowerShell system launcher script (run-phase11-system.ps1).</a:t>
            </a:r>
            <a:endParaRPr lang="en-US" sz="1350" dirty="0"/>
          </a:p>
        </p:txBody>
      </p:sp>
      <p:sp>
        <p:nvSpPr>
          <p:cNvPr id="25" name="Shape 19"/>
          <p:cNvSpPr/>
          <p:nvPr/>
        </p:nvSpPr>
        <p:spPr>
          <a:xfrm>
            <a:off x="530225" y="5981065"/>
            <a:ext cx="10607040" cy="361315"/>
          </a:xfrm>
          <a:prstGeom prst="roundRect">
            <a:avLst>
              <a:gd name="adj" fmla="val 15385"/>
            </a:avLst>
          </a:prstGeom>
          <a:solidFill>
            <a:srgbClr val="FFFFFF"/>
          </a:solidFill>
          <a:ln w="12700">
            <a:solidFill>
              <a:srgbClr val="156D4F"/>
            </a:solidFill>
            <a:prstDash val="solid"/>
          </a:ln>
        </p:spPr>
        <p:txBody>
          <a:bodyPr/>
          <a:p/>
        </p:txBody>
      </p:sp>
      <p:pic>
        <p:nvPicPr>
          <p:cNvPr id="26" name="Image 4" descr="./icons/star_dark.png"/>
          <p:cNvPicPr>
            <a:picLocks noChangeAspect="1"/>
          </p:cNvPicPr>
          <p:nvPr/>
        </p:nvPicPr>
        <p:blipFill>
          <a:blip r:embed="rId5"/>
          <a:stretch>
            <a:fillRect/>
          </a:stretch>
        </p:blipFill>
        <p:spPr>
          <a:xfrm>
            <a:off x="749935" y="5975477"/>
            <a:ext cx="347472" cy="347472"/>
          </a:xfrm>
          <a:prstGeom prst="rect">
            <a:avLst/>
          </a:prstGeom>
        </p:spPr>
      </p:pic>
      <p:sp>
        <p:nvSpPr>
          <p:cNvPr id="27" name="Text 20"/>
          <p:cNvSpPr/>
          <p:nvPr/>
        </p:nvSpPr>
        <p:spPr>
          <a:xfrm>
            <a:off x="1188720" y="5843905"/>
            <a:ext cx="9784080" cy="594360"/>
          </a:xfrm>
          <a:prstGeom prst="rect">
            <a:avLst/>
          </a:prstGeom>
          <a:noFill/>
        </p:spPr>
        <p:txBody>
          <a:bodyPr wrap="square" lIns="0" tIns="0" rIns="0" bIns="0" rtlCol="0" anchor="ctr"/>
          <a:lstStyle/>
          <a:p>
            <a:pPr marL="0" indent="0">
              <a:buNone/>
            </a:pPr>
            <a:r>
              <a:rPr lang="en-US" sz="1100" i="1" dirty="0">
                <a:solidFill>
                  <a:srgbClr val="156D4F"/>
                </a:solidFill>
                <a:latin typeface="Segoe UI" panose="020B0502040204020203" pitchFamily="34" charset="0"/>
                <a:ea typeface="Segoe UI" panose="020B0502040204020203" pitchFamily="34" charset="-122"/>
                <a:cs typeface="Segoe UI" panose="020B0502040204020203" pitchFamily="34" charset="-120"/>
              </a:rPr>
              <a:t>Expected Outcomes: An operational dashboard and backend brokering sustainability logs, forecasts, and AI recommendations.</a:t>
            </a:r>
            <a:endParaRPr lang="en-US" sz="1100" dirty="0"/>
          </a:p>
        </p:txBody>
      </p:sp>
      <p:sp>
        <p:nvSpPr>
          <p:cNvPr id="28" name="Shape 21"/>
          <p:cNvSpPr/>
          <p:nvPr/>
        </p:nvSpPr>
        <p:spPr>
          <a:xfrm>
            <a:off x="530352" y="6364224"/>
            <a:ext cx="237744" cy="237744"/>
          </a:xfrm>
          <a:prstGeom prst="ellipse">
            <a:avLst/>
          </a:prstGeom>
          <a:solidFill>
            <a:srgbClr val="156D4F"/>
          </a:solidFill>
        </p:spPr>
        <p:txBody>
          <a:bodyPr/>
          <a:p/>
        </p:txBody>
      </p:sp>
      <p:pic>
        <p:nvPicPr>
          <p:cNvPr id="29" name="Image 5" descr="./icons/arrow_left_white.png">
            <a:hlinkClick r:id="rId6" action="ppaction://hlinksldjump"/>
          </p:cNvPr>
          <p:cNvPicPr>
            <a:picLocks noChangeAspect="1"/>
          </p:cNvPicPr>
          <p:nvPr/>
        </p:nvPicPr>
        <p:blipFill>
          <a:blip r:embed="rId7"/>
          <a:stretch>
            <a:fillRect/>
          </a:stretch>
        </p:blipFill>
        <p:spPr>
          <a:xfrm>
            <a:off x="548640" y="6382512"/>
            <a:ext cx="201168" cy="201168"/>
          </a:xfrm>
          <a:prstGeom prst="rect">
            <a:avLst/>
          </a:prstGeom>
        </p:spPr>
      </p:pic>
      <p:sp>
        <p:nvSpPr>
          <p:cNvPr id="30" name="Shape 22">
            <a:hlinkClick r:id="rId6" action="ppaction://hlinksldjump"/>
          </p:cNvPr>
          <p:cNvSpPr/>
          <p:nvPr/>
        </p:nvSpPr>
        <p:spPr>
          <a:xfrm>
            <a:off x="530352" y="6355080"/>
            <a:ext cx="2377440" cy="365760"/>
          </a:xfrm>
          <a:prstGeom prst="rect">
            <a:avLst/>
          </a:prstGeom>
          <a:solidFill>
            <a:srgbClr val="364327">
              <a:alpha val="0"/>
            </a:srgbClr>
          </a:solidFill>
        </p:spPr>
        <p:txBody>
          <a:bodyPr/>
          <a:p/>
        </p:txBody>
      </p:sp>
      <p:sp>
        <p:nvSpPr>
          <p:cNvPr id="31" name="Text 23">
            <a:hlinkClick r:id="rId6"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6" action="ppaction://hlinksldjump"/>
              </a:rPr>
              <a:t>BACK TO REVIEW BOARD</a:t>
            </a:r>
            <a:endParaRPr lang="en-US" sz="1100" dirty="0"/>
          </a:p>
        </p:txBody>
      </p:sp>
      <p:sp>
        <p:nvSpPr>
          <p:cNvPr id="32" name="Text 24"/>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Implementation Plan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7C396"/>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p:spPr>
        <p:txBody>
          <a:bodyPr wrap="square" lIns="0" tIns="0" rIns="0" bIns="0" rtlCol="0" anchor="ctr"/>
          <a:lstStyle/>
          <a:p>
            <a:pPr marL="0" indent="0">
              <a:buNone/>
            </a:pPr>
            <a:r>
              <a:rPr lang="en-US" sz="1200" b="1" kern="0" spc="200" dirty="0">
                <a:solidFill>
                  <a:srgbClr val="156D4F"/>
                </a:solidFill>
                <a:latin typeface="Segoe UI" panose="020B0502040204020203" pitchFamily="34" charset="0"/>
                <a:ea typeface="Segoe UI" panose="020B0502040204020203" pitchFamily="34" charset="-122"/>
                <a:cs typeface="Segoe UI" panose="020B0502040204020203" pitchFamily="34" charset="-120"/>
              </a:rPr>
              <a:t>SECTION 08 · R&amp;D HIGHLIGHTS</a:t>
            </a:r>
            <a:endParaRPr lang="en-US" sz="1200" dirty="0"/>
          </a:p>
        </p:txBody>
      </p:sp>
      <p:sp>
        <p:nvSpPr>
          <p:cNvPr id="3" name="Text 1"/>
          <p:cNvSpPr/>
          <p:nvPr/>
        </p:nvSpPr>
        <p:spPr>
          <a:xfrm>
            <a:off x="548640" y="640080"/>
            <a:ext cx="9601200" cy="640080"/>
          </a:xfrm>
          <a:prstGeom prst="rect">
            <a:avLst/>
          </a:prstGeom>
          <a:noFill/>
        </p:spPr>
        <p:txBody>
          <a:bodyPr wrap="square" lIns="0" tIns="0" rIns="0" bIns="0" rtlCol="0" anchor="ctr"/>
          <a:lstStyle/>
          <a:p>
            <a:pPr marL="0" indent="0">
              <a:buNone/>
            </a:pPr>
            <a:r>
              <a:rPr lang="en-US" sz="2800" b="1" dirty="0">
                <a:solidFill>
                  <a:srgbClr val="156D4F"/>
                </a:solidFill>
                <a:latin typeface="Georgia" panose="02040502050405020303" pitchFamily="34" charset="0"/>
                <a:ea typeface="Georgia" panose="02040502050405020303" pitchFamily="34" charset="-122"/>
                <a:cs typeface="Georgia" panose="02040502050405020303" pitchFamily="34" charset="-120"/>
              </a:rPr>
              <a:t>Novelty &amp; Expected Outcomes</a:t>
            </a:r>
            <a:endParaRPr lang="en-US" sz="2800" dirty="0"/>
          </a:p>
        </p:txBody>
      </p:sp>
      <p:sp>
        <p:nvSpPr>
          <p:cNvPr id="4" name="Text 2"/>
          <p:cNvSpPr/>
          <p:nvPr/>
        </p:nvSpPr>
        <p:spPr>
          <a:xfrm>
            <a:off x="548640" y="1371600"/>
            <a:ext cx="10607040" cy="320040"/>
          </a:xfrm>
          <a:prstGeom prst="rect">
            <a:avLst/>
          </a:prstGeom>
          <a:noFill/>
        </p:spPr>
        <p:txBody>
          <a:bodyPr wrap="square" lIns="0" tIns="0" rIns="0" bIns="0" rtlCol="0" anchor="ctr"/>
          <a:lstStyle/>
          <a:p>
            <a:pPr marL="0" indent="0" algn="just">
              <a:buNone/>
            </a:pPr>
            <a:r>
              <a:rPr lang="en-US" sz="1250" dirty="0">
                <a:solidFill>
                  <a:srgbClr val="156D4F"/>
                </a:solidFill>
                <a:latin typeface="Segoe UI" panose="020B0502040204020203" pitchFamily="34" charset="0"/>
                <a:ea typeface="Segoe UI" panose="020B0502040204020203" pitchFamily="34" charset="-122"/>
                <a:cs typeface="Segoe UI" panose="020B0502040204020203" pitchFamily="34" charset="-120"/>
              </a:rPr>
              <a:t>Positioning EcoSphere as an intelligent environmental decision support framework rather than a basic carbon log.</a:t>
            </a:r>
            <a:endParaRPr lang="en-US" sz="1250" dirty="0"/>
          </a:p>
        </p:txBody>
      </p:sp>
      <p:sp>
        <p:nvSpPr>
          <p:cNvPr id="5" name="Shape 3"/>
          <p:cNvSpPr/>
          <p:nvPr/>
        </p:nvSpPr>
        <p:spPr>
          <a:xfrm>
            <a:off x="548640" y="1737360"/>
            <a:ext cx="5212080" cy="4297680"/>
          </a:xfrm>
          <a:prstGeom prst="roundRect">
            <a:avLst>
              <a:gd name="adj" fmla="val 2128"/>
            </a:avLst>
          </a:prstGeom>
          <a:solidFill>
            <a:srgbClr val="FFFFFF"/>
          </a:solidFill>
          <a:effectLst>
            <a:outerShdw blurRad="76200" dist="25400" dir="2700000" algn="bl" rotWithShape="0">
              <a:srgbClr val="000000">
                <a:alpha val="8000"/>
              </a:srgbClr>
            </a:outerShdw>
          </a:effectLst>
        </p:spPr>
        <p:txBody>
          <a:bodyPr/>
          <a:p/>
        </p:txBody>
      </p:sp>
      <p:sp>
        <p:nvSpPr>
          <p:cNvPr id="6" name="Shape 4"/>
          <p:cNvSpPr/>
          <p:nvPr/>
        </p:nvSpPr>
        <p:spPr>
          <a:xfrm>
            <a:off x="777240" y="1938528"/>
            <a:ext cx="502920" cy="502920"/>
          </a:xfrm>
          <a:prstGeom prst="ellipse">
            <a:avLst/>
          </a:prstGeom>
          <a:solidFill>
            <a:srgbClr val="C7C396"/>
          </a:solidFill>
          <a:effectLst>
            <a:outerShdw blurRad="76200" dist="25400" dir="2700000" algn="bl" rotWithShape="0">
              <a:srgbClr val="000000">
                <a:alpha val="8000"/>
              </a:srgbClr>
            </a:outerShdw>
          </a:effectLst>
        </p:spPr>
        <p:txBody>
          <a:bodyPr/>
          <a:p/>
        </p:txBody>
      </p:sp>
      <p:pic>
        <p:nvPicPr>
          <p:cNvPr id="7" name="Image 0" descr="./icons/brain_dark.png"/>
          <p:cNvPicPr>
            <a:picLocks noChangeAspect="1"/>
          </p:cNvPicPr>
          <p:nvPr/>
        </p:nvPicPr>
        <p:blipFill>
          <a:blip r:embed="rId1"/>
          <a:stretch>
            <a:fillRect/>
          </a:stretch>
        </p:blipFill>
        <p:spPr>
          <a:xfrm>
            <a:off x="907999" y="2069287"/>
            <a:ext cx="241402" cy="241402"/>
          </a:xfrm>
          <a:prstGeom prst="rect">
            <a:avLst/>
          </a:prstGeom>
        </p:spPr>
      </p:pic>
      <p:sp>
        <p:nvSpPr>
          <p:cNvPr id="8" name="Text 5"/>
          <p:cNvSpPr/>
          <p:nvPr/>
        </p:nvSpPr>
        <p:spPr>
          <a:xfrm>
            <a:off x="1371600" y="1901952"/>
            <a:ext cx="4206240" cy="54864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R&amp;D Novelty &amp; Scientific Value</a:t>
            </a:r>
            <a:endParaRPr lang="en-US" sz="1750" dirty="0"/>
          </a:p>
        </p:txBody>
      </p:sp>
      <p:pic>
        <p:nvPicPr>
          <p:cNvPr id="9" name="Image 1" descr="./icons/check_dark.png"/>
          <p:cNvPicPr>
            <a:picLocks noChangeAspect="1"/>
          </p:cNvPicPr>
          <p:nvPr/>
        </p:nvPicPr>
        <p:blipFill>
          <a:blip r:embed="rId2"/>
          <a:stretch>
            <a:fillRect/>
          </a:stretch>
        </p:blipFill>
        <p:spPr>
          <a:xfrm>
            <a:off x="777240" y="2642616"/>
            <a:ext cx="164592" cy="164592"/>
          </a:xfrm>
          <a:prstGeom prst="rect">
            <a:avLst/>
          </a:prstGeom>
        </p:spPr>
      </p:pic>
      <p:sp>
        <p:nvSpPr>
          <p:cNvPr id="10" name="Text 6"/>
          <p:cNvSpPr/>
          <p:nvPr/>
        </p:nvSpPr>
        <p:spPr>
          <a:xfrm>
            <a:off x="1051560" y="260604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Predictive Optimization: Balances resource tradeoffs using Google OR-Tools constraint solvers.</a:t>
            </a:r>
            <a:endParaRPr lang="en-US" sz="1250" dirty="0"/>
          </a:p>
        </p:txBody>
      </p:sp>
      <p:pic>
        <p:nvPicPr>
          <p:cNvPr id="11" name="Image 2" descr="./icons/check_dark.png"/>
          <p:cNvPicPr>
            <a:picLocks noChangeAspect="1"/>
          </p:cNvPicPr>
          <p:nvPr/>
        </p:nvPicPr>
        <p:blipFill>
          <a:blip r:embed="rId2"/>
          <a:stretch>
            <a:fillRect/>
          </a:stretch>
        </p:blipFill>
        <p:spPr>
          <a:xfrm>
            <a:off x="777240" y="3282696"/>
            <a:ext cx="164592" cy="164592"/>
          </a:xfrm>
          <a:prstGeom prst="rect">
            <a:avLst/>
          </a:prstGeom>
        </p:spPr>
      </p:pic>
      <p:sp>
        <p:nvSpPr>
          <p:cNvPr id="12" name="Text 7"/>
          <p:cNvSpPr/>
          <p:nvPr/>
        </p:nvSpPr>
        <p:spPr>
          <a:xfrm>
            <a:off x="1051560" y="324612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Adaptive Interventions: Learns from user reaction metrics to refine recommendation loops.</a:t>
            </a:r>
            <a:endParaRPr lang="en-US" sz="1250" dirty="0"/>
          </a:p>
        </p:txBody>
      </p:sp>
      <p:pic>
        <p:nvPicPr>
          <p:cNvPr id="13" name="Image 3" descr="./icons/check_dark.png"/>
          <p:cNvPicPr>
            <a:picLocks noChangeAspect="1"/>
          </p:cNvPicPr>
          <p:nvPr/>
        </p:nvPicPr>
        <p:blipFill>
          <a:blip r:embed="rId2"/>
          <a:stretch>
            <a:fillRect/>
          </a:stretch>
        </p:blipFill>
        <p:spPr>
          <a:xfrm>
            <a:off x="777240" y="3922776"/>
            <a:ext cx="164592" cy="164592"/>
          </a:xfrm>
          <a:prstGeom prst="rect">
            <a:avLst/>
          </a:prstGeom>
        </p:spPr>
      </p:pic>
      <p:sp>
        <p:nvSpPr>
          <p:cNvPr id="14" name="Text 8"/>
          <p:cNvSpPr/>
          <p:nvPr/>
        </p:nvSpPr>
        <p:spPr>
          <a:xfrm>
            <a:off x="1051560" y="388620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Explainable Intelligence: Translates regression forecasts and scores into direct text summaries.</a:t>
            </a:r>
            <a:endParaRPr lang="en-US" sz="1250" dirty="0"/>
          </a:p>
        </p:txBody>
      </p:sp>
      <p:pic>
        <p:nvPicPr>
          <p:cNvPr id="15" name="Image 4" descr="./icons/check_dark.png"/>
          <p:cNvPicPr>
            <a:picLocks noChangeAspect="1"/>
          </p:cNvPicPr>
          <p:nvPr/>
        </p:nvPicPr>
        <p:blipFill>
          <a:blip r:embed="rId2"/>
          <a:stretch>
            <a:fillRect/>
          </a:stretch>
        </p:blipFill>
        <p:spPr>
          <a:xfrm>
            <a:off x="777240" y="4562856"/>
            <a:ext cx="164592" cy="164592"/>
          </a:xfrm>
          <a:prstGeom prst="rect">
            <a:avLst/>
          </a:prstGeom>
        </p:spPr>
      </p:pic>
      <p:sp>
        <p:nvSpPr>
          <p:cNvPr id="16" name="Text 9"/>
          <p:cNvSpPr/>
          <p:nvPr/>
        </p:nvSpPr>
        <p:spPr>
          <a:xfrm>
            <a:off x="1051560" y="452628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Evidence Auditing: Verifies user green achievements using geocoding, photos, and QR codes.</a:t>
            </a:r>
            <a:endParaRPr lang="en-US" sz="1250" dirty="0"/>
          </a:p>
        </p:txBody>
      </p:sp>
      <p:pic>
        <p:nvPicPr>
          <p:cNvPr id="17" name="Image 5" descr="./icons/check_dark.png"/>
          <p:cNvPicPr>
            <a:picLocks noChangeAspect="1"/>
          </p:cNvPicPr>
          <p:nvPr/>
        </p:nvPicPr>
        <p:blipFill>
          <a:blip r:embed="rId2"/>
          <a:stretch>
            <a:fillRect/>
          </a:stretch>
        </p:blipFill>
        <p:spPr>
          <a:xfrm>
            <a:off x="777240" y="5202936"/>
            <a:ext cx="164592" cy="164592"/>
          </a:xfrm>
          <a:prstGeom prst="rect">
            <a:avLst/>
          </a:prstGeom>
        </p:spPr>
      </p:pic>
      <p:sp>
        <p:nvSpPr>
          <p:cNvPr id="18" name="Text 10"/>
          <p:cNvSpPr/>
          <p:nvPr/>
        </p:nvSpPr>
        <p:spPr>
          <a:xfrm>
            <a:off x="1051560" y="5166360"/>
            <a:ext cx="4526280" cy="548640"/>
          </a:xfrm>
          <a:prstGeom prst="rect">
            <a:avLst/>
          </a:prstGeom>
          <a:noFill/>
        </p:spPr>
        <p:txBody>
          <a:bodyPr wrap="square" lIns="0" tIns="0" rIns="0" bIns="0" rtlCol="0" anchor="ctr"/>
          <a:lstStyle/>
          <a:p>
            <a:pPr marL="0" indent="0" algn="just">
              <a:lnSpc>
                <a:spcPct val="120000"/>
              </a:lnSpc>
              <a:buNone/>
            </a:pPr>
            <a:r>
              <a:rPr lang="en-US" sz="1250" dirty="0">
                <a:solidFill>
                  <a:srgbClr val="364327"/>
                </a:solidFill>
                <a:latin typeface="Segoe UI" panose="020B0502040204020203" pitchFamily="34" charset="0"/>
                <a:ea typeface="Segoe UI" panose="020B0502040204020203" pitchFamily="34" charset="-122"/>
                <a:cs typeface="Segoe UI" panose="020B0502040204020203" pitchFamily="34" charset="-120"/>
              </a:rPr>
              <a:t>Institutional Analytics: Aggregates metrics to monitor college-wide environmental progress.</a:t>
            </a:r>
            <a:endParaRPr lang="en-US" sz="1250" dirty="0"/>
          </a:p>
        </p:txBody>
      </p:sp>
      <p:sp>
        <p:nvSpPr>
          <p:cNvPr id="19" name="Shape 11"/>
          <p:cNvSpPr/>
          <p:nvPr/>
        </p:nvSpPr>
        <p:spPr>
          <a:xfrm>
            <a:off x="5943600" y="1737360"/>
            <a:ext cx="5532120" cy="4297680"/>
          </a:xfrm>
          <a:prstGeom prst="roundRect">
            <a:avLst>
              <a:gd name="adj" fmla="val 2128"/>
            </a:avLst>
          </a:prstGeom>
          <a:solidFill>
            <a:srgbClr val="FFFFFF"/>
          </a:solidFill>
          <a:effectLst>
            <a:outerShdw blurRad="101600" dist="38100" dir="2700000" algn="bl" rotWithShape="0">
              <a:srgbClr val="000000">
                <a:alpha val="12000"/>
              </a:srgbClr>
            </a:outerShdw>
          </a:effectLst>
        </p:spPr>
        <p:txBody>
          <a:bodyPr/>
          <a:p/>
        </p:txBody>
      </p:sp>
      <p:sp>
        <p:nvSpPr>
          <p:cNvPr id="20" name="Shape 12"/>
          <p:cNvSpPr/>
          <p:nvPr/>
        </p:nvSpPr>
        <p:spPr>
          <a:xfrm>
            <a:off x="6172200" y="1938528"/>
            <a:ext cx="502920" cy="50292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21" name="Image 6" descr="./icons/bolt_white.png"/>
          <p:cNvPicPr>
            <a:picLocks noChangeAspect="1"/>
          </p:cNvPicPr>
          <p:nvPr/>
        </p:nvPicPr>
        <p:blipFill>
          <a:blip r:embed="rId3"/>
          <a:stretch>
            <a:fillRect/>
          </a:stretch>
        </p:blipFill>
        <p:spPr>
          <a:xfrm>
            <a:off x="6302959" y="2069287"/>
            <a:ext cx="241402" cy="241402"/>
          </a:xfrm>
          <a:prstGeom prst="rect">
            <a:avLst/>
          </a:prstGeom>
        </p:spPr>
      </p:pic>
      <p:sp>
        <p:nvSpPr>
          <p:cNvPr id="22" name="Text 13"/>
          <p:cNvSpPr/>
          <p:nvPr/>
        </p:nvSpPr>
        <p:spPr>
          <a:xfrm>
            <a:off x="6766560" y="1901952"/>
            <a:ext cx="4480560" cy="365760"/>
          </a:xfrm>
          <a:prstGeom prst="rect">
            <a:avLst/>
          </a:prstGeom>
          <a:noFill/>
        </p:spPr>
        <p:txBody>
          <a:bodyPr wrap="square" lIns="0" tIns="0" rIns="0" bIns="0" rtlCol="0" anchor="ctr"/>
          <a:lstStyle/>
          <a:p>
            <a:pPr marL="0" indent="0">
              <a:buNone/>
            </a:pPr>
            <a:r>
              <a:rPr lang="en-US" sz="1750" b="1" dirty="0">
                <a:solidFill>
                  <a:srgbClr val="156D4F"/>
                </a:solidFill>
                <a:latin typeface="Segoe UI" panose="020B0502040204020203" pitchFamily="34" charset="0"/>
                <a:ea typeface="Segoe UI" panose="020B0502040204020203" pitchFamily="34" charset="-122"/>
                <a:cs typeface="Segoe UI" panose="020B0502040204020203" pitchFamily="34" charset="-120"/>
              </a:rPr>
              <a:t>Expected Deliverables &amp; Outcomes</a:t>
            </a:r>
            <a:endParaRPr lang="en-US" sz="1750" dirty="0"/>
          </a:p>
        </p:txBody>
      </p:sp>
      <p:sp>
        <p:nvSpPr>
          <p:cNvPr id="23" name="Text 14"/>
          <p:cNvSpPr/>
          <p:nvPr/>
        </p:nvSpPr>
        <p:spPr>
          <a:xfrm>
            <a:off x="6766560" y="2267712"/>
            <a:ext cx="4480560" cy="228600"/>
          </a:xfrm>
          <a:prstGeom prst="rect">
            <a:avLst/>
          </a:prstGeom>
          <a:noFill/>
        </p:spPr>
        <p:txBody>
          <a:bodyPr wrap="square" lIns="0" tIns="0" rIns="0" bIns="0" rtlCol="0" anchor="ctr"/>
          <a:lstStyle/>
          <a:p>
            <a:pPr marL="0" indent="0">
              <a:buNone/>
            </a:pPr>
            <a:r>
              <a:rPr lang="en-US" sz="1300" b="1" kern="0" spc="100" dirty="0">
                <a:solidFill>
                  <a:srgbClr val="57926E"/>
                </a:solidFill>
                <a:latin typeface="Segoe UI" panose="020B0502040204020203" pitchFamily="34" charset="0"/>
                <a:ea typeface="Segoe UI" panose="020B0502040204020203" pitchFamily="34" charset="-122"/>
                <a:cs typeface="Segoe UI" panose="020B0502040204020203" pitchFamily="34" charset="-120"/>
              </a:rPr>
              <a:t>KEY EVALUATION PARAMETERS</a:t>
            </a:r>
            <a:endParaRPr lang="en-US" sz="1300" dirty="0"/>
          </a:p>
        </p:txBody>
      </p:sp>
      <p:pic>
        <p:nvPicPr>
          <p:cNvPr id="24" name="Image 7" descr="./icons/check_dark.png"/>
          <p:cNvPicPr>
            <a:picLocks noChangeAspect="1"/>
          </p:cNvPicPr>
          <p:nvPr/>
        </p:nvPicPr>
        <p:blipFill>
          <a:blip r:embed="rId2"/>
          <a:stretch>
            <a:fillRect/>
          </a:stretch>
        </p:blipFill>
        <p:spPr>
          <a:xfrm>
            <a:off x="6172200" y="2770632"/>
            <a:ext cx="164592" cy="164592"/>
          </a:xfrm>
          <a:prstGeom prst="rect">
            <a:avLst/>
          </a:prstGeom>
        </p:spPr>
      </p:pic>
      <p:sp>
        <p:nvSpPr>
          <p:cNvPr id="25" name="Text 15"/>
          <p:cNvSpPr/>
          <p:nvPr/>
        </p:nvSpPr>
        <p:spPr>
          <a:xfrm>
            <a:off x="6446520" y="274320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Web Codebase: React frontend client paired with Material UI and ECharts dashboards.</a:t>
            </a:r>
            <a:endParaRPr lang="en-US" sz="1200" dirty="0"/>
          </a:p>
        </p:txBody>
      </p:sp>
      <p:pic>
        <p:nvPicPr>
          <p:cNvPr id="26" name="Image 8" descr="./icons/check_dark.png"/>
          <p:cNvPicPr>
            <a:picLocks noChangeAspect="1"/>
          </p:cNvPicPr>
          <p:nvPr/>
        </p:nvPicPr>
        <p:blipFill>
          <a:blip r:embed="rId2"/>
          <a:stretch>
            <a:fillRect/>
          </a:stretch>
        </p:blipFill>
        <p:spPr>
          <a:xfrm>
            <a:off x="6172200" y="3282696"/>
            <a:ext cx="164592" cy="164592"/>
          </a:xfrm>
          <a:prstGeom prst="rect">
            <a:avLst/>
          </a:prstGeom>
        </p:spPr>
      </p:pic>
      <p:sp>
        <p:nvSpPr>
          <p:cNvPr id="27" name="Text 16"/>
          <p:cNvSpPr/>
          <p:nvPr/>
        </p:nvSpPr>
        <p:spPr>
          <a:xfrm>
            <a:off x="6446520" y="3255264"/>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Backend Gateways: Spring Boot 3 handling database transactions, security, and schedulers.</a:t>
            </a:r>
            <a:endParaRPr lang="en-US" sz="1200" dirty="0"/>
          </a:p>
        </p:txBody>
      </p:sp>
      <p:pic>
        <p:nvPicPr>
          <p:cNvPr id="28" name="Image 9" descr="./icons/check_dark.png"/>
          <p:cNvPicPr>
            <a:picLocks noChangeAspect="1"/>
          </p:cNvPicPr>
          <p:nvPr/>
        </p:nvPicPr>
        <p:blipFill>
          <a:blip r:embed="rId2"/>
          <a:stretch>
            <a:fillRect/>
          </a:stretch>
        </p:blipFill>
        <p:spPr>
          <a:xfrm>
            <a:off x="6172200" y="3794760"/>
            <a:ext cx="164592" cy="164592"/>
          </a:xfrm>
          <a:prstGeom prst="rect">
            <a:avLst/>
          </a:prstGeom>
        </p:spPr>
      </p:pic>
      <p:sp>
        <p:nvSpPr>
          <p:cNvPr id="29" name="Text 17"/>
          <p:cNvSpPr/>
          <p:nvPr/>
        </p:nvSpPr>
        <p:spPr>
          <a:xfrm>
            <a:off x="6446520" y="3767328"/>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ML Container: Python FastAPI service managing XGBoost and scikit-learn forecasts.</a:t>
            </a:r>
            <a:endParaRPr lang="en-US" sz="1200" dirty="0"/>
          </a:p>
        </p:txBody>
      </p:sp>
      <p:pic>
        <p:nvPicPr>
          <p:cNvPr id="30" name="Image 10" descr="./icons/check_dark.png"/>
          <p:cNvPicPr>
            <a:picLocks noChangeAspect="1"/>
          </p:cNvPicPr>
          <p:nvPr/>
        </p:nvPicPr>
        <p:blipFill>
          <a:blip r:embed="rId2"/>
          <a:stretch>
            <a:fillRect/>
          </a:stretch>
        </p:blipFill>
        <p:spPr>
          <a:xfrm>
            <a:off x="6172200" y="4306824"/>
            <a:ext cx="164592" cy="164592"/>
          </a:xfrm>
          <a:prstGeom prst="rect">
            <a:avLst/>
          </a:prstGeom>
        </p:spPr>
      </p:pic>
      <p:sp>
        <p:nvSpPr>
          <p:cNvPr id="31" name="Text 18"/>
          <p:cNvSpPr/>
          <p:nvPr/>
        </p:nvSpPr>
        <p:spPr>
          <a:xfrm>
            <a:off x="6446520" y="4279392"/>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Optimization Modules: Google OR-Tools script solving resource budget allocation models.</a:t>
            </a:r>
            <a:endParaRPr lang="en-US" sz="1200" dirty="0"/>
          </a:p>
        </p:txBody>
      </p:sp>
      <p:pic>
        <p:nvPicPr>
          <p:cNvPr id="32" name="Image 11" descr="./icons/check_dark.png"/>
          <p:cNvPicPr>
            <a:picLocks noChangeAspect="1"/>
          </p:cNvPicPr>
          <p:nvPr/>
        </p:nvPicPr>
        <p:blipFill>
          <a:blip r:embed="rId2"/>
          <a:stretch>
            <a:fillRect/>
          </a:stretch>
        </p:blipFill>
        <p:spPr>
          <a:xfrm>
            <a:off x="6172200" y="4818888"/>
            <a:ext cx="164592" cy="164592"/>
          </a:xfrm>
          <a:prstGeom prst="rect">
            <a:avLst/>
          </a:prstGeom>
        </p:spPr>
      </p:pic>
      <p:sp>
        <p:nvSpPr>
          <p:cNvPr id="33" name="Text 19"/>
          <p:cNvSpPr/>
          <p:nvPr/>
        </p:nvSpPr>
        <p:spPr>
          <a:xfrm>
            <a:off x="6446520" y="4791456"/>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Verification Service: Code to validate image uploads, QR codes, and coordinate metadata.</a:t>
            </a:r>
            <a:endParaRPr lang="en-US" sz="1200" dirty="0"/>
          </a:p>
        </p:txBody>
      </p:sp>
      <p:pic>
        <p:nvPicPr>
          <p:cNvPr id="34" name="Image 12" descr="./icons/check_dark.png"/>
          <p:cNvPicPr>
            <a:picLocks noChangeAspect="1"/>
          </p:cNvPicPr>
          <p:nvPr/>
        </p:nvPicPr>
        <p:blipFill>
          <a:blip r:embed="rId2"/>
          <a:stretch>
            <a:fillRect/>
          </a:stretch>
        </p:blipFill>
        <p:spPr>
          <a:xfrm>
            <a:off x="6172200" y="5330952"/>
            <a:ext cx="164592" cy="164592"/>
          </a:xfrm>
          <a:prstGeom prst="rect">
            <a:avLst/>
          </a:prstGeom>
        </p:spPr>
      </p:pic>
      <p:sp>
        <p:nvSpPr>
          <p:cNvPr id="35" name="Text 20"/>
          <p:cNvSpPr/>
          <p:nvPr/>
        </p:nvSpPr>
        <p:spPr>
          <a:xfrm>
            <a:off x="6446520" y="5303520"/>
            <a:ext cx="4846320" cy="502920"/>
          </a:xfrm>
          <a:prstGeom prst="rect">
            <a:avLst/>
          </a:prstGeom>
          <a:noFill/>
        </p:spPr>
        <p:txBody>
          <a:bodyPr wrap="square" lIns="0" tIns="0" rIns="0" bIns="0" rtlCol="0" anchor="ctr"/>
          <a:lstStyle/>
          <a:p>
            <a:pPr marL="0" indent="0" algn="just">
              <a:lnSpc>
                <a:spcPct val="118000"/>
              </a:lnSpc>
              <a:buNone/>
            </a:pPr>
            <a:r>
              <a:rPr lang="en-US" sz="1200" dirty="0">
                <a:solidFill>
                  <a:srgbClr val="364327"/>
                </a:solidFill>
                <a:latin typeface="Segoe UI" panose="020B0502040204020203" pitchFamily="34" charset="0"/>
                <a:ea typeface="Segoe UI" panose="020B0502040204020203" pitchFamily="34" charset="-122"/>
                <a:cs typeface="Segoe UI" panose="020B0502040204020203" pitchFamily="34" charset="-120"/>
              </a:rPr>
              <a:t>Blueprints: Multi-container Docker compose and Railway build parameters.</a:t>
            </a:r>
            <a:endParaRPr lang="en-US" sz="1200" dirty="0"/>
          </a:p>
        </p:txBody>
      </p:sp>
      <p:sp>
        <p:nvSpPr>
          <p:cNvPr id="36" name="Shape 21"/>
          <p:cNvSpPr/>
          <p:nvPr/>
        </p:nvSpPr>
        <p:spPr>
          <a:xfrm>
            <a:off x="530352" y="6364224"/>
            <a:ext cx="237744" cy="237744"/>
          </a:xfrm>
          <a:prstGeom prst="ellipse">
            <a:avLst/>
          </a:prstGeom>
          <a:solidFill>
            <a:srgbClr val="156D4F"/>
          </a:solidFill>
        </p:spPr>
        <p:txBody>
          <a:bodyPr/>
          <a:p/>
        </p:txBody>
      </p:sp>
      <p:pic>
        <p:nvPicPr>
          <p:cNvPr id="37" name="Image 13" descr="./icons/arrow_left_white.png">
            <a:hlinkClick r:id="rId4" action="ppaction://hlinksldjump"/>
          </p:cNvPr>
          <p:cNvPicPr>
            <a:picLocks noChangeAspect="1"/>
          </p:cNvPicPr>
          <p:nvPr/>
        </p:nvPicPr>
        <p:blipFill>
          <a:blip r:embed="rId5"/>
          <a:stretch>
            <a:fillRect/>
          </a:stretch>
        </p:blipFill>
        <p:spPr>
          <a:xfrm>
            <a:off x="548640" y="6382512"/>
            <a:ext cx="201168" cy="201168"/>
          </a:xfrm>
          <a:prstGeom prst="rect">
            <a:avLst/>
          </a:prstGeom>
        </p:spPr>
      </p:pic>
      <p:sp>
        <p:nvSpPr>
          <p:cNvPr id="38" name="Shape 22">
            <a:hlinkClick r:id="rId4" action="ppaction://hlinksldjump"/>
          </p:cNvPr>
          <p:cNvSpPr/>
          <p:nvPr/>
        </p:nvSpPr>
        <p:spPr>
          <a:xfrm>
            <a:off x="530352" y="6355080"/>
            <a:ext cx="2377440" cy="365760"/>
          </a:xfrm>
          <a:prstGeom prst="rect">
            <a:avLst/>
          </a:prstGeom>
          <a:solidFill>
            <a:srgbClr val="364327">
              <a:alpha val="0"/>
            </a:srgbClr>
          </a:solidFill>
        </p:spPr>
        <p:txBody>
          <a:bodyPr/>
          <a:p/>
        </p:txBody>
      </p:sp>
      <p:sp>
        <p:nvSpPr>
          <p:cNvPr id="39" name="Text 23">
            <a:hlinkClick r:id="rId4" action="ppaction://hlinksldjump"/>
          </p:cNvPr>
          <p:cNvSpPr/>
          <p:nvPr/>
        </p:nvSpPr>
        <p:spPr>
          <a:xfrm>
            <a:off x="841248" y="6355080"/>
            <a:ext cx="2377440" cy="365760"/>
          </a:xfrm>
          <a:prstGeom prst="rect">
            <a:avLst/>
          </a:prstGeom>
          <a:noFill/>
        </p:spPr>
        <p:txBody>
          <a:bodyPr wrap="square" lIns="0" tIns="0" rIns="0" bIns="0" rtlCol="0" anchor="ctr"/>
          <a:lstStyle/>
          <a:p>
            <a:pPr marL="0" indent="0">
              <a:buNone/>
            </a:pPr>
            <a:r>
              <a:rPr lang="en-US" sz="1100" b="1" u="sng" dirty="0">
                <a:solidFill>
                  <a:srgbClr val="156D4F"/>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40" name="Text 24"/>
          <p:cNvSpPr/>
          <p:nvPr/>
        </p:nvSpPr>
        <p:spPr>
          <a:xfrm>
            <a:off x="8595360" y="6382512"/>
            <a:ext cx="3017520" cy="274320"/>
          </a:xfrm>
          <a:prstGeom prst="rect">
            <a:avLst/>
          </a:prstGeom>
          <a:noFill/>
        </p:spPr>
        <p:txBody>
          <a:bodyPr wrap="square" lIns="0" tIns="0" rIns="0" bIns="0" rtlCol="0" anchor="ctr"/>
          <a:lstStyle/>
          <a:p>
            <a:pPr marL="0" indent="0" algn="r">
              <a:buNone/>
            </a:pPr>
            <a:r>
              <a:rPr lang="en-US" sz="1000" dirty="0">
                <a:solidFill>
                  <a:srgbClr val="364327"/>
                </a:solidFill>
                <a:latin typeface="Segoe UI" panose="020B0502040204020203" pitchFamily="34" charset="0"/>
                <a:ea typeface="Segoe UI" panose="020B0502040204020203" pitchFamily="34" charset="-122"/>
                <a:cs typeface="Segoe UI" panose="020B0502040204020203" pitchFamily="34" charset="-120"/>
              </a:rPr>
              <a:t>EcoSphere · Novelty &amp; Outcomes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029200" cy="5029200"/>
          </a:xfrm>
          <a:prstGeom prst="ellipse">
            <a:avLst/>
          </a:prstGeom>
          <a:solidFill>
            <a:srgbClr val="156D4F">
              <a:alpha val="65000"/>
            </a:srgbClr>
          </a:solidFill>
        </p:spPr>
        <p:txBody>
          <a:bodyPr/>
          <a:p/>
        </p:txBody>
      </p:sp>
      <p:sp>
        <p:nvSpPr>
          <p:cNvPr id="3" name="Text 1"/>
          <p:cNvSpPr/>
          <p:nvPr/>
        </p:nvSpPr>
        <p:spPr>
          <a:xfrm>
            <a:off x="640080" y="548640"/>
            <a:ext cx="7315200" cy="274320"/>
          </a:xfrm>
          <a:prstGeom prst="rect">
            <a:avLst/>
          </a:prstGeom>
          <a:noFill/>
        </p:spPr>
        <p:txBody>
          <a:bodyPr wrap="square" lIns="0" tIns="0" rIns="0" bIns="0" rtlCol="0" anchor="ctr"/>
          <a:lstStyle/>
          <a:p>
            <a:pPr marL="0" indent="0">
              <a:buNone/>
            </a:pPr>
            <a:r>
              <a:rPr lang="en-US" sz="1200" b="1" kern="0" spc="200" dirty="0">
                <a:solidFill>
                  <a:srgbClr val="5BDCBB"/>
                </a:solidFill>
                <a:latin typeface="Segoe UI" panose="020B0502040204020203" pitchFamily="34" charset="0"/>
                <a:ea typeface="Segoe UI" panose="020B0502040204020203" pitchFamily="34" charset="-122"/>
                <a:cs typeface="Segoe UI" panose="020B0502040204020203" pitchFamily="34" charset="-120"/>
              </a:rPr>
              <a:t>SECTION 09 · PANEL'S ASSESSMENT</a:t>
            </a:r>
            <a:endParaRPr lang="en-US" sz="1200" dirty="0"/>
          </a:p>
        </p:txBody>
      </p:sp>
      <p:sp>
        <p:nvSpPr>
          <p:cNvPr id="4" name="Text 2"/>
          <p:cNvSpPr/>
          <p:nvPr/>
        </p:nvSpPr>
        <p:spPr>
          <a:xfrm>
            <a:off x="640080" y="841248"/>
            <a:ext cx="8229600" cy="640080"/>
          </a:xfrm>
          <a:prstGeom prst="rect">
            <a:avLst/>
          </a:prstGeom>
          <a:noFill/>
        </p:spPr>
        <p:txBody>
          <a:bodyPr wrap="square" lIns="0" tIns="0" rIns="0" bIns="0" rtlCol="0" anchor="ctr"/>
          <a:lstStyle/>
          <a:p>
            <a:pPr marL="0" indent="0">
              <a:buNone/>
            </a:pPr>
            <a:r>
              <a:rPr lang="en-US" sz="3200" b="1" dirty="0">
                <a:solidFill>
                  <a:srgbClr val="5BDCBB"/>
                </a:solidFill>
                <a:latin typeface="Georgia" panose="02040502050405020303" pitchFamily="34" charset="0"/>
                <a:ea typeface="Georgia" panose="02040502050405020303" pitchFamily="34" charset="-122"/>
                <a:cs typeface="Georgia" panose="02040502050405020303" pitchFamily="34" charset="-120"/>
              </a:rPr>
              <a:t>Feasibility Verdict</a:t>
            </a:r>
            <a:endParaRPr lang="en-US" sz="3200" dirty="0"/>
          </a:p>
        </p:txBody>
      </p:sp>
      <p:sp>
        <p:nvSpPr>
          <p:cNvPr id="5" name="Shape 3"/>
          <p:cNvSpPr/>
          <p:nvPr/>
        </p:nvSpPr>
        <p:spPr>
          <a:xfrm>
            <a:off x="8229600" y="685800"/>
            <a:ext cx="3383280" cy="868680"/>
          </a:xfrm>
          <a:prstGeom prst="roundRect">
            <a:avLst>
              <a:gd name="adj" fmla="val 10526"/>
            </a:avLst>
          </a:prstGeom>
          <a:solidFill>
            <a:srgbClr val="5BDCBB"/>
          </a:solidFill>
          <a:effectLst>
            <a:outerShdw blurRad="101600" dist="38100" dir="2700000" algn="bl" rotWithShape="0">
              <a:srgbClr val="000000">
                <a:alpha val="12000"/>
              </a:srgbClr>
            </a:outerShdw>
          </a:effectLst>
        </p:spPr>
        <p:txBody>
          <a:bodyPr/>
          <a:p/>
        </p:txBody>
      </p:sp>
      <p:sp>
        <p:nvSpPr>
          <p:cNvPr id="6" name="Text 4"/>
          <p:cNvSpPr/>
          <p:nvPr/>
        </p:nvSpPr>
        <p:spPr>
          <a:xfrm>
            <a:off x="8229600" y="685800"/>
            <a:ext cx="3383280" cy="868680"/>
          </a:xfrm>
          <a:prstGeom prst="rect">
            <a:avLst/>
          </a:prstGeom>
          <a:noFill/>
        </p:spPr>
        <p:txBody>
          <a:bodyPr wrap="square" lIns="0" tIns="0" rIns="0" bIns="0" rtlCol="0" anchor="ctr"/>
          <a:lstStyle/>
          <a:p>
            <a:pPr marL="0" indent="0" algn="ctr">
              <a:buNone/>
            </a:pPr>
            <a:r>
              <a:rPr lang="en-US" sz="1300" b="1" dirty="0">
                <a:solidFill>
                  <a:srgbClr val="364327"/>
                </a:solidFill>
                <a:latin typeface="Segoe UI" panose="020B0502040204020203" pitchFamily="34" charset="0"/>
                <a:ea typeface="Segoe UI" panose="020B0502040204020203" pitchFamily="34" charset="-122"/>
                <a:cs typeface="Segoe UI" panose="020B0502040204020203" pitchFamily="34" charset="-120"/>
              </a:rPr>
              <a:t>APPROVAL FOR</a:t>
            </a:r>
            <a:endParaRPr lang="en-US" sz="1300" dirty="0"/>
          </a:p>
          <a:p>
            <a:pPr marL="0" indent="0" algn="ctr">
              <a:buNone/>
            </a:pPr>
            <a:r>
              <a:t>PRODUCTION RELEASE &amp; DEPLOYMENT</a:t>
            </a:r>
            <a:endParaRPr lang="en-US" sz="1300" dirty="0"/>
          </a:p>
        </p:txBody>
      </p:sp>
      <p:sp>
        <p:nvSpPr>
          <p:cNvPr id="7" name="Text 5"/>
          <p:cNvSpPr/>
          <p:nvPr/>
        </p:nvSpPr>
        <p:spPr>
          <a:xfrm>
            <a:off x="640080" y="1828800"/>
            <a:ext cx="10607040" cy="1005840"/>
          </a:xfrm>
          <a:prstGeom prst="rect">
            <a:avLst/>
          </a:prstGeom>
          <a:noFill/>
        </p:spPr>
        <p:txBody>
          <a:bodyPr wrap="square" lIns="0" tIns="0" rIns="0" bIns="0" rtlCol="0" anchor="ctr"/>
          <a:lstStyle/>
          <a:p>
            <a:pPr marL="0" indent="0" algn="just">
              <a:lnSpc>
                <a:spcPct val="130000"/>
              </a:lnSpc>
              <a:buNone/>
            </a:pPr>
            <a:r>
              <a:t>The EcoSphere (VerdantIQ) Intelligent Environmental Decision Support Platform has been fully developed, integrated, and verified across all 36 microservice endpoints. Built on a modular, enterprise stack (React 18 Spatial Canvas, Spring Boot 3.2, MongoDB 2dsphere, FastAPI, Google OR-Tools MILP, Groq AI LLM Gateway, and MinIO S3 OCR), it successfully delivers behavior learning, time-series forecasting, multi-resource solving, and verified activity loops.</a:t>
            </a:r>
            <a:endParaRPr lang="en-US" sz="1350" dirty="0"/>
          </a:p>
        </p:txBody>
      </p:sp>
      <p:sp>
        <p:nvSpPr>
          <p:cNvPr id="8" name="Shape 6"/>
          <p:cNvSpPr/>
          <p:nvPr/>
        </p:nvSpPr>
        <p:spPr>
          <a:xfrm>
            <a:off x="640080" y="3017520"/>
            <a:ext cx="3611880" cy="2743200"/>
          </a:xfrm>
          <a:prstGeom prst="roundRect">
            <a:avLst>
              <a:gd name="adj" fmla="val 3333"/>
            </a:avLst>
          </a:prstGeom>
          <a:solidFill>
            <a:srgbClr val="156D4F"/>
          </a:solidFill>
          <a:ln w="12700">
            <a:solidFill>
              <a:srgbClr val="57926E"/>
            </a:solidFill>
            <a:prstDash val="solid"/>
          </a:ln>
        </p:spPr>
        <p:txBody>
          <a:bodyPr/>
          <a:p/>
        </p:txBody>
      </p:sp>
      <p:sp>
        <p:nvSpPr>
          <p:cNvPr id="9" name="Shape 7"/>
          <p:cNvSpPr/>
          <p:nvPr/>
        </p:nvSpPr>
        <p:spPr>
          <a:xfrm>
            <a:off x="841248" y="3218688"/>
            <a:ext cx="411480" cy="4114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10" name="Image 0" descr="./icons/gateway_white.png"/>
          <p:cNvPicPr>
            <a:picLocks noChangeAspect="1"/>
          </p:cNvPicPr>
          <p:nvPr/>
        </p:nvPicPr>
        <p:blipFill>
          <a:blip r:embed="rId1"/>
          <a:stretch>
            <a:fillRect/>
          </a:stretch>
        </p:blipFill>
        <p:spPr>
          <a:xfrm>
            <a:off x="948233" y="3325673"/>
            <a:ext cx="197510" cy="197510"/>
          </a:xfrm>
          <a:prstGeom prst="rect">
            <a:avLst/>
          </a:prstGeom>
        </p:spPr>
      </p:pic>
      <p:sp>
        <p:nvSpPr>
          <p:cNvPr id="11" name="Text 8"/>
          <p:cNvSpPr/>
          <p:nvPr/>
        </p:nvSpPr>
        <p:spPr>
          <a:xfrm>
            <a:off x="132588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Technical Viability</a:t>
            </a:r>
            <a:endParaRPr lang="en-US" sz="1700" dirty="0"/>
          </a:p>
        </p:txBody>
      </p:sp>
      <p:sp>
        <p:nvSpPr>
          <p:cNvPr id="12" name="Text 9"/>
          <p:cNvSpPr/>
          <p:nvPr/>
        </p:nvSpPr>
        <p:spPr>
          <a:xfrm>
            <a:off x="914400" y="3886200"/>
            <a:ext cx="313626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Modular FastAPI forecasting endpoints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Efficient Spring Boot gateway integration</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Google OR-Tools solver constraints</a:t>
            </a:r>
            <a:endParaRPr lang="en-US" sz="1350" dirty="0"/>
          </a:p>
          <a:p>
            <a:pPr marL="0" indent="0" algn="l">
              <a:lnSpc>
                <a:spcPct val="125000"/>
              </a:lnSpc>
              <a:spcAft>
                <a:spcPts val="600"/>
              </a:spcAft>
              <a:buNone/>
            </a:pPr>
            <a:r>
              <a:t>✓  Proven MongoDB 2dsphere GeoJSON spatial database</a:t>
            </a:r>
            <a:endParaRPr lang="en-US" sz="1350" dirty="0"/>
          </a:p>
        </p:txBody>
      </p:sp>
      <p:sp>
        <p:nvSpPr>
          <p:cNvPr id="13" name="Shape 10"/>
          <p:cNvSpPr/>
          <p:nvPr/>
        </p:nvSpPr>
        <p:spPr>
          <a:xfrm>
            <a:off x="4343400" y="3017520"/>
            <a:ext cx="3611880" cy="2743200"/>
          </a:xfrm>
          <a:prstGeom prst="roundRect">
            <a:avLst>
              <a:gd name="adj" fmla="val 3333"/>
            </a:avLst>
          </a:prstGeom>
          <a:solidFill>
            <a:srgbClr val="156D4F"/>
          </a:solidFill>
          <a:ln w="12700">
            <a:solidFill>
              <a:srgbClr val="57926E"/>
            </a:solidFill>
            <a:prstDash val="solid"/>
          </a:ln>
        </p:spPr>
        <p:txBody>
          <a:bodyPr/>
          <a:p/>
        </p:txBody>
      </p:sp>
      <p:sp>
        <p:nvSpPr>
          <p:cNvPr id="14" name="Shape 11"/>
          <p:cNvSpPr/>
          <p:nvPr/>
        </p:nvSpPr>
        <p:spPr>
          <a:xfrm>
            <a:off x="4544568" y="3218688"/>
            <a:ext cx="411480" cy="4114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15" name="Image 1" descr="./icons/lock_white.png"/>
          <p:cNvPicPr>
            <a:picLocks noChangeAspect="1"/>
          </p:cNvPicPr>
          <p:nvPr/>
        </p:nvPicPr>
        <p:blipFill>
          <a:blip r:embed="rId2"/>
          <a:stretch>
            <a:fillRect/>
          </a:stretch>
        </p:blipFill>
        <p:spPr>
          <a:xfrm>
            <a:off x="4651553" y="3325673"/>
            <a:ext cx="197510" cy="197510"/>
          </a:xfrm>
          <a:prstGeom prst="rect">
            <a:avLst/>
          </a:prstGeom>
        </p:spPr>
      </p:pic>
      <p:sp>
        <p:nvSpPr>
          <p:cNvPr id="16" name="Text 12"/>
          <p:cNvSpPr/>
          <p:nvPr/>
        </p:nvSpPr>
        <p:spPr>
          <a:xfrm>
            <a:off x="502920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Intelligence &amp; ML</a:t>
            </a:r>
            <a:endParaRPr lang="en-US" sz="1700" dirty="0"/>
          </a:p>
        </p:txBody>
      </p:sp>
      <p:sp>
        <p:nvSpPr>
          <p:cNvPr id="17" name="Text 13"/>
          <p:cNvSpPr/>
          <p:nvPr/>
        </p:nvSpPr>
        <p:spPr>
          <a:xfrm>
            <a:off x="4617720" y="3886200"/>
            <a:ext cx="310324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XGBoost time-series regression</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Pattern mining behavioral logs</a:t>
            </a:r>
            <a:endParaRPr lang="en-US" sz="1350" dirty="0"/>
          </a:p>
          <a:p>
            <a:pPr marL="0" indent="0" algn="l">
              <a:lnSpc>
                <a:spcPct val="125000"/>
              </a:lnSpc>
              <a:spcAft>
                <a:spcPts val="600"/>
              </a:spcAft>
              <a:buNone/>
            </a:pPr>
            <a:r>
              <a:t>✓  Groq LLM Gateway &amp; local grounded fallback engine</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Observed user recommendation metrics</a:t>
            </a:r>
            <a:endParaRPr lang="en-US" sz="1350" dirty="0"/>
          </a:p>
        </p:txBody>
      </p:sp>
      <p:sp>
        <p:nvSpPr>
          <p:cNvPr id="18" name="Shape 14"/>
          <p:cNvSpPr/>
          <p:nvPr/>
        </p:nvSpPr>
        <p:spPr>
          <a:xfrm>
            <a:off x="8046720" y="3017520"/>
            <a:ext cx="3611880" cy="2743200"/>
          </a:xfrm>
          <a:prstGeom prst="roundRect">
            <a:avLst>
              <a:gd name="adj" fmla="val 3333"/>
            </a:avLst>
          </a:prstGeom>
          <a:solidFill>
            <a:srgbClr val="156D4F"/>
          </a:solidFill>
          <a:ln w="12700">
            <a:solidFill>
              <a:srgbClr val="57926E"/>
            </a:solidFill>
            <a:prstDash val="solid"/>
          </a:ln>
        </p:spPr>
        <p:txBody>
          <a:bodyPr/>
          <a:p/>
        </p:txBody>
      </p:sp>
      <p:sp>
        <p:nvSpPr>
          <p:cNvPr id="19" name="Shape 15"/>
          <p:cNvSpPr/>
          <p:nvPr/>
        </p:nvSpPr>
        <p:spPr>
          <a:xfrm>
            <a:off x="8247888" y="3218688"/>
            <a:ext cx="411480" cy="411480"/>
          </a:xfrm>
          <a:prstGeom prst="ellipse">
            <a:avLst/>
          </a:prstGeom>
          <a:solidFill>
            <a:srgbClr val="57926E"/>
          </a:solidFill>
          <a:effectLst>
            <a:outerShdw blurRad="76200" dist="25400" dir="2700000" algn="bl" rotWithShape="0">
              <a:srgbClr val="000000">
                <a:alpha val="8000"/>
              </a:srgbClr>
            </a:outerShdw>
          </a:effectLst>
        </p:spPr>
        <p:txBody>
          <a:bodyPr/>
          <a:p/>
        </p:txBody>
      </p:sp>
      <p:pic>
        <p:nvPicPr>
          <p:cNvPr id="20" name="Image 2" descr="./icons/users_white.png"/>
          <p:cNvPicPr>
            <a:picLocks noChangeAspect="1"/>
          </p:cNvPicPr>
          <p:nvPr/>
        </p:nvPicPr>
        <p:blipFill>
          <a:blip r:embed="rId3"/>
          <a:stretch>
            <a:fillRect/>
          </a:stretch>
        </p:blipFill>
        <p:spPr>
          <a:xfrm>
            <a:off x="8354873" y="3325673"/>
            <a:ext cx="197510" cy="197510"/>
          </a:xfrm>
          <a:prstGeom prst="rect">
            <a:avLst/>
          </a:prstGeom>
        </p:spPr>
      </p:pic>
      <p:sp>
        <p:nvSpPr>
          <p:cNvPr id="21" name="Text 16"/>
          <p:cNvSpPr/>
          <p:nvPr/>
        </p:nvSpPr>
        <p:spPr>
          <a:xfrm>
            <a:off x="8732520" y="3154680"/>
            <a:ext cx="2697480" cy="438912"/>
          </a:xfrm>
          <a:prstGeom prst="rect">
            <a:avLst/>
          </a:prstGeom>
          <a:noFill/>
        </p:spPr>
        <p:txBody>
          <a:bodyPr wrap="square" lIns="0" tIns="0" rIns="0" bIns="0" rtlCol="0" anchor="ctr"/>
          <a:lstStyle/>
          <a:p>
            <a:pPr marL="0" indent="0">
              <a:buNone/>
            </a:pPr>
            <a:r>
              <a:rPr lang="en-US" sz="1700" b="1" dirty="0">
                <a:solidFill>
                  <a:srgbClr val="5BDCBB"/>
                </a:solidFill>
                <a:latin typeface="Segoe UI" panose="020B0502040204020203" pitchFamily="34" charset="0"/>
                <a:ea typeface="Segoe UI" panose="020B0502040204020203" pitchFamily="34" charset="-122"/>
                <a:cs typeface="Segoe UI" panose="020B0502040204020203" pitchFamily="34" charset="-120"/>
              </a:rPr>
              <a:t>Academic Impact</a:t>
            </a:r>
            <a:endParaRPr lang="en-US" sz="1700" dirty="0"/>
          </a:p>
        </p:txBody>
      </p:sp>
      <p:sp>
        <p:nvSpPr>
          <p:cNvPr id="22" name="Text 17"/>
          <p:cNvSpPr/>
          <p:nvPr/>
        </p:nvSpPr>
        <p:spPr>
          <a:xfrm>
            <a:off x="8321040" y="3886200"/>
            <a:ext cx="3320415" cy="1737360"/>
          </a:xfrm>
          <a:prstGeom prst="rect">
            <a:avLst/>
          </a:prstGeom>
          <a:noFill/>
        </p:spPr>
        <p:txBody>
          <a:bodyPr wrap="square" lIns="0" tIns="0" rIns="0" bIns="0" rtlCol="0" anchor="ctr"/>
          <a:lstStyle/>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Translates decision analysis to eco tasks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Promotes verified college-wide tracking</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Addresses traditional single-resource limits</a:t>
            </a:r>
            <a:endParaRPr lang="en-US" sz="1350" dirty="0"/>
          </a:p>
          <a:p>
            <a:pPr marL="0" indent="0" algn="l">
              <a:lnSpc>
                <a:spcPct val="125000"/>
              </a:lnSpc>
              <a:spcAft>
                <a:spcPts val="600"/>
              </a:spcAft>
              <a:buNone/>
            </a:pPr>
            <a:r>
              <a:rPr lang="en-US" sz="1350" dirty="0">
                <a:solidFill>
                  <a:srgbClr val="FFFFFF"/>
                </a:solidFill>
                <a:latin typeface="Segoe UI" panose="020B0502040204020203" pitchFamily="34" charset="0"/>
                <a:ea typeface="Segoe UI" panose="020B0502040204020203" pitchFamily="34" charset="-122"/>
                <a:cs typeface="Segoe UI" panose="020B0502040204020203" pitchFamily="34" charset="-120"/>
              </a:rPr>
              <a:t>✓  Actionable multi-objective model scripts</a:t>
            </a:r>
            <a:endParaRPr lang="en-US" sz="1350" dirty="0"/>
          </a:p>
        </p:txBody>
      </p:sp>
      <p:sp>
        <p:nvSpPr>
          <p:cNvPr id="23" name="Shape 18"/>
          <p:cNvSpPr/>
          <p:nvPr/>
        </p:nvSpPr>
        <p:spPr>
          <a:xfrm>
            <a:off x="530352" y="6336792"/>
            <a:ext cx="237744" cy="237744"/>
          </a:xfrm>
          <a:prstGeom prst="ellipse">
            <a:avLst/>
          </a:prstGeom>
          <a:solidFill>
            <a:srgbClr val="156D4F"/>
          </a:solidFill>
        </p:spPr>
        <p:txBody>
          <a:bodyPr/>
          <a:p/>
        </p:txBody>
      </p:sp>
      <p:pic>
        <p:nvPicPr>
          <p:cNvPr id="24" name="Image 3" descr="./icons/arrow_left_white.png">
            <a:hlinkClick r:id="rId4" action="ppaction://hlinksldjump"/>
          </p:cNvPr>
          <p:cNvPicPr>
            <a:picLocks noChangeAspect="1"/>
          </p:cNvPicPr>
          <p:nvPr/>
        </p:nvPicPr>
        <p:blipFill>
          <a:blip r:embed="rId5"/>
          <a:stretch>
            <a:fillRect/>
          </a:stretch>
        </p:blipFill>
        <p:spPr>
          <a:xfrm>
            <a:off x="548640" y="6355080"/>
            <a:ext cx="201168" cy="201168"/>
          </a:xfrm>
          <a:prstGeom prst="rect">
            <a:avLst/>
          </a:prstGeom>
        </p:spPr>
      </p:pic>
      <p:sp>
        <p:nvSpPr>
          <p:cNvPr id="25" name="Text 19">
            <a:hlinkClick r:id="rId4" action="ppaction://hlinksldjump"/>
          </p:cNvPr>
          <p:cNvSpPr/>
          <p:nvPr/>
        </p:nvSpPr>
        <p:spPr>
          <a:xfrm>
            <a:off x="841248" y="6327648"/>
            <a:ext cx="2743200" cy="365760"/>
          </a:xfrm>
          <a:prstGeom prst="rect">
            <a:avLst/>
          </a:prstGeom>
          <a:noFill/>
        </p:spPr>
        <p:txBody>
          <a:bodyPr wrap="square" lIns="0" tIns="0" rIns="0" bIns="0" rtlCol="0" anchor="ctr"/>
          <a:lstStyle/>
          <a:p>
            <a:pPr marL="0" indent="0">
              <a:buNone/>
            </a:pPr>
            <a:r>
              <a:rPr lang="en-US" sz="11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4" action="ppaction://hlinksldjump"/>
              </a:rPr>
              <a:t>BACK TO REVIEW BOARD</a:t>
            </a:r>
            <a:endParaRPr lang="en-US" sz="1100" dirty="0"/>
          </a:p>
        </p:txBody>
      </p:sp>
      <p:sp>
        <p:nvSpPr>
          <p:cNvPr id="26" name="Text 20">
            <a:hlinkClick r:id="rId6" action="ppaction://hlinksldjump"/>
          </p:cNvPr>
          <p:cNvSpPr/>
          <p:nvPr/>
        </p:nvSpPr>
        <p:spPr>
          <a:xfrm>
            <a:off x="7680960" y="6327648"/>
            <a:ext cx="3840480" cy="365760"/>
          </a:xfrm>
          <a:prstGeom prst="rect">
            <a:avLst/>
          </a:prstGeom>
          <a:noFill/>
        </p:spPr>
        <p:txBody>
          <a:bodyPr wrap="square" lIns="0" tIns="0" rIns="0" bIns="0" rtlCol="0" anchor="ctr"/>
          <a:lstStyle/>
          <a:p>
            <a:pPr marL="0" indent="0" algn="r">
              <a:buNone/>
            </a:pPr>
            <a:r>
              <a:rPr lang="en-US" sz="1100" b="1" u="sng" dirty="0">
                <a:solidFill>
                  <a:srgbClr val="5BDCBB"/>
                </a:solidFill>
                <a:latin typeface="Segoe UI" panose="020B0502040204020203" pitchFamily="34" charset="0"/>
                <a:ea typeface="Segoe UI" panose="020B0502040204020203" pitchFamily="34" charset="-122"/>
                <a:cs typeface="Segoe UI" panose="020B0502040204020203" pitchFamily="34" charset="-120"/>
                <a:hlinkClick r:id="rId6" action="ppaction://hlinksldjump"/>
              </a:rPr>
              <a:t>CONTINUE TO SANCTION DECISION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64327"/>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56D4F">
              <a:alpha val="65000"/>
            </a:srgbClr>
          </a:solidFill>
        </p:spPr>
        <p:txBody>
          <a:bodyPr/>
          <a:p/>
        </p:txBody>
      </p:sp>
      <p:sp>
        <p:nvSpPr>
          <p:cNvPr id="3" name="Shape 1"/>
          <p:cNvSpPr/>
          <p:nvPr/>
        </p:nvSpPr>
        <p:spPr>
          <a:xfrm>
            <a:off x="5349240" y="868680"/>
            <a:ext cx="1463040" cy="1463040"/>
          </a:xfrm>
          <a:prstGeom prst="ellipse">
            <a:avLst/>
          </a:prstGeom>
          <a:solidFill>
            <a:srgbClr val="156D4F"/>
          </a:solidFill>
          <a:effectLst>
            <a:outerShdw blurRad="76200" dist="25400" dir="2700000" algn="bl" rotWithShape="0">
              <a:srgbClr val="000000">
                <a:alpha val="8000"/>
              </a:srgbClr>
            </a:outerShdw>
          </a:effectLst>
        </p:spPr>
        <p:txBody>
          <a:bodyPr/>
          <a:p/>
        </p:txBody>
      </p:sp>
      <p:pic>
        <p:nvPicPr>
          <p:cNvPr id="4" name="Image 0" descr="./icons/check_white.png"/>
          <p:cNvPicPr>
            <a:picLocks noChangeAspect="1"/>
          </p:cNvPicPr>
          <p:nvPr/>
        </p:nvPicPr>
        <p:blipFill>
          <a:blip r:embed="rId1"/>
          <a:stretch>
            <a:fillRect/>
          </a:stretch>
        </p:blipFill>
        <p:spPr>
          <a:xfrm>
            <a:off x="5729630" y="1249070"/>
            <a:ext cx="702259" cy="702259"/>
          </a:xfrm>
          <a:prstGeom prst="rect">
            <a:avLst/>
          </a:prstGeom>
        </p:spPr>
      </p:pic>
      <p:sp>
        <p:nvSpPr>
          <p:cNvPr id="5" name="Text 2"/>
          <p:cNvSpPr/>
          <p:nvPr/>
        </p:nvSpPr>
        <p:spPr>
          <a:xfrm>
            <a:off x="640080" y="2651760"/>
            <a:ext cx="10972800" cy="457200"/>
          </a:xfrm>
          <a:prstGeom prst="rect">
            <a:avLst/>
          </a:prstGeom>
          <a:noFill/>
        </p:spPr>
        <p:txBody>
          <a:bodyPr wrap="square" lIns="0" tIns="0" rIns="0" bIns="0" rtlCol="0" anchor="ctr"/>
          <a:lstStyle/>
          <a:p>
            <a:pPr marL="0" indent="0" algn="ctr">
              <a:buNone/>
            </a:pPr>
            <a:r>
              <a:rPr lang="en-US" sz="1400" b="1" kern="0" spc="300" dirty="0">
                <a:solidFill>
                  <a:srgbClr val="5BDCBB"/>
                </a:solidFill>
                <a:latin typeface="Segoe UI" panose="020B0502040204020203" pitchFamily="34" charset="0"/>
                <a:ea typeface="Segoe UI" panose="020B0502040204020203" pitchFamily="34" charset="-122"/>
                <a:cs typeface="Segoe UI" panose="020B0502040204020203" pitchFamily="34" charset="-120"/>
              </a:rPr>
              <a:t>PROJECT SANCTIONED</a:t>
            </a:r>
            <a:endParaRPr lang="en-US" sz="1400" dirty="0"/>
          </a:p>
        </p:txBody>
      </p:sp>
      <p:sp>
        <p:nvSpPr>
          <p:cNvPr id="6" name="Text 3"/>
          <p:cNvSpPr/>
          <p:nvPr/>
        </p:nvSpPr>
        <p:spPr>
          <a:xfrm>
            <a:off x="640080" y="3063240"/>
            <a:ext cx="10972800" cy="731520"/>
          </a:xfrm>
          <a:prstGeom prst="rect">
            <a:avLst/>
          </a:prstGeom>
          <a:noFill/>
        </p:spPr>
        <p:txBody>
          <a:bodyPr wrap="square" lIns="0" tIns="0" rIns="0" bIns="0" rtlCol="0" anchor="ctr"/>
          <a:lstStyle/>
          <a:p>
            <a:pPr marL="0" indent="0" algn="ctr">
              <a:buNone/>
            </a:pPr>
            <a:r>
              <a:t>EcoSphere (VerdantIQ) System — Fully Completed &amp; Verified ✅</a:t>
            </a:r>
            <a:endParaRPr lang="en-US" sz="2600" dirty="0"/>
          </a:p>
        </p:txBody>
      </p:sp>
      <p:sp>
        <p:nvSpPr>
          <p:cNvPr id="7" name="Text 4"/>
          <p:cNvSpPr/>
          <p:nvPr/>
        </p:nvSpPr>
        <p:spPr>
          <a:xfrm>
            <a:off x="640080" y="3931920"/>
            <a:ext cx="10972800" cy="365760"/>
          </a:xfrm>
          <a:prstGeom prst="rect">
            <a:avLst/>
          </a:prstGeom>
          <a:noFill/>
        </p:spPr>
        <p:txBody>
          <a:bodyPr wrap="square" lIns="0" tIns="0" rIns="0" bIns="0" rtlCol="0" anchor="ctr"/>
          <a:lstStyle/>
          <a:p>
            <a:pPr marL="0" indent="0" algn="ctr">
              <a:buNone/>
            </a:pPr>
            <a:r>
              <a:t>Status: 100% Endpoint Verification | Stack: React Spatial UI, Spring Boot 3.2, FastAPI, MongoDB, MinIO S3, Groq AI | Automated PowerShell System Launcher Ready</a:t>
            </a:r>
            <a:endParaRPr lang="en-US" sz="1300" dirty="0"/>
          </a:p>
        </p:txBody>
      </p:sp>
      <p:sp>
        <p:nvSpPr>
          <p:cNvPr id="8" name="Shape 5"/>
          <p:cNvSpPr/>
          <p:nvPr/>
        </p:nvSpPr>
        <p:spPr>
          <a:xfrm>
            <a:off x="4251960" y="4617720"/>
            <a:ext cx="3657600" cy="0"/>
          </a:xfrm>
          <a:prstGeom prst="line">
            <a:avLst/>
          </a:prstGeom>
          <a:noFill/>
          <a:ln w="19050">
            <a:solidFill>
              <a:srgbClr val="156D4F"/>
            </a:solidFill>
            <a:prstDash val="solid"/>
          </a:ln>
        </p:spPr>
        <p:txBody>
          <a:bodyPr/>
          <a:p/>
        </p:txBody>
      </p:sp>
      <p:sp>
        <p:nvSpPr>
          <p:cNvPr id="9" name="Text 6"/>
          <p:cNvSpPr/>
          <p:nvPr/>
        </p:nvSpPr>
        <p:spPr>
          <a:xfrm>
            <a:off x="1188720" y="4846320"/>
            <a:ext cx="9784080" cy="640080"/>
          </a:xfrm>
          <a:prstGeom prst="rect">
            <a:avLst/>
          </a:prstGeom>
          <a:noFill/>
        </p:spPr>
        <p:txBody>
          <a:bodyPr wrap="square" lIns="0" tIns="0" rIns="0" bIns="0" rtlCol="0" anchor="ctr"/>
          <a:lstStyle/>
          <a:p>
            <a:pPr marL="0" indent="0" algn="ctr">
              <a:buNone/>
            </a:pPr>
            <a:r>
              <a:rPr lang="en-US" sz="1450" i="1" dirty="0">
                <a:solidFill>
                  <a:srgbClr val="C7C396"/>
                </a:solidFill>
                <a:latin typeface="Georgia" panose="02040502050405020303" pitchFamily="34" charset="0"/>
                <a:ea typeface="Georgia" panose="02040502050405020303" pitchFamily="34" charset="-122"/>
                <a:cs typeface="Georgia" panose="02040502050405020303" pitchFamily="34" charset="-120"/>
              </a:rPr>
              <a:t>"EcoSphere guides users toward sustainability by analyzing actions, predicting future resource consumption, simulating alternatives via digital twins, and balancing multivariable decisions."</a:t>
            </a:r>
            <a:endParaRPr lang="en-US" sz="1450" dirty="0"/>
          </a:p>
        </p:txBody>
      </p:sp>
      <p:sp>
        <p:nvSpPr>
          <p:cNvPr id="10" name="Shape 7"/>
          <p:cNvSpPr/>
          <p:nvPr/>
        </p:nvSpPr>
        <p:spPr>
          <a:xfrm>
            <a:off x="530352" y="6336792"/>
            <a:ext cx="237744" cy="237744"/>
          </a:xfrm>
          <a:prstGeom prst="ellipse">
            <a:avLst/>
          </a:prstGeom>
          <a:solidFill>
            <a:srgbClr val="156D4F"/>
          </a:solidFill>
        </p:spPr>
        <p:txBody>
          <a:bodyPr/>
          <a:p/>
        </p:txBody>
      </p:sp>
      <p:pic>
        <p:nvPicPr>
          <p:cNvPr id="11" name="Image 1" descr="./icons/grid_white.png">
            <a:hlinkClick r:id="rId3" action="ppaction://hlinksldjump"/>
          </p:cNvPr>
          <p:cNvPicPr>
            <a:picLocks noChangeAspect="1"/>
          </p:cNvPicPr>
          <p:nvPr/>
        </p:nvPicPr>
        <p:blipFill>
          <a:blip r:embed="rId4"/>
          <a:stretch>
            <a:fillRect/>
          </a:stretch>
        </p:blipFill>
        <p:spPr>
          <a:xfrm>
            <a:off x="548640" y="6355080"/>
            <a:ext cx="201168" cy="201168"/>
          </a:xfrm>
          <a:prstGeom prst="rect">
            <a:avLst/>
          </a:prstGeom>
        </p:spPr>
      </p:pic>
      <p:sp>
        <p:nvSpPr>
          <p:cNvPr id="12" name="Text 8">
            <a:hlinkClick r:id="rId3" action="ppaction://hlinksldjump"/>
          </p:cNvPr>
          <p:cNvSpPr/>
          <p:nvPr/>
        </p:nvSpPr>
        <p:spPr>
          <a:xfrm>
            <a:off x="841248" y="6327648"/>
            <a:ext cx="2743200" cy="365760"/>
          </a:xfrm>
          <a:prstGeom prst="rect">
            <a:avLst/>
          </a:prstGeom>
          <a:noFill/>
        </p:spPr>
        <p:txBody>
          <a:bodyPr wrap="square" lIns="0" tIns="0" rIns="0" bIns="0" rtlCol="0" anchor="ctr"/>
          <a:lstStyle/>
          <a:p>
            <a:pPr marL="0" indent="0">
              <a:buNone/>
            </a:pPr>
            <a:r>
              <a:rPr lang="en-US" sz="1100" b="1" u="sng" dirty="0">
                <a:solidFill>
                  <a:srgbClr val="FFFFFF"/>
                </a:solidFill>
                <a:latin typeface="Segoe UI" panose="020B0502040204020203" pitchFamily="34" charset="0"/>
                <a:ea typeface="Segoe UI" panose="020B0502040204020203" pitchFamily="34" charset="-122"/>
                <a:cs typeface="Segoe UI" panose="020B0502040204020203" pitchFamily="34" charset="-120"/>
                <a:hlinkClick r:id="rId3" action="ppaction://hlinksldjump"/>
              </a:rPr>
              <a:t>RETURN TO REVIEW BOARD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18453</Words>
  <Application>WPS Presentation</Application>
  <PresentationFormat>On-screen Show (16:9)</PresentationFormat>
  <Paragraphs>645</Paragraphs>
  <Slides>17</Slides>
  <Notes>17</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Segoe UI</vt:lpstr>
      <vt:lpstr>Segoe UI</vt:lpstr>
      <vt:lpstr>Segoe UI</vt:lpstr>
      <vt:lpstr>Georgia</vt:lpstr>
      <vt:lpstr>Georgia</vt:lpstr>
      <vt:lpstr>Georgia</vt:lpstr>
      <vt:lpstr>Calibri</vt:lpstr>
      <vt:lpstr>Microsoft YaHei</vt:lpstr>
      <vt:lpstr>Arial Unicode MS</vt:lpstr>
      <vt:lpstr>Bahnschrift SemiBold</vt:lpstr>
      <vt:lpstr>Bahnschrift Light SemiCondensed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EcoSphere — Intelligent Environmental Decision Support &amp; Sustainability Intelligence Platform</dc:title>
  <dc:creator>EcoSphere Team</dc:creator>
  <dc:subject>PptxGenJS Presentation</dc:subject>
  <cp:lastModifiedBy>godfr</cp:lastModifiedBy>
  <cp:revision>2</cp:revision>
  <dcterms:created xsi:type="dcterms:W3CDTF">2026-07-10T14:51:00Z</dcterms:created>
  <dcterms:modified xsi:type="dcterms:W3CDTF">2026-07-10T15:03:02Z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1033-12.1.0.26886</vt:lpwstr>
  </property>
  <property fmtid="{D5CDD505-2E9C-101B-9397-08002B2CF9AE}" pid="3" name="ICV">
    <vt:lpwstr>3F5626AA3CBD442D90B64BCC3FCB5E12_12</vt:lpwstr>
  </property>
</Properties>
</file>