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4"/>
  </p:notesMasterIdLst>
  <p:sldIdLst>
    <p:sldId id="256" r:id="rId3"/>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 id="270" r:id="rId18"/>
    <p:sldId id="271" r:id="rId19"/>
    <p:sldId id="272" r:id="rId20"/>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00. Proposal Cover" id="{9dade849-b49e-f8c3-5b39-b54786c29a56}">
          <p14:sldIdLst>
            <p14:sldId id="256"/>
          </p14:sldIdLst>
        </p14:section>
        <p14:section name="01. Evaluation Board" id="{fb77d513-3ace-4b07-bc28-629b5efc52ae}">
          <p14:sldIdLst>
            <p14:sldId id="257"/>
            <p14:sldId id="258"/>
            <p14:sldId id="259"/>
          </p14:sldIdLst>
        </p14:section>
        <p14:section name="02. Strategic Landscape" id="{97542109-e8c4-0d94-44cf-1677693d6abd}">
          <p14:sldIdLst>
            <p14:sldId id="260"/>
          </p14:sldIdLst>
        </p14:section>
        <p14:section name="03. Proximity Handshake" id="{41caef99-0001-9be7-6f5f-d9aabd200a2f}">
          <p14:sldIdLst>
            <p14:sldId id="261"/>
          </p14:sldIdLst>
        </p14:section>
        <p14:section name="04. Core Features" id="{5146c2ec-a7f8-62d8-2fe5-e178145ae06b}">
          <p14:sldIdLst>
            <p14:sldId id="262"/>
          </p14:sldIdLst>
        </p14:section>
        <p14:section name="05. Tech Stack &amp; Diagrams" id="{52f3cd8a-0aee-ecaa-4bdc-0d27582a5383}">
          <p14:sldIdLst>
            <p14:sldId id="263"/>
            <p14:sldId id="264"/>
          </p14:sldIdLst>
        </p14:section>
        <p14:section name="06. Interface &amp; Discovery" id="{268b263c-1e43-5938-580c-2e9fec6de5be}">
          <p14:sldIdLst>
            <p14:sldId id="265"/>
          </p14:sldIdLst>
        </p14:section>
        <p14:section name="07. Security Middleware" id="{b330a5de-2d32-a065-9e5c-d1b12340e029}">
          <p14:sldIdLst>
            <p14:sldId id="266"/>
          </p14:sldIdLst>
        </p14:section>
        <p14:section name="08. Evaluation Metrics" id="{8e75446b-3e09-2f8d-0046-464720bcace1}">
          <p14:sldIdLst>
            <p14:sldId id="267"/>
          </p14:sldIdLst>
        </p14:section>
        <p14:section name="09. Team &amp; Roles" id="{78eebe17-b0bd-22e5-d841-cc6d2a8f7235}">
          <p14:sldIdLst>
            <p14:sldId id="268"/>
          </p14:sldIdLst>
        </p14:section>
        <p14:section name="10. Implementation Plan" id="{3103ab54-8401-b083-c102-19680b51fb09}">
          <p14:sldIdLst>
            <p14:sldId id="269"/>
          </p14:sldIdLst>
        </p14:section>
        <p14:section name="11. R&amp;D Highlights" id="{e94045ed-1db2-1c54-6cc5-f930741a1251}">
          <p14:sldIdLst>
            <p14:sldId id="270"/>
          </p14:sldIdLst>
        </p14:section>
        <p14:section name="12. Panel Verdict" id="{ed757b77-410b-87b9-85a6-1b02980c7a88}">
          <p14:sldIdLst>
            <p14:sldId id="271"/>
            <p14:sldId id="272"/>
          </p14:sldIdLst>
        </p14:section>
      </p14:section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3" Type="http://schemas.openxmlformats.org/officeDocument/2006/relationships/tableStyles" Target="tableStyles.xml"/><Relationship Id="rId22" Type="http://schemas.openxmlformats.org/officeDocument/2006/relationships/viewProps" Target="viewProps.xml"/><Relationship Id="rId21" Type="http://schemas.openxmlformats.org/officeDocument/2006/relationships/presProps" Target="presProps.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5" Type="http://schemas.openxmlformats.org/officeDocument/2006/relationships/notesSlide" Target="../notesSlides/notesSlide1.xml"/><Relationship Id="rId4" Type="http://schemas.openxmlformats.org/officeDocument/2006/relationships/slideLayout" Target="../slideLayouts/slideLayout1.xml"/><Relationship Id="rId3" Type="http://schemas.openxmlformats.org/officeDocument/2006/relationships/slide" Target="slide2.xml"/><Relationship Id="rId2" Type="http://schemas.openxmlformats.org/officeDocument/2006/relationships/image" Target="../media/image2.png"/><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6" Type="http://schemas.openxmlformats.org/officeDocument/2006/relationships/notesSlide" Target="../notesSlides/notesSlide2.xml"/><Relationship Id="rId5" Type="http://schemas.openxmlformats.org/officeDocument/2006/relationships/slideLayout" Target="../slideLayouts/slideLayout1.xml"/><Relationship Id="rId4" Type="http://schemas.openxmlformats.org/officeDocument/2006/relationships/slide" Target="slide3.xml"/><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image" Target="../media/image3.png"/></Relationships>
</file>

<file path=ppt/slides/_rels/slide3.xml.rels><?xml version="1.0" encoding="UTF-8" standalone="yes"?>
<Relationships xmlns="http://schemas.openxmlformats.org/package/2006/relationships"><Relationship Id="rId7" Type="http://schemas.openxmlformats.org/officeDocument/2006/relationships/notesSlide" Target="../notesSlides/notesSlide3.xml"/><Relationship Id="rId6" Type="http://schemas.openxmlformats.org/officeDocument/2006/relationships/slideLayout" Target="../slideLayouts/slideLayout1.xml"/><Relationship Id="rId5" Type="http://schemas.openxmlformats.org/officeDocument/2006/relationships/image" Target="../media/image8.png"/><Relationship Id="rId4" Type="http://schemas.openxmlformats.org/officeDocument/2006/relationships/slide" Target="slide4.xml"/><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image" Target="../media/image5.png"/></Relationships>
</file>

<file path=ppt/slides/_rels/slide4.xml.rels><?xml version="1.0" encoding="UTF-8" standalone="yes"?>
<Relationships xmlns="http://schemas.openxmlformats.org/package/2006/relationships"><Relationship Id="rId9" Type="http://schemas.openxmlformats.org/officeDocument/2006/relationships/slide" Target="slide9.xml"/><Relationship Id="rId8" Type="http://schemas.openxmlformats.org/officeDocument/2006/relationships/image" Target="../media/image4.png"/><Relationship Id="rId7" Type="http://schemas.openxmlformats.org/officeDocument/2006/relationships/slide" Target="slide8.xml"/><Relationship Id="rId6" Type="http://schemas.openxmlformats.org/officeDocument/2006/relationships/image" Target="../media/image11.png"/><Relationship Id="rId5" Type="http://schemas.openxmlformats.org/officeDocument/2006/relationships/slide" Target="slide7.xml"/><Relationship Id="rId4" Type="http://schemas.openxmlformats.org/officeDocument/2006/relationships/image" Target="../media/image10.png"/><Relationship Id="rId3" Type="http://schemas.openxmlformats.org/officeDocument/2006/relationships/slide" Target="slide6.xml"/><Relationship Id="rId26" Type="http://schemas.openxmlformats.org/officeDocument/2006/relationships/notesSlide" Target="../notesSlides/notesSlide4.xml"/><Relationship Id="rId25" Type="http://schemas.openxmlformats.org/officeDocument/2006/relationships/slideLayout" Target="../slideLayouts/slideLayout1.xml"/><Relationship Id="rId24" Type="http://schemas.openxmlformats.org/officeDocument/2006/relationships/image" Target="../media/image6.png"/><Relationship Id="rId23" Type="http://schemas.openxmlformats.org/officeDocument/2006/relationships/slide" Target="slide16.xml"/><Relationship Id="rId22" Type="http://schemas.openxmlformats.org/officeDocument/2006/relationships/image" Target="../media/image1.png"/><Relationship Id="rId21" Type="http://schemas.openxmlformats.org/officeDocument/2006/relationships/slide" Target="slide15.xml"/><Relationship Id="rId20" Type="http://schemas.openxmlformats.org/officeDocument/2006/relationships/image" Target="../media/image7.png"/><Relationship Id="rId2" Type="http://schemas.openxmlformats.org/officeDocument/2006/relationships/image" Target="../media/image9.png"/><Relationship Id="rId19" Type="http://schemas.openxmlformats.org/officeDocument/2006/relationships/slide" Target="slide14.xml"/><Relationship Id="rId18" Type="http://schemas.openxmlformats.org/officeDocument/2006/relationships/image" Target="../media/image2.png"/><Relationship Id="rId17" Type="http://schemas.openxmlformats.org/officeDocument/2006/relationships/slide" Target="slide13.xml"/><Relationship Id="rId16" Type="http://schemas.openxmlformats.org/officeDocument/2006/relationships/image" Target="../media/image5.png"/><Relationship Id="rId15" Type="http://schemas.openxmlformats.org/officeDocument/2006/relationships/slide" Target="slide12.xml"/><Relationship Id="rId14" Type="http://schemas.openxmlformats.org/officeDocument/2006/relationships/image" Target="../media/image14.png"/><Relationship Id="rId13" Type="http://schemas.openxmlformats.org/officeDocument/2006/relationships/slide" Target="slide11.xml"/><Relationship Id="rId12" Type="http://schemas.openxmlformats.org/officeDocument/2006/relationships/image" Target="../media/image13.png"/><Relationship Id="rId11" Type="http://schemas.openxmlformats.org/officeDocument/2006/relationships/slide" Target="slide10.xml"/><Relationship Id="rId10" Type="http://schemas.openxmlformats.org/officeDocument/2006/relationships/image" Target="../media/image12.png"/><Relationship Id="rId1" Type="http://schemas.openxmlformats.org/officeDocument/2006/relationships/slide" Target="slide5.xml"/></Relationships>
</file>

<file path=ppt/slides/_rels/slide5.xml.rels><?xml version="1.0" encoding="UTF-8" standalone="yes"?>
<Relationships xmlns="http://schemas.openxmlformats.org/package/2006/relationships"><Relationship Id="rId4" Type="http://schemas.openxmlformats.org/officeDocument/2006/relationships/notesSlide" Target="../notesSlides/notesSlide5.xml"/><Relationship Id="rId3" Type="http://schemas.openxmlformats.org/officeDocument/2006/relationships/slideLayout" Target="../slideLayouts/slideLayout1.xml"/><Relationship Id="rId2" Type="http://schemas.openxmlformats.org/officeDocument/2006/relationships/image" Target="../media/image15.png"/><Relationship Id="rId1" Type="http://schemas.openxmlformats.org/officeDocument/2006/relationships/slide" Target="slide4.xml"/></Relationships>
</file>

<file path=ppt/slides/_rels/slide6.xml.rels><?xml version="1.0" encoding="UTF-8" standalone="yes"?>
<Relationships xmlns="http://schemas.openxmlformats.org/package/2006/relationships"><Relationship Id="rId4" Type="http://schemas.openxmlformats.org/officeDocument/2006/relationships/notesSlide" Target="../notesSlides/notesSlide6.xml"/><Relationship Id="rId3" Type="http://schemas.openxmlformats.org/officeDocument/2006/relationships/slideLayout" Target="../slideLayouts/slideLayout1.xml"/><Relationship Id="rId2" Type="http://schemas.openxmlformats.org/officeDocument/2006/relationships/image" Target="../media/image15.png"/><Relationship Id="rId1" Type="http://schemas.openxmlformats.org/officeDocument/2006/relationships/slide" Target="slide4.xml"/></Relationships>
</file>

<file path=ppt/slides/_rels/slide7.xml.rels><?xml version="1.0" encoding="UTF-8" standalone="yes"?>
<Relationships xmlns="http://schemas.openxmlformats.org/package/2006/relationships"><Relationship Id="rId7" Type="http://schemas.openxmlformats.org/officeDocument/2006/relationships/notesSlide" Target="../notesSlides/notesSlide7.xml"/><Relationship Id="rId6" Type="http://schemas.openxmlformats.org/officeDocument/2006/relationships/slideLayout" Target="../slideLayouts/slideLayout1.xml"/><Relationship Id="rId5" Type="http://schemas.openxmlformats.org/officeDocument/2006/relationships/image" Target="../media/image15.png"/><Relationship Id="rId4" Type="http://schemas.openxmlformats.org/officeDocument/2006/relationships/slide" Target="slide4.xml"/><Relationship Id="rId3" Type="http://schemas.openxmlformats.org/officeDocument/2006/relationships/image" Target="../media/image4.png"/><Relationship Id="rId2" Type="http://schemas.openxmlformats.org/officeDocument/2006/relationships/image" Target="../media/image16.png"/><Relationship Id="rId1" Type="http://schemas.openxmlformats.org/officeDocument/2006/relationships/image" Target="../media/image11.png"/></Relationships>
</file>

<file path=ppt/slides/_rels/slide8.xml.rels><?xml version="1.0" encoding="UTF-8" standalone="yes"?>
<Relationships xmlns="http://schemas.openxmlformats.org/package/2006/relationships"><Relationship Id="rId7" Type="http://schemas.openxmlformats.org/officeDocument/2006/relationships/notesSlide" Target="../notesSlides/notesSlide8.xml"/><Relationship Id="rId6" Type="http://schemas.openxmlformats.org/officeDocument/2006/relationships/slideLayout" Target="../slideLayouts/slideLayout1.xml"/><Relationship Id="rId5" Type="http://schemas.openxmlformats.org/officeDocument/2006/relationships/image" Target="../media/image15.png"/><Relationship Id="rId4" Type="http://schemas.openxmlformats.org/officeDocument/2006/relationships/slide" Target="slide4.xml"/><Relationship Id="rId3" Type="http://schemas.openxmlformats.org/officeDocument/2006/relationships/image" Target="../media/image12.png"/><Relationship Id="rId2" Type="http://schemas.openxmlformats.org/officeDocument/2006/relationships/slide" Target="slide9.xml"/><Relationship Id="rId1" Type="http://schemas.openxmlformats.org/officeDocument/2006/relationships/image" Target="../media/image16.png"/></Relationships>
</file>

<file path=ppt/slides/_rels/slide9.xml.rels><?xml version="1.0" encoding="UTF-8" standalone="yes"?>
<Relationships xmlns="http://schemas.openxmlformats.org/package/2006/relationships"><Relationship Id="rId5" Type="http://schemas.openxmlformats.org/officeDocument/2006/relationships/notesSlide" Target="../notesSlides/notesSlide9.xml"/><Relationship Id="rId4" Type="http://schemas.openxmlformats.org/officeDocument/2006/relationships/slideLayout" Target="../slideLayouts/slideLayout1.xml"/><Relationship Id="rId3" Type="http://schemas.openxmlformats.org/officeDocument/2006/relationships/image" Target="../media/image15.png"/><Relationship Id="rId2" Type="http://schemas.openxmlformats.org/officeDocument/2006/relationships/slide" Target="slide4.xml"/><Relationship Id="rId1" Type="http://schemas.openxmlformats.org/officeDocument/2006/relationships/image" Target="../media/image17.png"/></Relationships>
</file>

<file path=ppt/slides/_rels/slide10.xml.rels><?xml version="1.0" encoding="UTF-8" standalone="yes"?>
<Relationships xmlns="http://schemas.openxmlformats.org/package/2006/relationships"><Relationship Id="rId7" Type="http://schemas.openxmlformats.org/officeDocument/2006/relationships/notesSlide" Target="../notesSlides/notesSlide10.xml"/><Relationship Id="rId6" Type="http://schemas.openxmlformats.org/officeDocument/2006/relationships/slideLayout" Target="../slideLayouts/slideLayout1.xml"/><Relationship Id="rId5" Type="http://schemas.openxmlformats.org/officeDocument/2006/relationships/image" Target="../media/image15.png"/><Relationship Id="rId4" Type="http://schemas.openxmlformats.org/officeDocument/2006/relationships/slide" Target="slide4.xml"/><Relationship Id="rId3" Type="http://schemas.openxmlformats.org/officeDocument/2006/relationships/image" Target="../media/image10.png"/><Relationship Id="rId2" Type="http://schemas.openxmlformats.org/officeDocument/2006/relationships/image" Target="../media/image16.png"/><Relationship Id="rId1" Type="http://schemas.openxmlformats.org/officeDocument/2006/relationships/image" Target="../media/image18.png"/></Relationships>
</file>

<file path=ppt/slides/_rels/slide11.xml.rels><?xml version="1.0" encoding="UTF-8" standalone="yes"?>
<Relationships xmlns="http://schemas.openxmlformats.org/package/2006/relationships"><Relationship Id="rId7" Type="http://schemas.openxmlformats.org/officeDocument/2006/relationships/notesSlide" Target="../notesSlides/notesSlide11.xml"/><Relationship Id="rId6" Type="http://schemas.openxmlformats.org/officeDocument/2006/relationships/slideLayout" Target="../slideLayouts/slideLayout1.xml"/><Relationship Id="rId5" Type="http://schemas.openxmlformats.org/officeDocument/2006/relationships/image" Target="../media/image15.png"/><Relationship Id="rId4" Type="http://schemas.openxmlformats.org/officeDocument/2006/relationships/slide" Target="slide4.xml"/><Relationship Id="rId3" Type="http://schemas.openxmlformats.org/officeDocument/2006/relationships/image" Target="../media/image20.png"/><Relationship Id="rId2" Type="http://schemas.openxmlformats.org/officeDocument/2006/relationships/image" Target="../media/image16.png"/><Relationship Id="rId1" Type="http://schemas.openxmlformats.org/officeDocument/2006/relationships/image" Target="../media/image19.png"/></Relationships>
</file>

<file path=ppt/slides/_rels/slide12.xml.rels><?xml version="1.0" encoding="UTF-8" standalone="yes"?>
<Relationships xmlns="http://schemas.openxmlformats.org/package/2006/relationships"><Relationship Id="rId6" Type="http://schemas.openxmlformats.org/officeDocument/2006/relationships/notesSlide" Target="../notesSlides/notesSlide12.xml"/><Relationship Id="rId5" Type="http://schemas.openxmlformats.org/officeDocument/2006/relationships/slideLayout" Target="../slideLayouts/slideLayout1.xml"/><Relationship Id="rId4" Type="http://schemas.openxmlformats.org/officeDocument/2006/relationships/image" Target="../media/image15.png"/><Relationship Id="rId3" Type="http://schemas.openxmlformats.org/officeDocument/2006/relationships/slide" Target="slide4.xml"/><Relationship Id="rId2" Type="http://schemas.openxmlformats.org/officeDocument/2006/relationships/image" Target="../media/image16.png"/><Relationship Id="rId1" Type="http://schemas.openxmlformats.org/officeDocument/2006/relationships/image" Target="../media/image21.png"/></Relationships>
</file>

<file path=ppt/slides/_rels/slide13.xml.rels><?xml version="1.0" encoding="UTF-8" standalone="yes"?>
<Relationships xmlns="http://schemas.openxmlformats.org/package/2006/relationships"><Relationship Id="rId8" Type="http://schemas.openxmlformats.org/officeDocument/2006/relationships/notesSlide" Target="../notesSlides/notesSlide13.xml"/><Relationship Id="rId7" Type="http://schemas.openxmlformats.org/officeDocument/2006/relationships/slideLayout" Target="../slideLayouts/slideLayout1.xml"/><Relationship Id="rId6" Type="http://schemas.openxmlformats.org/officeDocument/2006/relationships/image" Target="../media/image15.png"/><Relationship Id="rId5" Type="http://schemas.openxmlformats.org/officeDocument/2006/relationships/slide" Target="slide4.xml"/><Relationship Id="rId4" Type="http://schemas.openxmlformats.org/officeDocument/2006/relationships/image" Target="../media/image1.png"/><Relationship Id="rId3" Type="http://schemas.openxmlformats.org/officeDocument/2006/relationships/image" Target="../media/image19.png"/><Relationship Id="rId2" Type="http://schemas.openxmlformats.org/officeDocument/2006/relationships/image" Target="../media/image21.png"/><Relationship Id="rId1" Type="http://schemas.openxmlformats.org/officeDocument/2006/relationships/image" Target="../media/image18.png"/></Relationships>
</file>

<file path=ppt/slides/_rels/slide14.xml.rels><?xml version="1.0" encoding="UTF-8" standalone="yes"?>
<Relationships xmlns="http://schemas.openxmlformats.org/package/2006/relationships"><Relationship Id="rId9" Type="http://schemas.openxmlformats.org/officeDocument/2006/relationships/notesSlide" Target="../notesSlides/notesSlide14.xml"/><Relationship Id="rId8" Type="http://schemas.openxmlformats.org/officeDocument/2006/relationships/slideLayout" Target="../slideLayouts/slideLayout1.xml"/><Relationship Id="rId7" Type="http://schemas.openxmlformats.org/officeDocument/2006/relationships/image" Target="../media/image15.png"/><Relationship Id="rId6" Type="http://schemas.openxmlformats.org/officeDocument/2006/relationships/slide" Target="slide4.xml"/><Relationship Id="rId5" Type="http://schemas.openxmlformats.org/officeDocument/2006/relationships/image" Target="../media/image24.png"/><Relationship Id="rId4" Type="http://schemas.openxmlformats.org/officeDocument/2006/relationships/image" Target="../media/image16.png"/><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image" Target="../media/image19.png"/></Relationships>
</file>

<file path=ppt/slides/_rels/slide15.xml.rels><?xml version="1.0" encoding="UTF-8" standalone="yes"?>
<Relationships xmlns="http://schemas.openxmlformats.org/package/2006/relationships"><Relationship Id="rId7" Type="http://schemas.openxmlformats.org/officeDocument/2006/relationships/notesSlide" Target="../notesSlides/notesSlide15.xml"/><Relationship Id="rId6" Type="http://schemas.openxmlformats.org/officeDocument/2006/relationships/slideLayout" Target="../slideLayouts/slideLayout1.xml"/><Relationship Id="rId5" Type="http://schemas.openxmlformats.org/officeDocument/2006/relationships/image" Target="../media/image15.png"/><Relationship Id="rId4" Type="http://schemas.openxmlformats.org/officeDocument/2006/relationships/slide" Target="slide4.xml"/><Relationship Id="rId3" Type="http://schemas.openxmlformats.org/officeDocument/2006/relationships/image" Target="../media/image3.png"/><Relationship Id="rId2" Type="http://schemas.openxmlformats.org/officeDocument/2006/relationships/image" Target="../media/image16.png"/><Relationship Id="rId1" Type="http://schemas.openxmlformats.org/officeDocument/2006/relationships/image" Target="../media/image25.png"/></Relationships>
</file>

<file path=ppt/slides/_rels/slide16.xml.rels><?xml version="1.0" encoding="UTF-8" standalone="yes"?>
<Relationships xmlns="http://schemas.openxmlformats.org/package/2006/relationships"><Relationship Id="rId8" Type="http://schemas.openxmlformats.org/officeDocument/2006/relationships/notesSlide" Target="../notesSlides/notesSlide16.xml"/><Relationship Id="rId7" Type="http://schemas.openxmlformats.org/officeDocument/2006/relationships/slideLayout" Target="../slideLayouts/slideLayout1.xml"/><Relationship Id="rId6" Type="http://schemas.openxmlformats.org/officeDocument/2006/relationships/slide" Target="slide17.xml"/><Relationship Id="rId5" Type="http://schemas.openxmlformats.org/officeDocument/2006/relationships/image" Target="../media/image15.png"/><Relationship Id="rId4" Type="http://schemas.openxmlformats.org/officeDocument/2006/relationships/slide" Target="slide4.xml"/><Relationship Id="rId3" Type="http://schemas.openxmlformats.org/officeDocument/2006/relationships/image" Target="../media/image26.png"/><Relationship Id="rId2" Type="http://schemas.openxmlformats.org/officeDocument/2006/relationships/image" Target="../media/image21.png"/><Relationship Id="rId1" Type="http://schemas.openxmlformats.org/officeDocument/2006/relationships/image" Target="../media/image13.png"/></Relationships>
</file>

<file path=ppt/slides/_rels/slide17.xml.rels><?xml version="1.0" encoding="UTF-8" standalone="yes"?>
<Relationships xmlns="http://schemas.openxmlformats.org/package/2006/relationships"><Relationship Id="rId6" Type="http://schemas.openxmlformats.org/officeDocument/2006/relationships/notesSlide" Target="../notesSlides/notesSlide17.xml"/><Relationship Id="rId5" Type="http://schemas.openxmlformats.org/officeDocument/2006/relationships/slideLayout" Target="../slideLayouts/slideLayout1.xml"/><Relationship Id="rId4" Type="http://schemas.openxmlformats.org/officeDocument/2006/relationships/image" Target="../media/image8.png"/><Relationship Id="rId3" Type="http://schemas.openxmlformats.org/officeDocument/2006/relationships/slide" Target="slide4.xml"/><Relationship Id="rId2" Type="http://schemas.openxmlformats.org/officeDocument/2006/relationships/hyperlink" Target="https://github.com/TheOrionGD/VerdantIQ" TargetMode="External"/><Relationship Id="rId1" Type="http://schemas.openxmlformats.org/officeDocument/2006/relationships/image" Target="../media/image6.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364327"/>
        </a:solidFill>
        <a:effectLst/>
      </p:bgPr>
    </p:bg>
    <p:spTree>
      <p:nvGrpSpPr>
        <p:cNvPr id="1" name=""/>
        <p:cNvGrpSpPr/>
        <p:nvPr/>
      </p:nvGrpSpPr>
      <p:grpSpPr>
        <a:xfrm>
          <a:off x="0" y="0"/>
          <a:ext cx="0" cy="0"/>
          <a:chOff x="0" y="0"/>
          <a:chExt cx="0" cy="0"/>
        </a:xfrm>
      </p:grpSpPr>
      <p:sp>
        <p:nvSpPr>
          <p:cNvPr id="2" name="Shape 0"/>
          <p:cNvSpPr/>
          <p:nvPr/>
        </p:nvSpPr>
        <p:spPr>
          <a:xfrm>
            <a:off x="8869680" y="-1463040"/>
            <a:ext cx="4754880" cy="4754880"/>
          </a:xfrm>
          <a:prstGeom prst="ellipse">
            <a:avLst/>
          </a:prstGeom>
          <a:solidFill>
            <a:srgbClr val="57926E">
              <a:alpha val="70000"/>
            </a:srgbClr>
          </a:solidFill>
        </p:spPr>
      </p:sp>
      <p:sp>
        <p:nvSpPr>
          <p:cNvPr id="3" name="Shape 1"/>
          <p:cNvSpPr/>
          <p:nvPr/>
        </p:nvSpPr>
        <p:spPr>
          <a:xfrm>
            <a:off x="10607040" y="3291840"/>
            <a:ext cx="3291840" cy="3291840"/>
          </a:xfrm>
          <a:prstGeom prst="ellipse">
            <a:avLst/>
          </a:prstGeom>
          <a:solidFill>
            <a:srgbClr val="156D4F">
              <a:alpha val="50000"/>
            </a:srgbClr>
          </a:solidFill>
        </p:spPr>
      </p:sp>
      <p:sp>
        <p:nvSpPr>
          <p:cNvPr id="4" name="Text 2"/>
          <p:cNvSpPr/>
          <p:nvPr/>
        </p:nvSpPr>
        <p:spPr>
          <a:xfrm>
            <a:off x="731520" y="777240"/>
            <a:ext cx="8229600" cy="320040"/>
          </a:xfrm>
          <a:prstGeom prst="rect">
            <a:avLst/>
          </a:prstGeom>
          <a:noFill/>
        </p:spPr>
        <p:txBody>
          <a:bodyPr wrap="square" lIns="0" tIns="0" rIns="0" bIns="0" rtlCol="0" anchor="ctr"/>
          <a:lstStyle/>
          <a:p>
            <a:pPr marL="0" indent="0">
              <a:buNone/>
            </a:pPr>
            <a:r>
              <a:rPr lang="en-US" sz="1200" b="1" kern="0" spc="200" dirty="0">
                <a:solidFill>
                  <a:srgbClr val="5BDCBB"/>
                </a:solidFill>
                <a:latin typeface="Segoe UI" panose="020B0502040204020203" pitchFamily="34" charset="0"/>
                <a:ea typeface="Segoe UI" panose="020B0502040204020203" pitchFamily="34" charset="-122"/>
                <a:cs typeface="Segoe UI" panose="020B0502040204020203" pitchFamily="34" charset="-120"/>
              </a:rPr>
              <a:t>RESEARCH &amp; DEVELOPMENT PROPOSAL  ·  ENVIRONMENTAL INTELLIGENCE</a:t>
            </a:r>
            <a:endParaRPr lang="en-US" sz="1200" dirty="0"/>
          </a:p>
        </p:txBody>
      </p:sp>
      <p:sp>
        <p:nvSpPr>
          <p:cNvPr id="5" name="Shape 3"/>
          <p:cNvSpPr/>
          <p:nvPr/>
        </p:nvSpPr>
        <p:spPr>
          <a:xfrm>
            <a:off x="731520" y="1234440"/>
            <a:ext cx="868680" cy="868680"/>
          </a:xfrm>
          <a:prstGeom prst="ellipse">
            <a:avLst/>
          </a:prstGeom>
          <a:solidFill>
            <a:srgbClr val="156D4F"/>
          </a:solidFill>
          <a:effectLst>
            <a:outerShdw blurRad="76200" dist="25400" dir="2700000" algn="bl" rotWithShape="0">
              <a:srgbClr val="000000">
                <a:alpha val="8000"/>
              </a:srgbClr>
            </a:outerShdw>
          </a:effectLst>
        </p:spPr>
      </p:sp>
      <p:pic>
        <p:nvPicPr>
          <p:cNvPr id="6" name="Image 0" descr="./icons/brain_white.png"/>
          <p:cNvPicPr>
            <a:picLocks noChangeAspect="1"/>
          </p:cNvPicPr>
          <p:nvPr/>
        </p:nvPicPr>
        <p:blipFill>
          <a:blip r:embed="rId1"/>
          <a:stretch>
            <a:fillRect/>
          </a:stretch>
        </p:blipFill>
        <p:spPr>
          <a:xfrm>
            <a:off x="957377" y="1460297"/>
            <a:ext cx="416966" cy="416966"/>
          </a:xfrm>
          <a:prstGeom prst="rect">
            <a:avLst/>
          </a:prstGeom>
        </p:spPr>
      </p:pic>
      <p:sp>
        <p:nvSpPr>
          <p:cNvPr id="7" name="Text 4"/>
          <p:cNvSpPr/>
          <p:nvPr/>
        </p:nvSpPr>
        <p:spPr>
          <a:xfrm>
            <a:off x="685800" y="2240280"/>
            <a:ext cx="8686800" cy="1188720"/>
          </a:xfrm>
          <a:prstGeom prst="rect">
            <a:avLst/>
          </a:prstGeom>
          <a:noFill/>
        </p:spPr>
        <p:txBody>
          <a:bodyPr wrap="square" lIns="0" tIns="0" rIns="0" bIns="0" rtlCol="0" anchor="ctr"/>
          <a:lstStyle/>
          <a:p>
            <a:pPr marL="0" indent="0">
              <a:buNone/>
            </a:pPr>
            <a:r>
              <a:rPr lang="en-US" sz="6000" b="1" dirty="0">
                <a:solidFill>
                  <a:srgbClr val="5BDCBB"/>
                </a:solidFill>
                <a:latin typeface="Georgia" panose="02040502050405020303" pitchFamily="34" charset="0"/>
                <a:ea typeface="Georgia" panose="02040502050405020303" pitchFamily="34" charset="-122"/>
                <a:cs typeface="Georgia" panose="02040502050405020303" pitchFamily="34" charset="-120"/>
              </a:rPr>
              <a:t>ECOSPHERE</a:t>
            </a:r>
            <a:endParaRPr lang="en-US" sz="6000" dirty="0"/>
          </a:p>
        </p:txBody>
      </p:sp>
      <p:sp>
        <p:nvSpPr>
          <p:cNvPr id="8" name="Text 5"/>
          <p:cNvSpPr/>
          <p:nvPr/>
        </p:nvSpPr>
        <p:spPr>
          <a:xfrm>
            <a:off x="731520" y="3291840"/>
            <a:ext cx="8961120" cy="457200"/>
          </a:xfrm>
          <a:prstGeom prst="rect">
            <a:avLst/>
          </a:prstGeom>
          <a:noFill/>
        </p:spPr>
        <p:txBody>
          <a:bodyPr wrap="square" lIns="0" tIns="0" rIns="0" bIns="0" rtlCol="0" anchor="ctr"/>
          <a:lstStyle/>
          <a:p>
            <a:pPr marL="0" indent="0">
              <a:buNone/>
            </a:pPr>
            <a:r>
              <a:rPr lang="en-US" sz="1600" i="1" dirty="0">
                <a:solidFill>
                  <a:srgbClr val="C7C396"/>
                </a:solidFill>
                <a:latin typeface="Segoe UI" panose="020B0502040204020203" pitchFamily="34" charset="0"/>
                <a:ea typeface="Segoe UI" panose="020B0502040204020203" pitchFamily="34" charset="-122"/>
                <a:cs typeface="Segoe UI" panose="020B0502040204020203" pitchFamily="34" charset="-120"/>
              </a:rPr>
              <a:t>Intelligent Environmental Decision Support &amp; Sustainability Intelligence Platform</a:t>
            </a:r>
            <a:endParaRPr lang="en-US" sz="1600" dirty="0"/>
          </a:p>
        </p:txBody>
      </p:sp>
      <p:sp>
        <p:nvSpPr>
          <p:cNvPr id="9" name="Shape 6"/>
          <p:cNvSpPr/>
          <p:nvPr/>
        </p:nvSpPr>
        <p:spPr>
          <a:xfrm>
            <a:off x="731520" y="3931920"/>
            <a:ext cx="6949440" cy="0"/>
          </a:xfrm>
          <a:prstGeom prst="line">
            <a:avLst/>
          </a:prstGeom>
          <a:noFill/>
          <a:ln w="19050">
            <a:solidFill>
              <a:srgbClr val="5BDCBB"/>
            </a:solidFill>
            <a:prstDash val="solid"/>
          </a:ln>
        </p:spPr>
      </p:sp>
      <p:sp>
        <p:nvSpPr>
          <p:cNvPr id="10" name="Text 7"/>
          <p:cNvSpPr/>
          <p:nvPr/>
        </p:nvSpPr>
        <p:spPr>
          <a:xfrm>
            <a:off x="731520" y="4114800"/>
            <a:ext cx="8961120" cy="365760"/>
          </a:xfrm>
          <a:prstGeom prst="rect">
            <a:avLst/>
          </a:prstGeom>
          <a:noFill/>
        </p:spPr>
        <p:txBody>
          <a:bodyPr wrap="square" lIns="0" tIns="0" rIns="0" bIns="0" rtlCol="0" anchor="ctr"/>
          <a:lstStyle/>
          <a:p>
            <a:pPr marL="0" indent="0">
              <a:buNone/>
            </a:pPr>
            <a:r>
              <a:rPr lang="en-US" sz="1400" b="1" dirty="0">
                <a:solidFill>
                  <a:srgbClr val="5BDCBB"/>
                </a:solidFill>
                <a:latin typeface="Segoe UI" panose="020B0502040204020203" pitchFamily="34" charset="0"/>
                <a:ea typeface="Segoe UI" panose="020B0502040204020203" pitchFamily="34" charset="-122"/>
                <a:cs typeface="Segoe UI" panose="020B0502040204020203" pitchFamily="34" charset="-120"/>
              </a:rPr>
              <a:t>Proposal Focus:  </a:t>
            </a:r>
            <a:r>
              <a:rPr lang="en-US" sz="1400" dirty="0">
                <a:solidFill>
                  <a:srgbClr val="FFFFFF"/>
                </a:solidFill>
                <a:latin typeface="Segoe UI" panose="020B0502040204020203" pitchFamily="34" charset="0"/>
                <a:ea typeface="Segoe UI" panose="020B0502040204020203" pitchFamily="34" charset="-122"/>
                <a:cs typeface="Segoe UI" panose="020B0502040204020203" pitchFamily="34" charset="-120"/>
              </a:rPr>
              <a:t>Predictive Analytics, Multi-Resource Optimization &amp; Explainable AI</a:t>
            </a:r>
            <a:endParaRPr lang="en-US" sz="1400" dirty="0"/>
          </a:p>
        </p:txBody>
      </p:sp>
      <p:sp>
        <p:nvSpPr>
          <p:cNvPr id="11" name="Text 8"/>
          <p:cNvSpPr/>
          <p:nvPr/>
        </p:nvSpPr>
        <p:spPr>
          <a:xfrm>
            <a:off x="731520" y="4480560"/>
            <a:ext cx="9144000" cy="365760"/>
          </a:xfrm>
          <a:prstGeom prst="rect">
            <a:avLst/>
          </a:prstGeom>
          <a:noFill/>
        </p:spPr>
        <p:txBody>
          <a:bodyPr wrap="square" lIns="0" tIns="0" rIns="0" bIns="0" rtlCol="0" anchor="ctr"/>
          <a:lstStyle/>
          <a:p>
            <a:pPr marL="0" indent="0">
              <a:buNone/>
            </a:pPr>
            <a:r>
              <a:rPr lang="en-US" sz="1350" b="1" dirty="0">
                <a:solidFill>
                  <a:srgbClr val="5BDCBB"/>
                </a:solidFill>
                <a:latin typeface="Segoe UI" panose="020B0502040204020203" pitchFamily="34" charset="0"/>
                <a:ea typeface="Segoe UI" panose="020B0502040204020203" pitchFamily="34" charset="-122"/>
                <a:cs typeface="Segoe UI" panose="020B0502040204020203" pitchFamily="34" charset="-120"/>
              </a:rPr>
              <a:t>Core Stack:  </a:t>
            </a:r>
            <a:r>
              <a:rPr lang="en-US" sz="1350" dirty="0">
                <a:solidFill>
                  <a:srgbClr val="FFFFFF"/>
                </a:solidFill>
                <a:latin typeface="Segoe UI" panose="020B0502040204020203" pitchFamily="34" charset="0"/>
                <a:ea typeface="Segoe UI" panose="020B0502040204020203" pitchFamily="34" charset="-122"/>
                <a:cs typeface="Segoe UI" panose="020B0502040204020203" pitchFamily="34" charset="-120"/>
              </a:rPr>
              <a:t>React.js · Spring Boot 3 · PostgreSQL · FastAPI · Google OR-Tools · Gemini API</a:t>
            </a:r>
            <a:endParaRPr lang="en-US" sz="1350" dirty="0"/>
          </a:p>
        </p:txBody>
      </p:sp>
      <p:sp>
        <p:nvSpPr>
          <p:cNvPr id="12" name="Text 9"/>
          <p:cNvSpPr/>
          <p:nvPr/>
        </p:nvSpPr>
        <p:spPr>
          <a:xfrm>
            <a:off x="731520" y="4892040"/>
            <a:ext cx="8686800" cy="320040"/>
          </a:xfrm>
          <a:prstGeom prst="rect">
            <a:avLst/>
          </a:prstGeom>
          <a:noFill/>
        </p:spPr>
        <p:txBody>
          <a:bodyPr wrap="square" lIns="0" tIns="0" rIns="0" bIns="0" rtlCol="0" anchor="ctr"/>
          <a:lstStyle/>
          <a:p>
            <a:pPr marL="0" indent="0">
              <a:buNone/>
            </a:pPr>
            <a:r>
              <a:rPr lang="en-US" sz="1100" dirty="0">
                <a:solidFill>
                  <a:srgbClr val="C7C396"/>
                </a:solidFill>
                <a:latin typeface="Segoe UI" panose="020B0502040204020203" pitchFamily="34" charset="0"/>
                <a:ea typeface="Segoe UI" panose="020B0502040204020203" pitchFamily="34" charset="-122"/>
                <a:cs typeface="Segoe UI" panose="020B0502040204020203" pitchFamily="34" charset="-120"/>
              </a:rPr>
              <a:t>Continuous Behaviour Learning  ·  XGBoost Prediction  ·  Multi-Objective Decision Support</a:t>
            </a:r>
            <a:endParaRPr lang="en-US" sz="1100" dirty="0"/>
          </a:p>
        </p:txBody>
      </p:sp>
      <p:sp>
        <p:nvSpPr>
          <p:cNvPr id="13" name="Shape 10"/>
          <p:cNvSpPr/>
          <p:nvPr/>
        </p:nvSpPr>
        <p:spPr>
          <a:xfrm>
            <a:off x="731520" y="5623560"/>
            <a:ext cx="7863840" cy="685800"/>
          </a:xfrm>
          <a:prstGeom prst="roundRect">
            <a:avLst>
              <a:gd name="adj" fmla="val 13333"/>
            </a:avLst>
          </a:prstGeom>
          <a:solidFill>
            <a:srgbClr val="156D4F"/>
          </a:solidFill>
          <a:ln w="12700">
            <a:solidFill>
              <a:srgbClr val="57926E"/>
            </a:solidFill>
            <a:prstDash val="solid"/>
          </a:ln>
        </p:spPr>
      </p:sp>
      <p:pic>
        <p:nvPicPr>
          <p:cNvPr id="14" name="Image 1" descr="./icons/clipboard_white.png"/>
          <p:cNvPicPr>
            <a:picLocks noChangeAspect="1"/>
          </p:cNvPicPr>
          <p:nvPr/>
        </p:nvPicPr>
        <p:blipFill>
          <a:blip r:embed="rId2"/>
          <a:stretch>
            <a:fillRect/>
          </a:stretch>
        </p:blipFill>
        <p:spPr>
          <a:xfrm>
            <a:off x="914400" y="5779008"/>
            <a:ext cx="365760" cy="365760"/>
          </a:xfrm>
          <a:prstGeom prst="rect">
            <a:avLst/>
          </a:prstGeom>
        </p:spPr>
      </p:pic>
      <p:sp>
        <p:nvSpPr>
          <p:cNvPr id="15" name="Text 11"/>
          <p:cNvSpPr/>
          <p:nvPr/>
        </p:nvSpPr>
        <p:spPr>
          <a:xfrm>
            <a:off x="1417320" y="5623560"/>
            <a:ext cx="6949440" cy="685800"/>
          </a:xfrm>
          <a:prstGeom prst="rect">
            <a:avLst/>
          </a:prstGeom>
          <a:noFill/>
        </p:spPr>
        <p:txBody>
          <a:bodyPr wrap="square" lIns="0" tIns="0" rIns="0" bIns="0" rtlCol="0" anchor="ctr"/>
          <a:lstStyle/>
          <a:p>
            <a:pPr marL="0" indent="0">
              <a:buNone/>
            </a:pPr>
            <a:r>
              <a:rPr lang="en-US" sz="1300" i="1" dirty="0">
                <a:solidFill>
                  <a:srgbClr val="FFFFFF"/>
                </a:solidFill>
                <a:latin typeface="Segoe UI" panose="020B0502040204020203" pitchFamily="34" charset="0"/>
                <a:ea typeface="Segoe UI" panose="020B0502040204020203" pitchFamily="34" charset="-122"/>
                <a:cs typeface="Segoe UI" panose="020B0502040204020203" pitchFamily="34" charset="-120"/>
              </a:rPr>
              <a:t>Intelligent Reference Implementation for Institutional &amp; Household Sustainability →</a:t>
            </a:r>
            <a:endParaRPr lang="en-US" sz="1300" dirty="0"/>
          </a:p>
        </p:txBody>
      </p:sp>
      <p:sp>
        <p:nvSpPr>
          <p:cNvPr id="16" name="Text 12">
            <a:hlinkClick r:id="rId3" action="ppaction://hlinksldjump"/>
          </p:cNvPr>
          <p:cNvSpPr/>
          <p:nvPr/>
        </p:nvSpPr>
        <p:spPr>
          <a:xfrm>
            <a:off x="8503920" y="6400800"/>
            <a:ext cx="3017520" cy="274320"/>
          </a:xfrm>
          <a:prstGeom prst="rect">
            <a:avLst/>
          </a:prstGeom>
          <a:noFill/>
        </p:spPr>
        <p:txBody>
          <a:bodyPr wrap="square" lIns="0" tIns="0" rIns="0" bIns="0" rtlCol="0" anchor="ctr"/>
          <a:lstStyle/>
          <a:p>
            <a:pPr marL="0" indent="0" algn="r">
              <a:buNone/>
            </a:pPr>
            <a:r>
              <a:rPr lang="en-US" sz="1000" u="sng" dirty="0">
                <a:solidFill>
                  <a:srgbClr val="C7C396"/>
                </a:solidFill>
                <a:latin typeface="Segoe UI" panose="020B0502040204020203" pitchFamily="34" charset="0"/>
                <a:ea typeface="Segoe UI" panose="020B0502040204020203" pitchFamily="34" charset="-122"/>
                <a:cs typeface="Segoe UI" panose="020B0502040204020203" pitchFamily="34" charset="-120"/>
                <a:hlinkClick r:id="rId3" action="ppaction://hlinksldjump"/>
              </a:rPr>
              <a:t>CLICK ANY ELEMENT TO BEGIN  ›</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364327"/>
        </a:solidFill>
        <a:effectLst/>
      </p:bgPr>
    </p:bg>
    <p:spTree>
      <p:nvGrpSpPr>
        <p:cNvPr id="1" name=""/>
        <p:cNvGrpSpPr/>
        <p:nvPr/>
      </p:nvGrpSpPr>
      <p:grpSpPr>
        <a:xfrm>
          <a:off x="0" y="0"/>
          <a:ext cx="0" cy="0"/>
          <a:chOff x="0" y="0"/>
          <a:chExt cx="0" cy="0"/>
        </a:xfrm>
      </p:grpSpPr>
      <p:sp>
        <p:nvSpPr>
          <p:cNvPr id="2" name="Shape 0"/>
          <p:cNvSpPr/>
          <p:nvPr/>
        </p:nvSpPr>
        <p:spPr>
          <a:xfrm>
            <a:off x="-1828800" y="3840480"/>
            <a:ext cx="5486400" cy="5486400"/>
          </a:xfrm>
          <a:prstGeom prst="ellipse">
            <a:avLst/>
          </a:prstGeom>
          <a:solidFill>
            <a:srgbClr val="156D4F">
              <a:alpha val="60000"/>
            </a:srgbClr>
          </a:solidFill>
        </p:spPr>
      </p:sp>
      <p:sp>
        <p:nvSpPr>
          <p:cNvPr id="3" name="Text 1"/>
          <p:cNvSpPr/>
          <p:nvPr/>
        </p:nvSpPr>
        <p:spPr>
          <a:xfrm>
            <a:off x="731520" y="777240"/>
            <a:ext cx="5486400" cy="274320"/>
          </a:xfrm>
          <a:prstGeom prst="rect">
            <a:avLst/>
          </a:prstGeom>
          <a:noFill/>
        </p:spPr>
        <p:txBody>
          <a:bodyPr wrap="square" lIns="0" tIns="0" rIns="0" bIns="0" rtlCol="0" anchor="ctr"/>
          <a:lstStyle/>
          <a:p>
            <a:pPr marL="0" indent="0">
              <a:buNone/>
            </a:pPr>
            <a:r>
              <a:rPr lang="en-US" sz="1200" b="1" kern="0" spc="200" dirty="0">
                <a:solidFill>
                  <a:srgbClr val="5BDCBB"/>
                </a:solidFill>
                <a:latin typeface="Segoe UI" panose="020B0502040204020203" pitchFamily="34" charset="0"/>
                <a:ea typeface="Segoe UI" panose="020B0502040204020203" pitchFamily="34" charset="-122"/>
                <a:cs typeface="Segoe UI" panose="020B0502040204020203" pitchFamily="34" charset="-120"/>
              </a:rPr>
              <a:t>EVALUATION BOARD</a:t>
            </a:r>
            <a:endParaRPr lang="en-US" sz="1200" dirty="0"/>
          </a:p>
        </p:txBody>
      </p:sp>
      <p:sp>
        <p:nvSpPr>
          <p:cNvPr id="4" name="Text 2"/>
          <p:cNvSpPr/>
          <p:nvPr/>
        </p:nvSpPr>
        <p:spPr>
          <a:xfrm>
            <a:off x="731520" y="1097280"/>
            <a:ext cx="10515600" cy="822960"/>
          </a:xfrm>
          <a:prstGeom prst="rect">
            <a:avLst/>
          </a:prstGeom>
          <a:noFill/>
        </p:spPr>
        <p:txBody>
          <a:bodyPr wrap="square" lIns="0" tIns="0" rIns="0" bIns="0" rtlCol="0" anchor="ctr"/>
          <a:lstStyle/>
          <a:p>
            <a:pPr marL="0" indent="0">
              <a:buNone/>
            </a:pPr>
            <a:r>
              <a:rPr lang="en-US" sz="3200" b="1" dirty="0">
                <a:solidFill>
                  <a:srgbClr val="5BDCBB"/>
                </a:solidFill>
                <a:latin typeface="Georgia" panose="02040502050405020303" pitchFamily="34" charset="0"/>
                <a:ea typeface="Georgia" panose="02040502050405020303" pitchFamily="34" charset="-122"/>
                <a:cs typeface="Georgia" panose="02040502050405020303" pitchFamily="34" charset="-120"/>
              </a:rPr>
              <a:t>Introducing the EcoSphere Platform</a:t>
            </a:r>
            <a:endParaRPr lang="en-US" sz="3200" dirty="0"/>
          </a:p>
        </p:txBody>
      </p:sp>
      <p:sp>
        <p:nvSpPr>
          <p:cNvPr id="5" name="Text 3"/>
          <p:cNvSpPr/>
          <p:nvPr/>
        </p:nvSpPr>
        <p:spPr>
          <a:xfrm>
            <a:off x="731520" y="1965960"/>
            <a:ext cx="8412480" cy="1783080"/>
          </a:xfrm>
          <a:prstGeom prst="rect">
            <a:avLst/>
          </a:prstGeom>
          <a:noFill/>
        </p:spPr>
        <p:txBody>
          <a:bodyPr wrap="square" lIns="0" tIns="0" rIns="0" bIns="0" rtlCol="0" anchor="ctr"/>
          <a:lstStyle/>
          <a:p>
            <a:pPr marL="0" indent="0" algn="just">
              <a:lnSpc>
                <a:spcPct val="120000"/>
              </a:lnSpc>
              <a:buNone/>
            </a:pPr>
            <a:r>
              <a:rPr lang="en-US" sz="1350" dirty="0">
                <a:solidFill>
                  <a:srgbClr val="FFFFFF"/>
                </a:solidFill>
                <a:latin typeface="Segoe UI" panose="020B0502040204020203" pitchFamily="34" charset="0"/>
                <a:ea typeface="Segoe UI" panose="020B0502040204020203" pitchFamily="34" charset="-122"/>
                <a:cs typeface="Segoe UI" panose="020B0502040204020203" pitchFamily="34" charset="-120"/>
              </a:rPr>
              <a:t>We introduce EcoSphere: an ML-driven Environmental Decision Support Platform designed to shift sustainability management from historical reporting to active prediction, simulation, and optimization. Existing calculators only report past carbon footprint data, depending heavily on manual data entry and generic advice. EcoSphere addresses these limits by continually learning user behavior patterns, forecasting future carbon emissions, simulating sustainability actions (solar panels, public transit, LEDs) via a digital twin, and optimizing trade-offs across carbon, water, energy, waste, and financial costs using Google OR-Tools. Human-friendly explanations of scores and choices are generated using GenAI (Gemini/OpenAI API).</a:t>
            </a:r>
            <a:endParaRPr lang="en-US" sz="1350" dirty="0"/>
          </a:p>
        </p:txBody>
      </p:sp>
      <p:sp>
        <p:nvSpPr>
          <p:cNvPr id="6" name="Shape 4"/>
          <p:cNvSpPr/>
          <p:nvPr/>
        </p:nvSpPr>
        <p:spPr>
          <a:xfrm>
            <a:off x="731520" y="3886200"/>
            <a:ext cx="2377440" cy="914400"/>
          </a:xfrm>
          <a:prstGeom prst="roundRect">
            <a:avLst>
              <a:gd name="adj" fmla="val 10000"/>
            </a:avLst>
          </a:prstGeom>
          <a:solidFill>
            <a:srgbClr val="156D4F"/>
          </a:solidFill>
          <a:ln w="12700">
            <a:solidFill>
              <a:srgbClr val="5BDCBB"/>
            </a:solidFill>
            <a:prstDash val="solid"/>
          </a:ln>
        </p:spPr>
      </p:sp>
      <p:pic>
        <p:nvPicPr>
          <p:cNvPr id="7" name="Image 0" descr="./icons/bolt_white.png"/>
          <p:cNvPicPr>
            <a:picLocks noChangeAspect="1"/>
          </p:cNvPicPr>
          <p:nvPr/>
        </p:nvPicPr>
        <p:blipFill>
          <a:blip r:embed="rId1"/>
          <a:stretch>
            <a:fillRect/>
          </a:stretch>
        </p:blipFill>
        <p:spPr>
          <a:xfrm>
            <a:off x="914400" y="4114800"/>
            <a:ext cx="457200" cy="457200"/>
          </a:xfrm>
          <a:prstGeom prst="rect">
            <a:avLst/>
          </a:prstGeom>
        </p:spPr>
      </p:pic>
      <p:sp>
        <p:nvSpPr>
          <p:cNvPr id="8" name="Text 5"/>
          <p:cNvSpPr/>
          <p:nvPr/>
        </p:nvSpPr>
        <p:spPr>
          <a:xfrm>
            <a:off x="1508760" y="3886200"/>
            <a:ext cx="1508760" cy="914400"/>
          </a:xfrm>
          <a:prstGeom prst="rect">
            <a:avLst/>
          </a:prstGeom>
          <a:noFill/>
        </p:spPr>
        <p:txBody>
          <a:bodyPr wrap="square" lIns="0" tIns="0" rIns="0" bIns="0" rtlCol="0" anchor="ctr"/>
          <a:lstStyle/>
          <a:p>
            <a:pPr marL="0" indent="0">
              <a:buNone/>
            </a:pPr>
            <a:r>
              <a:rPr lang="en-US" sz="1150" b="1" dirty="0">
                <a:solidFill>
                  <a:srgbClr val="FFFFFF"/>
                </a:solidFill>
                <a:latin typeface="Segoe UI" panose="020B0502040204020203" pitchFamily="34" charset="0"/>
                <a:ea typeface="Segoe UI" panose="020B0502040204020203" pitchFamily="34" charset="-122"/>
                <a:cs typeface="Segoe UI" panose="020B0502040204020203" pitchFamily="34" charset="-120"/>
              </a:rPr>
              <a:t>Behavior Learning Engine</a:t>
            </a:r>
            <a:endParaRPr lang="en-US" sz="1150" dirty="0"/>
          </a:p>
        </p:txBody>
      </p:sp>
      <p:sp>
        <p:nvSpPr>
          <p:cNvPr id="9" name="Shape 6"/>
          <p:cNvSpPr/>
          <p:nvPr/>
        </p:nvSpPr>
        <p:spPr>
          <a:xfrm>
            <a:off x="3337560" y="3886200"/>
            <a:ext cx="2377440" cy="914400"/>
          </a:xfrm>
          <a:prstGeom prst="roundRect">
            <a:avLst>
              <a:gd name="adj" fmla="val 10000"/>
            </a:avLst>
          </a:prstGeom>
          <a:solidFill>
            <a:srgbClr val="156D4F"/>
          </a:solidFill>
          <a:ln w="12700">
            <a:solidFill>
              <a:srgbClr val="5BDCBB"/>
            </a:solidFill>
            <a:prstDash val="solid"/>
          </a:ln>
        </p:spPr>
      </p:sp>
      <p:pic>
        <p:nvPicPr>
          <p:cNvPr id="10" name="Image 1" descr="./icons/tags_white.png"/>
          <p:cNvPicPr>
            <a:picLocks noChangeAspect="1"/>
          </p:cNvPicPr>
          <p:nvPr/>
        </p:nvPicPr>
        <p:blipFill>
          <a:blip r:embed="rId2"/>
          <a:stretch>
            <a:fillRect/>
          </a:stretch>
        </p:blipFill>
        <p:spPr>
          <a:xfrm>
            <a:off x="3520440" y="4114800"/>
            <a:ext cx="457200" cy="457200"/>
          </a:xfrm>
          <a:prstGeom prst="rect">
            <a:avLst/>
          </a:prstGeom>
        </p:spPr>
      </p:pic>
      <p:sp>
        <p:nvSpPr>
          <p:cNvPr id="11" name="Text 7"/>
          <p:cNvSpPr/>
          <p:nvPr/>
        </p:nvSpPr>
        <p:spPr>
          <a:xfrm>
            <a:off x="4114800" y="3886200"/>
            <a:ext cx="1508760" cy="914400"/>
          </a:xfrm>
          <a:prstGeom prst="rect">
            <a:avLst/>
          </a:prstGeom>
          <a:noFill/>
        </p:spPr>
        <p:txBody>
          <a:bodyPr wrap="square" lIns="0" tIns="0" rIns="0" bIns="0" rtlCol="0" anchor="ctr"/>
          <a:lstStyle/>
          <a:p>
            <a:pPr marL="0" indent="0">
              <a:buNone/>
            </a:pPr>
            <a:r>
              <a:rPr lang="en-US" sz="1150" b="1" dirty="0">
                <a:solidFill>
                  <a:srgbClr val="FFFFFF"/>
                </a:solidFill>
                <a:latin typeface="Segoe UI" panose="020B0502040204020203" pitchFamily="34" charset="0"/>
                <a:ea typeface="Segoe UI" panose="020B0502040204020203" pitchFamily="34" charset="-122"/>
                <a:cs typeface="Segoe UI" panose="020B0502040204020203" pitchFamily="34" charset="-120"/>
              </a:rPr>
              <a:t>Cross-Domain Optimizer</a:t>
            </a:r>
            <a:endParaRPr lang="en-US" sz="1150" dirty="0"/>
          </a:p>
        </p:txBody>
      </p:sp>
      <p:sp>
        <p:nvSpPr>
          <p:cNvPr id="12" name="Shape 8"/>
          <p:cNvSpPr/>
          <p:nvPr/>
        </p:nvSpPr>
        <p:spPr>
          <a:xfrm>
            <a:off x="5943600" y="3886200"/>
            <a:ext cx="2377440" cy="914400"/>
          </a:xfrm>
          <a:prstGeom prst="roundRect">
            <a:avLst>
              <a:gd name="adj" fmla="val 10000"/>
            </a:avLst>
          </a:prstGeom>
          <a:solidFill>
            <a:srgbClr val="156D4F"/>
          </a:solidFill>
          <a:ln w="12700">
            <a:solidFill>
              <a:srgbClr val="5BDCBB"/>
            </a:solidFill>
            <a:prstDash val="solid"/>
          </a:ln>
        </p:spPr>
      </p:sp>
      <p:pic>
        <p:nvPicPr>
          <p:cNvPr id="13" name="Image 2" descr="./icons/shield_white.png"/>
          <p:cNvPicPr>
            <a:picLocks noChangeAspect="1"/>
          </p:cNvPicPr>
          <p:nvPr/>
        </p:nvPicPr>
        <p:blipFill>
          <a:blip r:embed="rId3"/>
          <a:stretch>
            <a:fillRect/>
          </a:stretch>
        </p:blipFill>
        <p:spPr>
          <a:xfrm>
            <a:off x="6126480" y="4114800"/>
            <a:ext cx="457200" cy="457200"/>
          </a:xfrm>
          <a:prstGeom prst="rect">
            <a:avLst/>
          </a:prstGeom>
        </p:spPr>
      </p:pic>
      <p:sp>
        <p:nvSpPr>
          <p:cNvPr id="14" name="Text 9"/>
          <p:cNvSpPr/>
          <p:nvPr/>
        </p:nvSpPr>
        <p:spPr>
          <a:xfrm>
            <a:off x="6720840" y="3886200"/>
            <a:ext cx="1508760" cy="914400"/>
          </a:xfrm>
          <a:prstGeom prst="rect">
            <a:avLst/>
          </a:prstGeom>
          <a:noFill/>
        </p:spPr>
        <p:txBody>
          <a:bodyPr wrap="square" lIns="0" tIns="0" rIns="0" bIns="0" rtlCol="0" anchor="ctr"/>
          <a:lstStyle/>
          <a:p>
            <a:pPr marL="0" indent="0">
              <a:buNone/>
            </a:pPr>
            <a:r>
              <a:rPr lang="en-US" sz="1150" b="1" dirty="0">
                <a:solidFill>
                  <a:srgbClr val="FFFFFF"/>
                </a:solidFill>
                <a:latin typeface="Segoe UI" panose="020B0502040204020203" pitchFamily="34" charset="0"/>
                <a:ea typeface="Segoe UI" panose="020B0502040204020203" pitchFamily="34" charset="-122"/>
                <a:cs typeface="Segoe UI" panose="020B0502040204020203" pitchFamily="34" charset="-120"/>
              </a:rPr>
              <a:t>Explainable GenAI Assistant</a:t>
            </a:r>
            <a:endParaRPr lang="en-US" sz="1150" dirty="0"/>
          </a:p>
        </p:txBody>
      </p:sp>
      <p:sp>
        <p:nvSpPr>
          <p:cNvPr id="15" name="Shape 10">
            <a:hlinkClick r:id="rId4" action="ppaction://hlinksldjump"/>
          </p:cNvPr>
          <p:cNvSpPr/>
          <p:nvPr/>
        </p:nvSpPr>
        <p:spPr>
          <a:xfrm>
            <a:off x="731520" y="5257800"/>
            <a:ext cx="7863840" cy="777240"/>
          </a:xfrm>
          <a:prstGeom prst="roundRect">
            <a:avLst>
              <a:gd name="adj" fmla="val 49412"/>
            </a:avLst>
          </a:prstGeom>
          <a:solidFill>
            <a:srgbClr val="5BDCBB"/>
          </a:solidFill>
          <a:effectLst>
            <a:outerShdw blurRad="101600" dist="38100" dir="2700000" algn="bl" rotWithShape="0">
              <a:srgbClr val="000000">
                <a:alpha val="12000"/>
              </a:srgbClr>
            </a:outerShdw>
          </a:effectLst>
        </p:spPr>
      </p:sp>
      <p:sp>
        <p:nvSpPr>
          <p:cNvPr id="16" name="Text 11">
            <a:hlinkClick r:id="rId4" action="ppaction://hlinksldjump"/>
          </p:cNvPr>
          <p:cNvSpPr/>
          <p:nvPr/>
        </p:nvSpPr>
        <p:spPr>
          <a:xfrm>
            <a:off x="731520" y="5257800"/>
            <a:ext cx="7863840" cy="777240"/>
          </a:xfrm>
          <a:prstGeom prst="rect">
            <a:avLst/>
          </a:prstGeom>
          <a:noFill/>
        </p:spPr>
        <p:txBody>
          <a:bodyPr wrap="square" lIns="0" tIns="0" rIns="0" bIns="0" rtlCol="0" anchor="ctr"/>
          <a:lstStyle/>
          <a:p>
            <a:pPr marL="0" indent="0" algn="ctr">
              <a:buNone/>
            </a:pPr>
            <a:r>
              <a:rPr lang="en-US" sz="1500" b="1" u="sng" dirty="0">
                <a:solidFill>
                  <a:srgbClr val="364327"/>
                </a:solidFill>
                <a:latin typeface="Segoe UI" panose="020B0502040204020203" pitchFamily="34" charset="0"/>
                <a:ea typeface="Segoe UI" panose="020B0502040204020203" pitchFamily="34" charset="-122"/>
                <a:cs typeface="Segoe UI" panose="020B0502040204020203" pitchFamily="34" charset="-120"/>
                <a:hlinkClick r:id="rId4" action="ppaction://hlinksldjump"/>
              </a:rPr>
              <a:t>CONTINUE TO DOMAIN SPECIFICATION  →</a:t>
            </a:r>
            <a:endParaRPr lang="en-US" sz="1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364327"/>
        </a:solidFill>
        <a:effectLst/>
      </p:bgPr>
    </p:bg>
    <p:spTree>
      <p:nvGrpSpPr>
        <p:cNvPr id="1" name=""/>
        <p:cNvGrpSpPr/>
        <p:nvPr/>
      </p:nvGrpSpPr>
      <p:grpSpPr>
        <a:xfrm>
          <a:off x="0" y="0"/>
          <a:ext cx="0" cy="0"/>
          <a:chOff x="0" y="0"/>
          <a:chExt cx="0" cy="0"/>
        </a:xfrm>
      </p:grpSpPr>
      <p:sp>
        <p:nvSpPr>
          <p:cNvPr id="2" name="Text 0"/>
          <p:cNvSpPr/>
          <p:nvPr/>
        </p:nvSpPr>
        <p:spPr>
          <a:xfrm>
            <a:off x="731520" y="777240"/>
            <a:ext cx="5486400" cy="274320"/>
          </a:xfrm>
          <a:prstGeom prst="rect">
            <a:avLst/>
          </a:prstGeom>
          <a:noFill/>
        </p:spPr>
        <p:txBody>
          <a:bodyPr wrap="square" lIns="0" tIns="0" rIns="0" bIns="0" rtlCol="0" anchor="ctr"/>
          <a:lstStyle/>
          <a:p>
            <a:pPr marL="0" indent="0">
              <a:buNone/>
            </a:pPr>
            <a:r>
              <a:rPr lang="en-US" sz="1200" b="1" kern="0" spc="200" dirty="0">
                <a:solidFill>
                  <a:srgbClr val="5BDCBB"/>
                </a:solidFill>
                <a:latin typeface="Segoe UI" panose="020B0502040204020203" pitchFamily="34" charset="0"/>
                <a:ea typeface="Segoe UI" panose="020B0502040204020203" pitchFamily="34" charset="-122"/>
                <a:cs typeface="Segoe UI" panose="020B0502040204020203" pitchFamily="34" charset="-120"/>
              </a:rPr>
              <a:t>DOMAIN SPECIFICATION</a:t>
            </a:r>
            <a:endParaRPr lang="en-US" sz="1200" dirty="0"/>
          </a:p>
        </p:txBody>
      </p:sp>
      <p:sp>
        <p:nvSpPr>
          <p:cNvPr id="3" name="Text 1"/>
          <p:cNvSpPr/>
          <p:nvPr/>
        </p:nvSpPr>
        <p:spPr>
          <a:xfrm>
            <a:off x="731520" y="1097280"/>
            <a:ext cx="10515600" cy="822960"/>
          </a:xfrm>
          <a:prstGeom prst="rect">
            <a:avLst/>
          </a:prstGeom>
          <a:noFill/>
        </p:spPr>
        <p:txBody>
          <a:bodyPr wrap="square" lIns="0" tIns="0" rIns="0" bIns="0" rtlCol="0" anchor="ctr"/>
          <a:lstStyle/>
          <a:p>
            <a:pPr marL="0" indent="0">
              <a:buNone/>
            </a:pPr>
            <a:r>
              <a:rPr lang="en-US" sz="3200" b="1" dirty="0">
                <a:solidFill>
                  <a:srgbClr val="5BDCBB"/>
                </a:solidFill>
                <a:latin typeface="Georgia" panose="02040502050405020303" pitchFamily="34" charset="0"/>
                <a:ea typeface="Georgia" panose="02040502050405020303" pitchFamily="34" charset="-122"/>
                <a:cs typeface="Georgia" panose="02040502050405020303" pitchFamily="34" charset="-120"/>
              </a:rPr>
              <a:t>System Classification &amp; Development Pathway</a:t>
            </a:r>
            <a:endParaRPr lang="en-US" sz="3200" dirty="0"/>
          </a:p>
        </p:txBody>
      </p:sp>
      <p:sp>
        <p:nvSpPr>
          <p:cNvPr id="4" name="Shape 2"/>
          <p:cNvSpPr/>
          <p:nvPr/>
        </p:nvSpPr>
        <p:spPr>
          <a:xfrm>
            <a:off x="731520" y="1920240"/>
            <a:ext cx="5120640" cy="3474720"/>
          </a:xfrm>
          <a:prstGeom prst="roundRect">
            <a:avLst>
              <a:gd name="adj" fmla="val 2632"/>
            </a:avLst>
          </a:prstGeom>
          <a:solidFill>
            <a:srgbClr val="156D4F"/>
          </a:solidFill>
          <a:effectLst>
            <a:outerShdw blurRad="76200" dist="25400" dir="2700000" algn="bl" rotWithShape="0">
              <a:srgbClr val="000000">
                <a:alpha val="8000"/>
              </a:srgbClr>
            </a:outerShdw>
          </a:effectLst>
        </p:spPr>
      </p:sp>
      <p:sp>
        <p:nvSpPr>
          <p:cNvPr id="5" name="Shape 3"/>
          <p:cNvSpPr/>
          <p:nvPr/>
        </p:nvSpPr>
        <p:spPr>
          <a:xfrm>
            <a:off x="960120" y="2121408"/>
            <a:ext cx="502920" cy="502920"/>
          </a:xfrm>
          <a:prstGeom prst="ellipse">
            <a:avLst/>
          </a:prstGeom>
          <a:solidFill>
            <a:srgbClr val="57926E"/>
          </a:solidFill>
          <a:effectLst>
            <a:outerShdw blurRad="76200" dist="25400" dir="2700000" algn="bl" rotWithShape="0">
              <a:srgbClr val="000000">
                <a:alpha val="8000"/>
              </a:srgbClr>
            </a:outerShdw>
          </a:effectLst>
        </p:spPr>
      </p:sp>
      <p:pic>
        <p:nvPicPr>
          <p:cNvPr id="6" name="Image 0" descr="./icons/shield_white.png"/>
          <p:cNvPicPr>
            <a:picLocks noChangeAspect="1"/>
          </p:cNvPicPr>
          <p:nvPr/>
        </p:nvPicPr>
        <p:blipFill>
          <a:blip r:embed="rId1"/>
          <a:stretch>
            <a:fillRect/>
          </a:stretch>
        </p:blipFill>
        <p:spPr>
          <a:xfrm>
            <a:off x="1090879" y="2252167"/>
            <a:ext cx="241402" cy="241402"/>
          </a:xfrm>
          <a:prstGeom prst="rect">
            <a:avLst/>
          </a:prstGeom>
        </p:spPr>
      </p:pic>
      <p:sp>
        <p:nvSpPr>
          <p:cNvPr id="7" name="Text 4"/>
          <p:cNvSpPr/>
          <p:nvPr/>
        </p:nvSpPr>
        <p:spPr>
          <a:xfrm>
            <a:off x="1600200" y="2084832"/>
            <a:ext cx="4023360" cy="548640"/>
          </a:xfrm>
          <a:prstGeom prst="rect">
            <a:avLst/>
          </a:prstGeom>
          <a:noFill/>
        </p:spPr>
        <p:txBody>
          <a:bodyPr wrap="square" lIns="0" tIns="0" rIns="0" bIns="0" rtlCol="0" anchor="ctr"/>
          <a:lstStyle/>
          <a:p>
            <a:pPr marL="0" indent="0">
              <a:buNone/>
            </a:pPr>
            <a:r>
              <a:rPr lang="en-US" sz="1800" b="1" dirty="0">
                <a:solidFill>
                  <a:srgbClr val="5BDCBB"/>
                </a:solidFill>
                <a:latin typeface="Segoe UI" panose="020B0502040204020203" pitchFamily="34" charset="0"/>
                <a:ea typeface="Segoe UI" panose="020B0502040204020203" pitchFamily="34" charset="-122"/>
                <a:cs typeface="Segoe UI" panose="020B0502040204020203" pitchFamily="34" charset="-120"/>
              </a:rPr>
              <a:t>Target Domain Classification</a:t>
            </a:r>
            <a:endParaRPr lang="en-US" sz="1800" dirty="0"/>
          </a:p>
        </p:txBody>
      </p:sp>
      <p:pic>
        <p:nvPicPr>
          <p:cNvPr id="8" name="Image 1" descr="./icons/check_white.png"/>
          <p:cNvPicPr>
            <a:picLocks noChangeAspect="1"/>
          </p:cNvPicPr>
          <p:nvPr/>
        </p:nvPicPr>
        <p:blipFill>
          <a:blip r:embed="rId2"/>
          <a:stretch>
            <a:fillRect/>
          </a:stretch>
        </p:blipFill>
        <p:spPr>
          <a:xfrm>
            <a:off x="960120" y="2816352"/>
            <a:ext cx="164592" cy="164592"/>
          </a:xfrm>
          <a:prstGeom prst="rect">
            <a:avLst/>
          </a:prstGeom>
        </p:spPr>
      </p:pic>
      <p:sp>
        <p:nvSpPr>
          <p:cNvPr id="9" name="Text 5"/>
          <p:cNvSpPr/>
          <p:nvPr/>
        </p:nvSpPr>
        <p:spPr>
          <a:xfrm>
            <a:off x="1234440" y="2788920"/>
            <a:ext cx="4389120" cy="502920"/>
          </a:xfrm>
          <a:prstGeom prst="rect">
            <a:avLst/>
          </a:prstGeom>
          <a:noFill/>
        </p:spPr>
        <p:txBody>
          <a:bodyPr wrap="square" lIns="0" tIns="0" rIns="0" bIns="0" rtlCol="0" anchor="ctr"/>
          <a:lstStyle/>
          <a:p>
            <a:pPr marL="0" indent="0" algn="just">
              <a:lnSpc>
                <a:spcPct val="118000"/>
              </a:lnSpc>
              <a:buNone/>
            </a:pPr>
            <a:r>
              <a:rPr lang="en-US" sz="1200" dirty="0">
                <a:solidFill>
                  <a:srgbClr val="FFFFFF"/>
                </a:solidFill>
                <a:latin typeface="Segoe UI" panose="020B0502040204020203" pitchFamily="34" charset="0"/>
                <a:ea typeface="Segoe UI" panose="020B0502040204020203" pitchFamily="34" charset="-122"/>
                <a:cs typeface="Segoe UI" panose="020B0502040204020203" pitchFamily="34" charset="-120"/>
              </a:rPr>
              <a:t>Primary Domain: Intelligent Environmental Sustainability &amp; Decision Support.</a:t>
            </a:r>
            <a:endParaRPr lang="en-US" sz="1200" dirty="0"/>
          </a:p>
        </p:txBody>
      </p:sp>
      <p:pic>
        <p:nvPicPr>
          <p:cNvPr id="10" name="Image 2" descr="./icons/check_white.png"/>
          <p:cNvPicPr>
            <a:picLocks noChangeAspect="1"/>
          </p:cNvPicPr>
          <p:nvPr/>
        </p:nvPicPr>
        <p:blipFill>
          <a:blip r:embed="rId2"/>
          <a:stretch>
            <a:fillRect/>
          </a:stretch>
        </p:blipFill>
        <p:spPr>
          <a:xfrm>
            <a:off x="960120" y="3291840"/>
            <a:ext cx="164592" cy="164592"/>
          </a:xfrm>
          <a:prstGeom prst="rect">
            <a:avLst/>
          </a:prstGeom>
        </p:spPr>
      </p:pic>
      <p:sp>
        <p:nvSpPr>
          <p:cNvPr id="11" name="Text 6"/>
          <p:cNvSpPr/>
          <p:nvPr/>
        </p:nvSpPr>
        <p:spPr>
          <a:xfrm>
            <a:off x="1234440" y="3264408"/>
            <a:ext cx="4389120" cy="502920"/>
          </a:xfrm>
          <a:prstGeom prst="rect">
            <a:avLst/>
          </a:prstGeom>
          <a:noFill/>
        </p:spPr>
        <p:txBody>
          <a:bodyPr wrap="square" lIns="0" tIns="0" rIns="0" bIns="0" rtlCol="0" anchor="ctr"/>
          <a:lstStyle/>
          <a:p>
            <a:pPr marL="0" indent="0" algn="just">
              <a:lnSpc>
                <a:spcPct val="118000"/>
              </a:lnSpc>
              <a:buNone/>
            </a:pPr>
            <a:r>
              <a:rPr lang="en-US" sz="1200" dirty="0">
                <a:solidFill>
                  <a:srgbClr val="FFFFFF"/>
                </a:solidFill>
                <a:latin typeface="Segoe UI" panose="020B0502040204020203" pitchFamily="34" charset="0"/>
                <a:ea typeface="Segoe UI" panose="020B0502040204020203" pitchFamily="34" charset="-122"/>
                <a:cs typeface="Segoe UI" panose="020B0502040204020203" pitchFamily="34" charset="-120"/>
              </a:rPr>
              <a:t>Sub-Domain Focus: ML-driven Behavioral Analytics &amp; Predictive Forecasting.</a:t>
            </a:r>
            <a:endParaRPr lang="en-US" sz="1200" dirty="0"/>
          </a:p>
        </p:txBody>
      </p:sp>
      <p:pic>
        <p:nvPicPr>
          <p:cNvPr id="12" name="Image 3" descr="./icons/check_white.png"/>
          <p:cNvPicPr>
            <a:picLocks noChangeAspect="1"/>
          </p:cNvPicPr>
          <p:nvPr/>
        </p:nvPicPr>
        <p:blipFill>
          <a:blip r:embed="rId2"/>
          <a:stretch>
            <a:fillRect/>
          </a:stretch>
        </p:blipFill>
        <p:spPr>
          <a:xfrm>
            <a:off x="960120" y="3767328"/>
            <a:ext cx="164592" cy="164592"/>
          </a:xfrm>
          <a:prstGeom prst="rect">
            <a:avLst/>
          </a:prstGeom>
        </p:spPr>
      </p:pic>
      <p:sp>
        <p:nvSpPr>
          <p:cNvPr id="13" name="Text 7"/>
          <p:cNvSpPr/>
          <p:nvPr/>
        </p:nvSpPr>
        <p:spPr>
          <a:xfrm>
            <a:off x="1234440" y="3739896"/>
            <a:ext cx="4389120" cy="502920"/>
          </a:xfrm>
          <a:prstGeom prst="rect">
            <a:avLst/>
          </a:prstGeom>
          <a:noFill/>
        </p:spPr>
        <p:txBody>
          <a:bodyPr wrap="square" lIns="0" tIns="0" rIns="0" bIns="0" rtlCol="0" anchor="ctr"/>
          <a:lstStyle/>
          <a:p>
            <a:pPr marL="0" indent="0" algn="just">
              <a:lnSpc>
                <a:spcPct val="118000"/>
              </a:lnSpc>
              <a:buNone/>
            </a:pPr>
            <a:r>
              <a:rPr lang="en-US" sz="1200" dirty="0">
                <a:solidFill>
                  <a:srgbClr val="FFFFFF"/>
                </a:solidFill>
                <a:latin typeface="Segoe UI" panose="020B0502040204020203" pitchFamily="34" charset="0"/>
                <a:ea typeface="Segoe UI" panose="020B0502040204020203" pitchFamily="34" charset="-122"/>
                <a:cs typeface="Segoe UI" panose="020B0502040204020203" pitchFamily="34" charset="-120"/>
              </a:rPr>
              <a:t>Core Problem Space: Optimizing carbon, water, energy, waste, and financial cost.</a:t>
            </a:r>
            <a:endParaRPr lang="en-US" sz="1200" dirty="0"/>
          </a:p>
        </p:txBody>
      </p:sp>
      <p:pic>
        <p:nvPicPr>
          <p:cNvPr id="14" name="Image 4" descr="./icons/check_white.png"/>
          <p:cNvPicPr>
            <a:picLocks noChangeAspect="1"/>
          </p:cNvPicPr>
          <p:nvPr/>
        </p:nvPicPr>
        <p:blipFill>
          <a:blip r:embed="rId2"/>
          <a:stretch>
            <a:fillRect/>
          </a:stretch>
        </p:blipFill>
        <p:spPr>
          <a:xfrm>
            <a:off x="960120" y="4242816"/>
            <a:ext cx="164592" cy="164592"/>
          </a:xfrm>
          <a:prstGeom prst="rect">
            <a:avLst/>
          </a:prstGeom>
        </p:spPr>
      </p:pic>
      <p:sp>
        <p:nvSpPr>
          <p:cNvPr id="15" name="Text 8"/>
          <p:cNvSpPr/>
          <p:nvPr/>
        </p:nvSpPr>
        <p:spPr>
          <a:xfrm>
            <a:off x="1234440" y="4215384"/>
            <a:ext cx="4389120" cy="502920"/>
          </a:xfrm>
          <a:prstGeom prst="rect">
            <a:avLst/>
          </a:prstGeom>
          <a:noFill/>
        </p:spPr>
        <p:txBody>
          <a:bodyPr wrap="square" lIns="0" tIns="0" rIns="0" bIns="0" rtlCol="0" anchor="ctr"/>
          <a:lstStyle/>
          <a:p>
            <a:pPr marL="0" indent="0" algn="just">
              <a:lnSpc>
                <a:spcPct val="118000"/>
              </a:lnSpc>
              <a:buNone/>
            </a:pPr>
            <a:r>
              <a:rPr lang="en-US" sz="1200" dirty="0">
                <a:solidFill>
                  <a:srgbClr val="FFFFFF"/>
                </a:solidFill>
                <a:latin typeface="Segoe UI" panose="020B0502040204020203" pitchFamily="34" charset="0"/>
                <a:ea typeface="Segoe UI" panose="020B0502040204020203" pitchFamily="34" charset="-122"/>
                <a:cs typeface="Segoe UI" panose="020B0502040204020203" pitchFamily="34" charset="-120"/>
              </a:rPr>
              <a:t>Decision Logic: Resolving conflicting recommendations using multi-objective solvers.</a:t>
            </a:r>
            <a:endParaRPr lang="en-US" sz="1200" dirty="0"/>
          </a:p>
        </p:txBody>
      </p:sp>
      <p:pic>
        <p:nvPicPr>
          <p:cNvPr id="16" name="Image 5" descr="./icons/check_white.png"/>
          <p:cNvPicPr>
            <a:picLocks noChangeAspect="1"/>
          </p:cNvPicPr>
          <p:nvPr/>
        </p:nvPicPr>
        <p:blipFill>
          <a:blip r:embed="rId2"/>
          <a:stretch>
            <a:fillRect/>
          </a:stretch>
        </p:blipFill>
        <p:spPr>
          <a:xfrm>
            <a:off x="960120" y="4718304"/>
            <a:ext cx="164592" cy="164592"/>
          </a:xfrm>
          <a:prstGeom prst="rect">
            <a:avLst/>
          </a:prstGeom>
        </p:spPr>
      </p:pic>
      <p:sp>
        <p:nvSpPr>
          <p:cNvPr id="17" name="Text 9"/>
          <p:cNvSpPr/>
          <p:nvPr/>
        </p:nvSpPr>
        <p:spPr>
          <a:xfrm>
            <a:off x="1234440" y="4690872"/>
            <a:ext cx="4389120" cy="502920"/>
          </a:xfrm>
          <a:prstGeom prst="rect">
            <a:avLst/>
          </a:prstGeom>
          <a:noFill/>
        </p:spPr>
        <p:txBody>
          <a:bodyPr wrap="square" lIns="0" tIns="0" rIns="0" bIns="0" rtlCol="0" anchor="ctr"/>
          <a:lstStyle/>
          <a:p>
            <a:pPr marL="0" indent="0" algn="just">
              <a:lnSpc>
                <a:spcPct val="118000"/>
              </a:lnSpc>
              <a:buNone/>
            </a:pPr>
            <a:r>
              <a:rPr lang="en-US" sz="1200" dirty="0">
                <a:solidFill>
                  <a:srgbClr val="FFFFFF"/>
                </a:solidFill>
                <a:latin typeface="Segoe UI" panose="020B0502040204020203" pitchFamily="34" charset="0"/>
                <a:ea typeface="Segoe UI" panose="020B0502040204020203" pitchFamily="34" charset="-122"/>
                <a:cs typeface="Segoe UI" panose="020B0502040204020203" pitchFamily="34" charset="-120"/>
              </a:rPr>
              <a:t>System Classification: Hybrid client-server architecture with FastAPI ML &amp; Spring Boot API.</a:t>
            </a:r>
            <a:endParaRPr lang="en-US" sz="1200" dirty="0"/>
          </a:p>
        </p:txBody>
      </p:sp>
      <p:sp>
        <p:nvSpPr>
          <p:cNvPr id="18" name="Shape 10"/>
          <p:cNvSpPr/>
          <p:nvPr/>
        </p:nvSpPr>
        <p:spPr>
          <a:xfrm>
            <a:off x="6217920" y="1920240"/>
            <a:ext cx="5120640" cy="3474720"/>
          </a:xfrm>
          <a:prstGeom prst="roundRect">
            <a:avLst>
              <a:gd name="adj" fmla="val 2632"/>
            </a:avLst>
          </a:prstGeom>
          <a:solidFill>
            <a:srgbClr val="156D4F"/>
          </a:solidFill>
          <a:effectLst>
            <a:outerShdw blurRad="76200" dist="25400" dir="2700000" algn="bl" rotWithShape="0">
              <a:srgbClr val="000000">
                <a:alpha val="8000"/>
              </a:srgbClr>
            </a:outerShdw>
          </a:effectLst>
        </p:spPr>
      </p:sp>
      <p:sp>
        <p:nvSpPr>
          <p:cNvPr id="19" name="Shape 11"/>
          <p:cNvSpPr/>
          <p:nvPr/>
        </p:nvSpPr>
        <p:spPr>
          <a:xfrm>
            <a:off x="6446520" y="2121408"/>
            <a:ext cx="502920" cy="502920"/>
          </a:xfrm>
          <a:prstGeom prst="ellipse">
            <a:avLst/>
          </a:prstGeom>
          <a:solidFill>
            <a:srgbClr val="57926E"/>
          </a:solidFill>
          <a:effectLst>
            <a:outerShdw blurRad="76200" dist="25400" dir="2700000" algn="bl" rotWithShape="0">
              <a:srgbClr val="000000">
                <a:alpha val="8000"/>
              </a:srgbClr>
            </a:outerShdw>
          </a:effectLst>
        </p:spPr>
      </p:sp>
      <p:pic>
        <p:nvPicPr>
          <p:cNvPr id="20" name="Image 6" descr="./icons/route_white.png"/>
          <p:cNvPicPr>
            <a:picLocks noChangeAspect="1"/>
          </p:cNvPicPr>
          <p:nvPr/>
        </p:nvPicPr>
        <p:blipFill>
          <a:blip r:embed="rId3"/>
          <a:stretch>
            <a:fillRect/>
          </a:stretch>
        </p:blipFill>
        <p:spPr>
          <a:xfrm>
            <a:off x="6577279" y="2252167"/>
            <a:ext cx="241402" cy="241402"/>
          </a:xfrm>
          <a:prstGeom prst="rect">
            <a:avLst/>
          </a:prstGeom>
        </p:spPr>
      </p:pic>
      <p:sp>
        <p:nvSpPr>
          <p:cNvPr id="21" name="Text 12"/>
          <p:cNvSpPr/>
          <p:nvPr/>
        </p:nvSpPr>
        <p:spPr>
          <a:xfrm>
            <a:off x="7086600" y="2084832"/>
            <a:ext cx="4023360" cy="548640"/>
          </a:xfrm>
          <a:prstGeom prst="rect">
            <a:avLst/>
          </a:prstGeom>
          <a:noFill/>
        </p:spPr>
        <p:txBody>
          <a:bodyPr wrap="square" lIns="0" tIns="0" rIns="0" bIns="0" rtlCol="0" anchor="ctr"/>
          <a:lstStyle/>
          <a:p>
            <a:pPr marL="0" indent="0">
              <a:buNone/>
            </a:pPr>
            <a:r>
              <a:rPr lang="en-US" sz="1800" b="1" dirty="0">
                <a:solidFill>
                  <a:srgbClr val="5BDCBB"/>
                </a:solidFill>
                <a:latin typeface="Segoe UI" panose="020B0502040204020203" pitchFamily="34" charset="0"/>
                <a:ea typeface="Segoe UI" panose="020B0502040204020203" pitchFamily="34" charset="-122"/>
                <a:cs typeface="Segoe UI" panose="020B0502040204020203" pitchFamily="34" charset="-120"/>
              </a:rPr>
              <a:t>Development Pathway &amp; Focus</a:t>
            </a:r>
            <a:endParaRPr lang="en-US" sz="1800" dirty="0"/>
          </a:p>
        </p:txBody>
      </p:sp>
      <p:pic>
        <p:nvPicPr>
          <p:cNvPr id="22" name="Image 7" descr="./icons/check_white.png"/>
          <p:cNvPicPr>
            <a:picLocks noChangeAspect="1"/>
          </p:cNvPicPr>
          <p:nvPr/>
        </p:nvPicPr>
        <p:blipFill>
          <a:blip r:embed="rId2"/>
          <a:stretch>
            <a:fillRect/>
          </a:stretch>
        </p:blipFill>
        <p:spPr>
          <a:xfrm>
            <a:off x="6446520" y="2816352"/>
            <a:ext cx="164592" cy="164592"/>
          </a:xfrm>
          <a:prstGeom prst="rect">
            <a:avLst/>
          </a:prstGeom>
        </p:spPr>
      </p:pic>
      <p:sp>
        <p:nvSpPr>
          <p:cNvPr id="23" name="Text 13"/>
          <p:cNvSpPr/>
          <p:nvPr/>
        </p:nvSpPr>
        <p:spPr>
          <a:xfrm>
            <a:off x="6720840" y="2788920"/>
            <a:ext cx="4389120" cy="502920"/>
          </a:xfrm>
          <a:prstGeom prst="rect">
            <a:avLst/>
          </a:prstGeom>
          <a:noFill/>
        </p:spPr>
        <p:txBody>
          <a:bodyPr wrap="square" lIns="0" tIns="0" rIns="0" bIns="0" rtlCol="0" anchor="ctr"/>
          <a:lstStyle/>
          <a:p>
            <a:pPr marL="0" indent="0" algn="just">
              <a:lnSpc>
                <a:spcPct val="118000"/>
              </a:lnSpc>
              <a:buNone/>
            </a:pPr>
            <a:r>
              <a:rPr lang="en-US" sz="1200" dirty="0">
                <a:solidFill>
                  <a:srgbClr val="FFFFFF"/>
                </a:solidFill>
                <a:latin typeface="Segoe UI" panose="020B0502040204020203" pitchFamily="34" charset="0"/>
                <a:ea typeface="Segoe UI" panose="020B0502040204020203" pitchFamily="34" charset="-122"/>
                <a:cs typeface="Segoe UI" panose="020B0502040204020203" pitchFamily="34" charset="-120"/>
              </a:rPr>
              <a:t>Frontend Framework: React.js with TypeScript and responsive Tailwind/MUI dashboards.</a:t>
            </a:r>
            <a:endParaRPr lang="en-US" sz="1200" dirty="0"/>
          </a:p>
        </p:txBody>
      </p:sp>
      <p:pic>
        <p:nvPicPr>
          <p:cNvPr id="24" name="Image 8" descr="./icons/check_white.png"/>
          <p:cNvPicPr>
            <a:picLocks noChangeAspect="1"/>
          </p:cNvPicPr>
          <p:nvPr/>
        </p:nvPicPr>
        <p:blipFill>
          <a:blip r:embed="rId2"/>
          <a:stretch>
            <a:fillRect/>
          </a:stretch>
        </p:blipFill>
        <p:spPr>
          <a:xfrm>
            <a:off x="6446520" y="3291840"/>
            <a:ext cx="164592" cy="164592"/>
          </a:xfrm>
          <a:prstGeom prst="rect">
            <a:avLst/>
          </a:prstGeom>
        </p:spPr>
      </p:pic>
      <p:sp>
        <p:nvSpPr>
          <p:cNvPr id="25" name="Text 14"/>
          <p:cNvSpPr/>
          <p:nvPr/>
        </p:nvSpPr>
        <p:spPr>
          <a:xfrm>
            <a:off x="6720840" y="3264408"/>
            <a:ext cx="4389120" cy="502920"/>
          </a:xfrm>
          <a:prstGeom prst="rect">
            <a:avLst/>
          </a:prstGeom>
          <a:noFill/>
        </p:spPr>
        <p:txBody>
          <a:bodyPr wrap="square" lIns="0" tIns="0" rIns="0" bIns="0" rtlCol="0" anchor="ctr"/>
          <a:lstStyle/>
          <a:p>
            <a:pPr marL="0" indent="0" algn="just">
              <a:lnSpc>
                <a:spcPct val="118000"/>
              </a:lnSpc>
              <a:buNone/>
            </a:pPr>
            <a:r>
              <a:rPr lang="en-US" sz="1200" dirty="0">
                <a:solidFill>
                  <a:srgbClr val="FFFFFF"/>
                </a:solidFill>
                <a:latin typeface="Segoe UI" panose="020B0502040204020203" pitchFamily="34" charset="0"/>
                <a:ea typeface="Segoe UI" panose="020B0502040204020203" pitchFamily="34" charset="-122"/>
                <a:cs typeface="Segoe UI" panose="020B0502040204020203" pitchFamily="34" charset="-120"/>
              </a:rPr>
              <a:t>Machine Learning: FastAPI (Python) executing scikit-learn &amp; XGBoost forecasting.</a:t>
            </a:r>
            <a:endParaRPr lang="en-US" sz="1200" dirty="0"/>
          </a:p>
        </p:txBody>
      </p:sp>
      <p:pic>
        <p:nvPicPr>
          <p:cNvPr id="26" name="Image 9" descr="./icons/check_white.png"/>
          <p:cNvPicPr>
            <a:picLocks noChangeAspect="1"/>
          </p:cNvPicPr>
          <p:nvPr/>
        </p:nvPicPr>
        <p:blipFill>
          <a:blip r:embed="rId2"/>
          <a:stretch>
            <a:fillRect/>
          </a:stretch>
        </p:blipFill>
        <p:spPr>
          <a:xfrm>
            <a:off x="6446520" y="3767328"/>
            <a:ext cx="164592" cy="164592"/>
          </a:xfrm>
          <a:prstGeom prst="rect">
            <a:avLst/>
          </a:prstGeom>
        </p:spPr>
      </p:pic>
      <p:sp>
        <p:nvSpPr>
          <p:cNvPr id="27" name="Text 15"/>
          <p:cNvSpPr/>
          <p:nvPr/>
        </p:nvSpPr>
        <p:spPr>
          <a:xfrm>
            <a:off x="6720840" y="3739896"/>
            <a:ext cx="4389120" cy="502920"/>
          </a:xfrm>
          <a:prstGeom prst="rect">
            <a:avLst/>
          </a:prstGeom>
          <a:noFill/>
        </p:spPr>
        <p:txBody>
          <a:bodyPr wrap="square" lIns="0" tIns="0" rIns="0" bIns="0" rtlCol="0" anchor="ctr"/>
          <a:lstStyle/>
          <a:p>
            <a:pPr marL="0" indent="0" algn="just">
              <a:lnSpc>
                <a:spcPct val="118000"/>
              </a:lnSpc>
              <a:buNone/>
            </a:pPr>
            <a:r>
              <a:rPr lang="en-US" sz="1200" dirty="0">
                <a:solidFill>
                  <a:srgbClr val="FFFFFF"/>
                </a:solidFill>
                <a:latin typeface="Segoe UI" panose="020B0502040204020203" pitchFamily="34" charset="0"/>
                <a:ea typeface="Segoe UI" panose="020B0502040204020203" pitchFamily="34" charset="-122"/>
                <a:cs typeface="Segoe UI" panose="020B0502040204020203" pitchFamily="34" charset="-120"/>
              </a:rPr>
              <a:t>Core Application Gateway: Spring Boot 3 paired with Hibernate and PostgreSQL.</a:t>
            </a:r>
            <a:endParaRPr lang="en-US" sz="1200" dirty="0"/>
          </a:p>
        </p:txBody>
      </p:sp>
      <p:pic>
        <p:nvPicPr>
          <p:cNvPr id="28" name="Image 10" descr="./icons/check_white.png"/>
          <p:cNvPicPr>
            <a:picLocks noChangeAspect="1"/>
          </p:cNvPicPr>
          <p:nvPr/>
        </p:nvPicPr>
        <p:blipFill>
          <a:blip r:embed="rId2"/>
          <a:stretch>
            <a:fillRect/>
          </a:stretch>
        </p:blipFill>
        <p:spPr>
          <a:xfrm>
            <a:off x="6446520" y="4242816"/>
            <a:ext cx="164592" cy="164592"/>
          </a:xfrm>
          <a:prstGeom prst="rect">
            <a:avLst/>
          </a:prstGeom>
        </p:spPr>
      </p:pic>
      <p:sp>
        <p:nvSpPr>
          <p:cNvPr id="29" name="Text 16"/>
          <p:cNvSpPr/>
          <p:nvPr/>
        </p:nvSpPr>
        <p:spPr>
          <a:xfrm>
            <a:off x="6720840" y="4215384"/>
            <a:ext cx="4389120" cy="502920"/>
          </a:xfrm>
          <a:prstGeom prst="rect">
            <a:avLst/>
          </a:prstGeom>
          <a:noFill/>
        </p:spPr>
        <p:txBody>
          <a:bodyPr wrap="square" lIns="0" tIns="0" rIns="0" bIns="0" rtlCol="0" anchor="ctr"/>
          <a:lstStyle/>
          <a:p>
            <a:pPr marL="0" indent="0" algn="just">
              <a:lnSpc>
                <a:spcPct val="118000"/>
              </a:lnSpc>
              <a:buNone/>
            </a:pPr>
            <a:r>
              <a:rPr lang="en-US" sz="1200" dirty="0">
                <a:solidFill>
                  <a:srgbClr val="FFFFFF"/>
                </a:solidFill>
                <a:latin typeface="Segoe UI" panose="020B0502040204020203" pitchFamily="34" charset="0"/>
                <a:ea typeface="Segoe UI" panose="020B0502040204020203" pitchFamily="34" charset="-122"/>
                <a:cs typeface="Segoe UI" panose="020B0502040204020203" pitchFamily="34" charset="-120"/>
              </a:rPr>
              <a:t>Optimization Solver: Google OR-Tools for multi-resource constraint optimization.</a:t>
            </a:r>
            <a:endParaRPr lang="en-US" sz="1200" dirty="0"/>
          </a:p>
        </p:txBody>
      </p:sp>
      <p:pic>
        <p:nvPicPr>
          <p:cNvPr id="30" name="Image 11" descr="./icons/check_white.png"/>
          <p:cNvPicPr>
            <a:picLocks noChangeAspect="1"/>
          </p:cNvPicPr>
          <p:nvPr/>
        </p:nvPicPr>
        <p:blipFill>
          <a:blip r:embed="rId2"/>
          <a:stretch>
            <a:fillRect/>
          </a:stretch>
        </p:blipFill>
        <p:spPr>
          <a:xfrm>
            <a:off x="6446520" y="4718304"/>
            <a:ext cx="164592" cy="164592"/>
          </a:xfrm>
          <a:prstGeom prst="rect">
            <a:avLst/>
          </a:prstGeom>
        </p:spPr>
      </p:pic>
      <p:sp>
        <p:nvSpPr>
          <p:cNvPr id="31" name="Text 17"/>
          <p:cNvSpPr/>
          <p:nvPr/>
        </p:nvSpPr>
        <p:spPr>
          <a:xfrm>
            <a:off x="6720840" y="4690872"/>
            <a:ext cx="4389120" cy="502920"/>
          </a:xfrm>
          <a:prstGeom prst="rect">
            <a:avLst/>
          </a:prstGeom>
          <a:noFill/>
        </p:spPr>
        <p:txBody>
          <a:bodyPr wrap="square" lIns="0" tIns="0" rIns="0" bIns="0" rtlCol="0" anchor="ctr"/>
          <a:lstStyle/>
          <a:p>
            <a:pPr marL="0" indent="0" algn="just">
              <a:lnSpc>
                <a:spcPct val="118000"/>
              </a:lnSpc>
              <a:buNone/>
            </a:pPr>
            <a:r>
              <a:rPr lang="en-US" sz="1200" dirty="0">
                <a:solidFill>
                  <a:srgbClr val="FFFFFF"/>
                </a:solidFill>
                <a:latin typeface="Segoe UI" panose="020B0502040204020203" pitchFamily="34" charset="0"/>
                <a:ea typeface="Segoe UI" panose="020B0502040204020203" pitchFamily="34" charset="-122"/>
                <a:cs typeface="Segoe UI" panose="020B0502040204020203" pitchFamily="34" charset="-120"/>
              </a:rPr>
              <a:t>Spatial Integration: Leaflet.js maps + OpenStreetMap with PostGIS geo-queries.</a:t>
            </a:r>
            <a:endParaRPr lang="en-US" sz="1200" dirty="0"/>
          </a:p>
        </p:txBody>
      </p:sp>
      <p:sp>
        <p:nvSpPr>
          <p:cNvPr id="32" name="Shape 18">
            <a:hlinkClick r:id="rId4" action="ppaction://hlinksldjump"/>
          </p:cNvPr>
          <p:cNvSpPr/>
          <p:nvPr/>
        </p:nvSpPr>
        <p:spPr>
          <a:xfrm>
            <a:off x="731520" y="5577840"/>
            <a:ext cx="10607040" cy="685800"/>
          </a:xfrm>
          <a:prstGeom prst="roundRect">
            <a:avLst>
              <a:gd name="adj" fmla="val 13333"/>
            </a:avLst>
          </a:prstGeom>
          <a:solidFill>
            <a:srgbClr val="156D4F"/>
          </a:solidFill>
          <a:ln w="12700">
            <a:solidFill>
              <a:srgbClr val="57926E"/>
            </a:solidFill>
            <a:prstDash val="solid"/>
          </a:ln>
          <a:effectLst>
            <a:outerShdw blurRad="101600" dist="38100" dir="2700000" algn="bl" rotWithShape="0">
              <a:srgbClr val="000000">
                <a:alpha val="12000"/>
              </a:srgbClr>
            </a:outerShdw>
          </a:effectLst>
        </p:spPr>
      </p:sp>
      <p:pic>
        <p:nvPicPr>
          <p:cNvPr id="33" name="Image 12" descr="./icons/grid_white.png">
            <a:hlinkClick r:id="rId4" action="ppaction://hlinksldjump"/>
          </p:cNvPr>
          <p:cNvPicPr>
            <a:picLocks noChangeAspect="1"/>
          </p:cNvPicPr>
          <p:nvPr/>
        </p:nvPicPr>
        <p:blipFill>
          <a:blip r:embed="rId5"/>
          <a:stretch>
            <a:fillRect/>
          </a:stretch>
        </p:blipFill>
        <p:spPr>
          <a:xfrm>
            <a:off x="914400" y="5733288"/>
            <a:ext cx="365760" cy="365760"/>
          </a:xfrm>
          <a:prstGeom prst="rect">
            <a:avLst/>
          </a:prstGeom>
        </p:spPr>
      </p:pic>
      <p:sp>
        <p:nvSpPr>
          <p:cNvPr id="34" name="Text 19">
            <a:hlinkClick r:id="rId4" action="ppaction://hlinksldjump"/>
          </p:cNvPr>
          <p:cNvSpPr/>
          <p:nvPr/>
        </p:nvSpPr>
        <p:spPr>
          <a:xfrm>
            <a:off x="1417320" y="5577840"/>
            <a:ext cx="9144000" cy="685800"/>
          </a:xfrm>
          <a:prstGeom prst="rect">
            <a:avLst/>
          </a:prstGeom>
          <a:noFill/>
        </p:spPr>
        <p:txBody>
          <a:bodyPr wrap="square" lIns="0" tIns="0" rIns="0" bIns="0" rtlCol="0" anchor="ctr"/>
          <a:lstStyle/>
          <a:p>
            <a:pPr marL="0" indent="0">
              <a:buNone/>
            </a:pPr>
            <a:r>
              <a:rPr lang="en-US" sz="1400" b="1" u="sng" dirty="0">
                <a:solidFill>
                  <a:srgbClr val="FFFFFF"/>
                </a:solidFill>
                <a:latin typeface="Segoe UI" panose="020B0502040204020203" pitchFamily="34" charset="0"/>
                <a:ea typeface="Segoe UI" panose="020B0502040204020203" pitchFamily="34" charset="-122"/>
                <a:cs typeface="Segoe UI" panose="020B0502040204020203" pitchFamily="34" charset="-120"/>
                <a:hlinkClick r:id="rId4" action="ppaction://hlinksldjump"/>
              </a:rPr>
              <a:t>PROCEED TO THE EVALUATION REVIEW BOARD  →</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364327"/>
        </a:solidFill>
        <a:effectLst/>
      </p:bgPr>
    </p:bg>
    <p:spTree>
      <p:nvGrpSpPr>
        <p:cNvPr id="1" name=""/>
        <p:cNvGrpSpPr/>
        <p:nvPr/>
      </p:nvGrpSpPr>
      <p:grpSpPr>
        <a:xfrm>
          <a:off x="0" y="0"/>
          <a:ext cx="0" cy="0"/>
          <a:chOff x="0" y="0"/>
          <a:chExt cx="0" cy="0"/>
        </a:xfrm>
      </p:grpSpPr>
      <p:sp>
        <p:nvSpPr>
          <p:cNvPr id="2" name="Text 0"/>
          <p:cNvSpPr/>
          <p:nvPr/>
        </p:nvSpPr>
        <p:spPr>
          <a:xfrm>
            <a:off x="548640" y="365760"/>
            <a:ext cx="5486400" cy="274320"/>
          </a:xfrm>
          <a:prstGeom prst="rect">
            <a:avLst/>
          </a:prstGeom>
          <a:noFill/>
        </p:spPr>
        <p:txBody>
          <a:bodyPr wrap="square" lIns="0" tIns="0" rIns="0" bIns="0" rtlCol="0" anchor="ctr"/>
          <a:lstStyle/>
          <a:p>
            <a:pPr marL="0" indent="0">
              <a:buNone/>
            </a:pPr>
            <a:r>
              <a:rPr lang="en-US" sz="1200" b="1" kern="0" spc="200" dirty="0">
                <a:solidFill>
                  <a:srgbClr val="5BDCBB"/>
                </a:solidFill>
                <a:latin typeface="Segoe UI" panose="020B0502040204020203" pitchFamily="34" charset="0"/>
                <a:ea typeface="Segoe UI" panose="020B0502040204020203" pitchFamily="34" charset="-122"/>
                <a:cs typeface="Segoe UI" panose="020B0502040204020203" pitchFamily="34" charset="-120"/>
              </a:rPr>
              <a:t>EVALUATION HUB</a:t>
            </a:r>
            <a:endParaRPr lang="en-US" sz="1200" dirty="0"/>
          </a:p>
        </p:txBody>
      </p:sp>
      <p:sp>
        <p:nvSpPr>
          <p:cNvPr id="3" name="Text 1"/>
          <p:cNvSpPr/>
          <p:nvPr/>
        </p:nvSpPr>
        <p:spPr>
          <a:xfrm>
            <a:off x="548640" y="640080"/>
            <a:ext cx="10972800" cy="548640"/>
          </a:xfrm>
          <a:prstGeom prst="rect">
            <a:avLst/>
          </a:prstGeom>
          <a:noFill/>
        </p:spPr>
        <p:txBody>
          <a:bodyPr wrap="square" lIns="0" tIns="0" rIns="0" bIns="0" rtlCol="0" anchor="ctr"/>
          <a:lstStyle/>
          <a:p>
            <a:pPr marL="0" indent="0">
              <a:buNone/>
            </a:pPr>
            <a:r>
              <a:rPr lang="en-US" sz="2600" b="1" dirty="0">
                <a:solidFill>
                  <a:srgbClr val="5BDCBB"/>
                </a:solidFill>
                <a:latin typeface="Georgia" panose="02040502050405020303" pitchFamily="34" charset="0"/>
                <a:ea typeface="Georgia" panose="02040502050405020303" pitchFamily="34" charset="-122"/>
                <a:cs typeface="Georgia" panose="02040502050405020303" pitchFamily="34" charset="-120"/>
              </a:rPr>
              <a:t>Click a Section — Reviewed Live by the Panel</a:t>
            </a:r>
            <a:endParaRPr lang="en-US" sz="2600" dirty="0"/>
          </a:p>
        </p:txBody>
      </p:sp>
      <p:sp>
        <p:nvSpPr>
          <p:cNvPr id="4" name="Shape 2">
            <a:hlinkClick r:id="rId1" action="ppaction://hlinksldjump"/>
          </p:cNvPr>
          <p:cNvSpPr/>
          <p:nvPr/>
        </p:nvSpPr>
        <p:spPr>
          <a:xfrm>
            <a:off x="548640" y="1280160"/>
            <a:ext cx="2670048" cy="1554480"/>
          </a:xfrm>
          <a:prstGeom prst="roundRect">
            <a:avLst>
              <a:gd name="adj" fmla="val 5882"/>
            </a:avLst>
          </a:prstGeom>
          <a:solidFill>
            <a:srgbClr val="156D4F"/>
          </a:solidFill>
          <a:ln w="12700">
            <a:solidFill>
              <a:srgbClr val="57926E"/>
            </a:solidFill>
            <a:prstDash val="solid"/>
          </a:ln>
          <a:effectLst>
            <a:outerShdw blurRad="76200" dist="25400" dir="2700000" algn="bl" rotWithShape="0">
              <a:srgbClr val="000000">
                <a:alpha val="8000"/>
              </a:srgbClr>
            </a:outerShdw>
          </a:effectLst>
        </p:spPr>
      </p:sp>
      <p:sp>
        <p:nvSpPr>
          <p:cNvPr id="5" name="Shape 3"/>
          <p:cNvSpPr/>
          <p:nvPr/>
        </p:nvSpPr>
        <p:spPr>
          <a:xfrm>
            <a:off x="1563624" y="1389888"/>
            <a:ext cx="640080" cy="640080"/>
          </a:xfrm>
          <a:prstGeom prst="ellipse">
            <a:avLst/>
          </a:prstGeom>
          <a:solidFill>
            <a:srgbClr val="57926E"/>
          </a:solidFill>
          <a:effectLst>
            <a:outerShdw blurRad="76200" dist="25400" dir="2700000" algn="bl" rotWithShape="0">
              <a:srgbClr val="000000">
                <a:alpha val="8000"/>
              </a:srgbClr>
            </a:outerShdw>
          </a:effectLst>
        </p:spPr>
      </p:sp>
      <p:pic>
        <p:nvPicPr>
          <p:cNvPr id="6" name="Image 0" descr="./icons/compass_white.png"/>
          <p:cNvPicPr>
            <a:picLocks noChangeAspect="1"/>
          </p:cNvPicPr>
          <p:nvPr/>
        </p:nvPicPr>
        <p:blipFill>
          <a:blip r:embed="rId2"/>
          <a:stretch>
            <a:fillRect/>
          </a:stretch>
        </p:blipFill>
        <p:spPr>
          <a:xfrm>
            <a:off x="1730045" y="1556309"/>
            <a:ext cx="307238" cy="307238"/>
          </a:xfrm>
          <a:prstGeom prst="rect">
            <a:avLst/>
          </a:prstGeom>
        </p:spPr>
      </p:pic>
      <p:sp>
        <p:nvSpPr>
          <p:cNvPr id="7" name="Text 4">
            <a:hlinkClick r:id="rId1" action="ppaction://hlinksldjump"/>
          </p:cNvPr>
          <p:cNvSpPr/>
          <p:nvPr/>
        </p:nvSpPr>
        <p:spPr>
          <a:xfrm>
            <a:off x="640080" y="2057400"/>
            <a:ext cx="2487168" cy="320040"/>
          </a:xfrm>
          <a:prstGeom prst="rect">
            <a:avLst/>
          </a:prstGeom>
          <a:noFill/>
        </p:spPr>
        <p:txBody>
          <a:bodyPr wrap="square" lIns="0" tIns="0" rIns="0" bIns="0" rtlCol="0" anchor="ctr"/>
          <a:lstStyle/>
          <a:p>
            <a:pPr marL="0" indent="0" algn="ctr">
              <a:buNone/>
            </a:pPr>
            <a:r>
              <a:rPr lang="en-US" sz="1300" b="1" u="sng" dirty="0">
                <a:solidFill>
                  <a:srgbClr val="5BDCBB"/>
                </a:solidFill>
                <a:latin typeface="Segoe UI" panose="020B0502040204020203" pitchFamily="34" charset="0"/>
                <a:ea typeface="Segoe UI" panose="020B0502040204020203" pitchFamily="34" charset="-122"/>
                <a:cs typeface="Segoe UI" panose="020B0502040204020203" pitchFamily="34" charset="-120"/>
                <a:hlinkClick r:id="rId1" action="ppaction://hlinksldjump"/>
              </a:rPr>
              <a:t>Vision &amp; Problem</a:t>
            </a:r>
            <a:endParaRPr lang="en-US" sz="1300" dirty="0"/>
          </a:p>
        </p:txBody>
      </p:sp>
      <p:sp>
        <p:nvSpPr>
          <p:cNvPr id="8" name="Text 5">
            <a:hlinkClick r:id="rId1" action="ppaction://hlinksldjump"/>
          </p:cNvPr>
          <p:cNvSpPr/>
          <p:nvPr/>
        </p:nvSpPr>
        <p:spPr>
          <a:xfrm>
            <a:off x="640080" y="2377440"/>
            <a:ext cx="2487168" cy="411480"/>
          </a:xfrm>
          <a:prstGeom prst="rect">
            <a:avLst/>
          </a:prstGeom>
          <a:noFill/>
        </p:spPr>
        <p:txBody>
          <a:bodyPr wrap="square" lIns="0" tIns="0" rIns="0" bIns="0" rtlCol="0" anchor="ctr"/>
          <a:lstStyle/>
          <a:p>
            <a:pPr marL="0" indent="0" algn="ctr">
              <a:buNone/>
            </a:pPr>
            <a:r>
              <a:rPr lang="en-US" sz="950" u="sng" dirty="0">
                <a:solidFill>
                  <a:srgbClr val="C7C396"/>
                </a:solidFill>
                <a:latin typeface="Segoe UI" panose="020B0502040204020203" pitchFamily="34" charset="0"/>
                <a:ea typeface="Segoe UI" panose="020B0502040204020203" pitchFamily="34" charset="-122"/>
                <a:cs typeface="Segoe UI" panose="020B0502040204020203" pitchFamily="34" charset="-120"/>
                <a:hlinkClick r:id="rId1" action="ppaction://hlinksldjump"/>
              </a:rPr>
              <a:t>Historical limits &amp; active support</a:t>
            </a:r>
            <a:endParaRPr lang="en-US" sz="950" dirty="0"/>
          </a:p>
        </p:txBody>
      </p:sp>
      <p:sp>
        <p:nvSpPr>
          <p:cNvPr id="9" name="Text 6"/>
          <p:cNvSpPr/>
          <p:nvPr/>
        </p:nvSpPr>
        <p:spPr>
          <a:xfrm>
            <a:off x="658368" y="1353312"/>
            <a:ext cx="548640" cy="274320"/>
          </a:xfrm>
          <a:prstGeom prst="rect">
            <a:avLst/>
          </a:prstGeom>
          <a:noFill/>
        </p:spPr>
        <p:txBody>
          <a:bodyPr wrap="square" lIns="0" tIns="0" rIns="0" bIns="0" rtlCol="0" anchor="ctr"/>
          <a:lstStyle/>
          <a:p>
            <a:pPr marL="0" indent="0">
              <a:buNone/>
            </a:pPr>
            <a:r>
              <a:rPr lang="en-US" sz="950" b="1" dirty="0">
                <a:solidFill>
                  <a:srgbClr val="5BDCBB"/>
                </a:solidFill>
                <a:latin typeface="Segoe UI" panose="020B0502040204020203" pitchFamily="34" charset="0"/>
                <a:ea typeface="Segoe UI" panose="020B0502040204020203" pitchFamily="34" charset="-122"/>
                <a:cs typeface="Segoe UI" panose="020B0502040204020203" pitchFamily="34" charset="-120"/>
              </a:rPr>
              <a:t>01</a:t>
            </a:r>
            <a:endParaRPr lang="en-US" sz="950" dirty="0"/>
          </a:p>
        </p:txBody>
      </p:sp>
      <p:sp>
        <p:nvSpPr>
          <p:cNvPr id="10" name="Shape 7">
            <a:hlinkClick r:id="rId3" action="ppaction://hlinksldjump"/>
          </p:cNvPr>
          <p:cNvSpPr/>
          <p:nvPr/>
        </p:nvSpPr>
        <p:spPr>
          <a:xfrm>
            <a:off x="3337560" y="1280160"/>
            <a:ext cx="2670048" cy="1554480"/>
          </a:xfrm>
          <a:prstGeom prst="roundRect">
            <a:avLst>
              <a:gd name="adj" fmla="val 5882"/>
            </a:avLst>
          </a:prstGeom>
          <a:solidFill>
            <a:srgbClr val="156D4F"/>
          </a:solidFill>
          <a:ln w="12700">
            <a:solidFill>
              <a:srgbClr val="57926E"/>
            </a:solidFill>
            <a:prstDash val="solid"/>
          </a:ln>
          <a:effectLst>
            <a:outerShdw blurRad="76200" dist="25400" dir="2700000" algn="bl" rotWithShape="0">
              <a:srgbClr val="000000">
                <a:alpha val="8000"/>
              </a:srgbClr>
            </a:outerShdw>
          </a:effectLst>
        </p:spPr>
      </p:sp>
      <p:sp>
        <p:nvSpPr>
          <p:cNvPr id="11" name="Shape 8"/>
          <p:cNvSpPr/>
          <p:nvPr/>
        </p:nvSpPr>
        <p:spPr>
          <a:xfrm>
            <a:off x="4352544" y="1389888"/>
            <a:ext cx="640080" cy="640080"/>
          </a:xfrm>
          <a:prstGeom prst="ellipse">
            <a:avLst/>
          </a:prstGeom>
          <a:solidFill>
            <a:srgbClr val="57926E"/>
          </a:solidFill>
          <a:effectLst>
            <a:outerShdw blurRad="76200" dist="25400" dir="2700000" algn="bl" rotWithShape="0">
              <a:srgbClr val="000000">
                <a:alpha val="8000"/>
              </a:srgbClr>
            </a:outerShdw>
          </a:effectLst>
        </p:spPr>
      </p:sp>
      <p:pic>
        <p:nvPicPr>
          <p:cNvPr id="12" name="Image 1" descr="./icons/server_white.png"/>
          <p:cNvPicPr>
            <a:picLocks noChangeAspect="1"/>
          </p:cNvPicPr>
          <p:nvPr/>
        </p:nvPicPr>
        <p:blipFill>
          <a:blip r:embed="rId4"/>
          <a:stretch>
            <a:fillRect/>
          </a:stretch>
        </p:blipFill>
        <p:spPr>
          <a:xfrm>
            <a:off x="4518965" y="1556309"/>
            <a:ext cx="307238" cy="307238"/>
          </a:xfrm>
          <a:prstGeom prst="rect">
            <a:avLst/>
          </a:prstGeom>
        </p:spPr>
      </p:pic>
      <p:sp>
        <p:nvSpPr>
          <p:cNvPr id="13" name="Text 9">
            <a:hlinkClick r:id="rId3" action="ppaction://hlinksldjump"/>
          </p:cNvPr>
          <p:cNvSpPr/>
          <p:nvPr/>
        </p:nvSpPr>
        <p:spPr>
          <a:xfrm>
            <a:off x="3429000" y="2057400"/>
            <a:ext cx="2487168" cy="320040"/>
          </a:xfrm>
          <a:prstGeom prst="rect">
            <a:avLst/>
          </a:prstGeom>
          <a:noFill/>
        </p:spPr>
        <p:txBody>
          <a:bodyPr wrap="square" lIns="0" tIns="0" rIns="0" bIns="0" rtlCol="0" anchor="ctr"/>
          <a:lstStyle/>
          <a:p>
            <a:pPr marL="0" indent="0" algn="ctr">
              <a:buNone/>
            </a:pPr>
            <a:r>
              <a:rPr lang="en-US" sz="1300" b="1" u="sng" dirty="0">
                <a:solidFill>
                  <a:srgbClr val="5BDCBB"/>
                </a:solidFill>
                <a:latin typeface="Segoe UI" panose="020B0502040204020203" pitchFamily="34" charset="0"/>
                <a:ea typeface="Segoe UI" panose="020B0502040204020203" pitchFamily="34" charset="-122"/>
                <a:cs typeface="Segoe UI" panose="020B0502040204020203" pitchFamily="34" charset="-120"/>
                <a:hlinkClick r:id="rId3" action="ppaction://hlinksldjump"/>
              </a:rPr>
              <a:t>Workflow Sequence</a:t>
            </a:r>
            <a:endParaRPr lang="en-US" sz="1300" dirty="0"/>
          </a:p>
        </p:txBody>
      </p:sp>
      <p:sp>
        <p:nvSpPr>
          <p:cNvPr id="14" name="Text 10">
            <a:hlinkClick r:id="rId3" action="ppaction://hlinksldjump"/>
          </p:cNvPr>
          <p:cNvSpPr/>
          <p:nvPr/>
        </p:nvSpPr>
        <p:spPr>
          <a:xfrm>
            <a:off x="3429000" y="2377440"/>
            <a:ext cx="2487168" cy="411480"/>
          </a:xfrm>
          <a:prstGeom prst="rect">
            <a:avLst/>
          </a:prstGeom>
          <a:noFill/>
        </p:spPr>
        <p:txBody>
          <a:bodyPr wrap="square" lIns="0" tIns="0" rIns="0" bIns="0" rtlCol="0" anchor="ctr"/>
          <a:lstStyle/>
          <a:p>
            <a:pPr marL="0" indent="0" algn="ctr">
              <a:buNone/>
            </a:pPr>
            <a:r>
              <a:rPr lang="en-US" sz="950" u="sng" dirty="0">
                <a:solidFill>
                  <a:srgbClr val="C7C396"/>
                </a:solidFill>
                <a:latin typeface="Segoe UI" panose="020B0502040204020203" pitchFamily="34" charset="0"/>
                <a:ea typeface="Segoe UI" panose="020B0502040204020203" pitchFamily="34" charset="-122"/>
                <a:cs typeface="Segoe UI" panose="020B0502040204020203" pitchFamily="34" charset="-120"/>
                <a:hlinkClick r:id="rId3" action="ppaction://hlinksldjump"/>
              </a:rPr>
              <a:t>Chronological sustainability flow</a:t>
            </a:r>
            <a:endParaRPr lang="en-US" sz="950" dirty="0"/>
          </a:p>
        </p:txBody>
      </p:sp>
      <p:sp>
        <p:nvSpPr>
          <p:cNvPr id="15" name="Text 11"/>
          <p:cNvSpPr/>
          <p:nvPr/>
        </p:nvSpPr>
        <p:spPr>
          <a:xfrm>
            <a:off x="3447288" y="1353312"/>
            <a:ext cx="548640" cy="274320"/>
          </a:xfrm>
          <a:prstGeom prst="rect">
            <a:avLst/>
          </a:prstGeom>
          <a:noFill/>
        </p:spPr>
        <p:txBody>
          <a:bodyPr wrap="square" lIns="0" tIns="0" rIns="0" bIns="0" rtlCol="0" anchor="ctr"/>
          <a:lstStyle/>
          <a:p>
            <a:pPr marL="0" indent="0">
              <a:buNone/>
            </a:pPr>
            <a:r>
              <a:rPr lang="en-US" sz="950" b="1" dirty="0">
                <a:solidFill>
                  <a:srgbClr val="5BDCBB"/>
                </a:solidFill>
                <a:latin typeface="Segoe UI" panose="020B0502040204020203" pitchFamily="34" charset="0"/>
                <a:ea typeface="Segoe UI" panose="020B0502040204020203" pitchFamily="34" charset="-122"/>
                <a:cs typeface="Segoe UI" panose="020B0502040204020203" pitchFamily="34" charset="-120"/>
              </a:rPr>
              <a:t>02</a:t>
            </a:r>
            <a:endParaRPr lang="en-US" sz="950" dirty="0"/>
          </a:p>
        </p:txBody>
      </p:sp>
      <p:sp>
        <p:nvSpPr>
          <p:cNvPr id="16" name="Shape 12">
            <a:hlinkClick r:id="rId5" action="ppaction://hlinksldjump"/>
          </p:cNvPr>
          <p:cNvSpPr/>
          <p:nvPr/>
        </p:nvSpPr>
        <p:spPr>
          <a:xfrm>
            <a:off x="6126480" y="1280160"/>
            <a:ext cx="2670048" cy="1554480"/>
          </a:xfrm>
          <a:prstGeom prst="roundRect">
            <a:avLst>
              <a:gd name="adj" fmla="val 5882"/>
            </a:avLst>
          </a:prstGeom>
          <a:solidFill>
            <a:srgbClr val="156D4F"/>
          </a:solidFill>
          <a:ln w="12700">
            <a:solidFill>
              <a:srgbClr val="57926E"/>
            </a:solidFill>
            <a:prstDash val="solid"/>
          </a:ln>
          <a:effectLst>
            <a:outerShdw blurRad="76200" dist="25400" dir="2700000" algn="bl" rotWithShape="0">
              <a:srgbClr val="000000">
                <a:alpha val="8000"/>
              </a:srgbClr>
            </a:outerShdw>
          </a:effectLst>
        </p:spPr>
      </p:sp>
      <p:sp>
        <p:nvSpPr>
          <p:cNvPr id="17" name="Shape 13"/>
          <p:cNvSpPr/>
          <p:nvPr/>
        </p:nvSpPr>
        <p:spPr>
          <a:xfrm>
            <a:off x="7141464" y="1389888"/>
            <a:ext cx="640080" cy="640080"/>
          </a:xfrm>
          <a:prstGeom prst="ellipse">
            <a:avLst/>
          </a:prstGeom>
          <a:solidFill>
            <a:srgbClr val="57926E"/>
          </a:solidFill>
          <a:effectLst>
            <a:outerShdw blurRad="76200" dist="25400" dir="2700000" algn="bl" rotWithShape="0">
              <a:srgbClr val="000000">
                <a:alpha val="8000"/>
              </a:srgbClr>
            </a:outerShdw>
          </a:effectLst>
        </p:spPr>
      </p:sp>
      <p:pic>
        <p:nvPicPr>
          <p:cNvPr id="18" name="Image 2" descr="./icons/robot_white.png"/>
          <p:cNvPicPr>
            <a:picLocks noChangeAspect="1"/>
          </p:cNvPicPr>
          <p:nvPr/>
        </p:nvPicPr>
        <p:blipFill>
          <a:blip r:embed="rId6"/>
          <a:stretch>
            <a:fillRect/>
          </a:stretch>
        </p:blipFill>
        <p:spPr>
          <a:xfrm>
            <a:off x="7307885" y="1556309"/>
            <a:ext cx="307238" cy="307238"/>
          </a:xfrm>
          <a:prstGeom prst="rect">
            <a:avLst/>
          </a:prstGeom>
        </p:spPr>
      </p:pic>
      <p:sp>
        <p:nvSpPr>
          <p:cNvPr id="19" name="Text 14">
            <a:hlinkClick r:id="rId5" action="ppaction://hlinksldjump"/>
          </p:cNvPr>
          <p:cNvSpPr/>
          <p:nvPr/>
        </p:nvSpPr>
        <p:spPr>
          <a:xfrm>
            <a:off x="6217920" y="2057400"/>
            <a:ext cx="2487168" cy="320040"/>
          </a:xfrm>
          <a:prstGeom prst="rect">
            <a:avLst/>
          </a:prstGeom>
          <a:noFill/>
        </p:spPr>
        <p:txBody>
          <a:bodyPr wrap="square" lIns="0" tIns="0" rIns="0" bIns="0" rtlCol="0" anchor="ctr"/>
          <a:lstStyle/>
          <a:p>
            <a:pPr marL="0" indent="0" algn="ctr">
              <a:buNone/>
            </a:pPr>
            <a:r>
              <a:rPr lang="en-US" sz="1300" b="1" u="sng" dirty="0">
                <a:solidFill>
                  <a:srgbClr val="5BDCBB"/>
                </a:solidFill>
                <a:latin typeface="Segoe UI" panose="020B0502040204020203" pitchFamily="34" charset="0"/>
                <a:ea typeface="Segoe UI" panose="020B0502040204020203" pitchFamily="34" charset="-122"/>
                <a:cs typeface="Segoe UI" panose="020B0502040204020203" pitchFamily="34" charset="-120"/>
                <a:hlinkClick r:id="rId5" action="ppaction://hlinksldjump"/>
              </a:rPr>
              <a:t>Dual-Engine Framework</a:t>
            </a:r>
            <a:endParaRPr lang="en-US" sz="1300" dirty="0"/>
          </a:p>
        </p:txBody>
      </p:sp>
      <p:sp>
        <p:nvSpPr>
          <p:cNvPr id="20" name="Text 15">
            <a:hlinkClick r:id="rId5" action="ppaction://hlinksldjump"/>
          </p:cNvPr>
          <p:cNvSpPr/>
          <p:nvPr/>
        </p:nvSpPr>
        <p:spPr>
          <a:xfrm>
            <a:off x="6217920" y="2377440"/>
            <a:ext cx="2487168" cy="411480"/>
          </a:xfrm>
          <a:prstGeom prst="rect">
            <a:avLst/>
          </a:prstGeom>
          <a:noFill/>
        </p:spPr>
        <p:txBody>
          <a:bodyPr wrap="square" lIns="0" tIns="0" rIns="0" bIns="0" rtlCol="0" anchor="ctr"/>
          <a:lstStyle/>
          <a:p>
            <a:pPr marL="0" indent="0" algn="ctr">
              <a:buNone/>
            </a:pPr>
            <a:r>
              <a:rPr lang="en-US" sz="950" u="sng" dirty="0">
                <a:solidFill>
                  <a:srgbClr val="C7C396"/>
                </a:solidFill>
                <a:latin typeface="Segoe UI" panose="020B0502040204020203" pitchFamily="34" charset="0"/>
                <a:ea typeface="Segoe UI" panose="020B0502040204020203" pitchFamily="34" charset="-122"/>
                <a:cs typeface="Segoe UI" panose="020B0502040204020203" pitchFamily="34" charset="-120"/>
                <a:hlinkClick r:id="rId5" action="ppaction://hlinksldjump"/>
              </a:rPr>
              <a:t>Core features &amp; system model</a:t>
            </a:r>
            <a:endParaRPr lang="en-US" sz="950" dirty="0"/>
          </a:p>
        </p:txBody>
      </p:sp>
      <p:sp>
        <p:nvSpPr>
          <p:cNvPr id="21" name="Text 16"/>
          <p:cNvSpPr/>
          <p:nvPr/>
        </p:nvSpPr>
        <p:spPr>
          <a:xfrm>
            <a:off x="6236208" y="1353312"/>
            <a:ext cx="548640" cy="274320"/>
          </a:xfrm>
          <a:prstGeom prst="rect">
            <a:avLst/>
          </a:prstGeom>
          <a:noFill/>
        </p:spPr>
        <p:txBody>
          <a:bodyPr wrap="square" lIns="0" tIns="0" rIns="0" bIns="0" rtlCol="0" anchor="ctr"/>
          <a:lstStyle/>
          <a:p>
            <a:pPr marL="0" indent="0">
              <a:buNone/>
            </a:pPr>
            <a:r>
              <a:rPr lang="en-US" sz="950" b="1" dirty="0">
                <a:solidFill>
                  <a:srgbClr val="5BDCBB"/>
                </a:solidFill>
                <a:latin typeface="Segoe UI" panose="020B0502040204020203" pitchFamily="34" charset="0"/>
                <a:ea typeface="Segoe UI" panose="020B0502040204020203" pitchFamily="34" charset="-122"/>
                <a:cs typeface="Segoe UI" panose="020B0502040204020203" pitchFamily="34" charset="-120"/>
              </a:rPr>
              <a:t>03</a:t>
            </a:r>
            <a:endParaRPr lang="en-US" sz="950" dirty="0"/>
          </a:p>
        </p:txBody>
      </p:sp>
      <p:sp>
        <p:nvSpPr>
          <p:cNvPr id="22" name="Shape 17">
            <a:hlinkClick r:id="rId7" action="ppaction://hlinksldjump"/>
          </p:cNvPr>
          <p:cNvSpPr/>
          <p:nvPr/>
        </p:nvSpPr>
        <p:spPr>
          <a:xfrm>
            <a:off x="8915400" y="1280160"/>
            <a:ext cx="2670048" cy="1554480"/>
          </a:xfrm>
          <a:prstGeom prst="roundRect">
            <a:avLst>
              <a:gd name="adj" fmla="val 5882"/>
            </a:avLst>
          </a:prstGeom>
          <a:solidFill>
            <a:srgbClr val="156D4F"/>
          </a:solidFill>
          <a:ln w="12700">
            <a:solidFill>
              <a:srgbClr val="57926E"/>
            </a:solidFill>
            <a:prstDash val="solid"/>
          </a:ln>
          <a:effectLst>
            <a:outerShdw blurRad="76200" dist="25400" dir="2700000" algn="bl" rotWithShape="0">
              <a:srgbClr val="000000">
                <a:alpha val="8000"/>
              </a:srgbClr>
            </a:outerShdw>
          </a:effectLst>
        </p:spPr>
      </p:sp>
      <p:sp>
        <p:nvSpPr>
          <p:cNvPr id="23" name="Shape 18"/>
          <p:cNvSpPr/>
          <p:nvPr/>
        </p:nvSpPr>
        <p:spPr>
          <a:xfrm>
            <a:off x="9930384" y="1389888"/>
            <a:ext cx="640080" cy="640080"/>
          </a:xfrm>
          <a:prstGeom prst="ellipse">
            <a:avLst/>
          </a:prstGeom>
          <a:solidFill>
            <a:srgbClr val="57926E"/>
          </a:solidFill>
          <a:effectLst>
            <a:outerShdw blurRad="76200" dist="25400" dir="2700000" algn="bl" rotWithShape="0">
              <a:srgbClr val="000000">
                <a:alpha val="8000"/>
              </a:srgbClr>
            </a:outerShdw>
          </a:effectLst>
        </p:spPr>
      </p:sp>
      <p:pic>
        <p:nvPicPr>
          <p:cNvPr id="24" name="Image 3" descr="./icons/tags_white.png"/>
          <p:cNvPicPr>
            <a:picLocks noChangeAspect="1"/>
          </p:cNvPicPr>
          <p:nvPr/>
        </p:nvPicPr>
        <p:blipFill>
          <a:blip r:embed="rId8"/>
          <a:stretch>
            <a:fillRect/>
          </a:stretch>
        </p:blipFill>
        <p:spPr>
          <a:xfrm>
            <a:off x="10096805" y="1556309"/>
            <a:ext cx="307238" cy="307238"/>
          </a:xfrm>
          <a:prstGeom prst="rect">
            <a:avLst/>
          </a:prstGeom>
        </p:spPr>
      </p:pic>
      <p:sp>
        <p:nvSpPr>
          <p:cNvPr id="25" name="Text 19">
            <a:hlinkClick r:id="rId7" action="ppaction://hlinksldjump"/>
          </p:cNvPr>
          <p:cNvSpPr/>
          <p:nvPr/>
        </p:nvSpPr>
        <p:spPr>
          <a:xfrm>
            <a:off x="9006840" y="2057400"/>
            <a:ext cx="2487168" cy="320040"/>
          </a:xfrm>
          <a:prstGeom prst="rect">
            <a:avLst/>
          </a:prstGeom>
          <a:noFill/>
        </p:spPr>
        <p:txBody>
          <a:bodyPr wrap="square" lIns="0" tIns="0" rIns="0" bIns="0" rtlCol="0" anchor="ctr"/>
          <a:lstStyle/>
          <a:p>
            <a:pPr marL="0" indent="0" algn="ctr">
              <a:buNone/>
            </a:pPr>
            <a:r>
              <a:rPr lang="en-US" sz="1300" b="1" u="sng" dirty="0">
                <a:solidFill>
                  <a:srgbClr val="5BDCBB"/>
                </a:solidFill>
                <a:latin typeface="Segoe UI" panose="020B0502040204020203" pitchFamily="34" charset="0"/>
                <a:ea typeface="Segoe UI" panose="020B0502040204020203" pitchFamily="34" charset="-122"/>
                <a:cs typeface="Segoe UI" panose="020B0502040204020203" pitchFamily="34" charset="-120"/>
                <a:hlinkClick r:id="rId7" action="ppaction://hlinksldjump"/>
              </a:rPr>
              <a:t>Layered Tech Stack</a:t>
            </a:r>
            <a:endParaRPr lang="en-US" sz="1300" dirty="0"/>
          </a:p>
        </p:txBody>
      </p:sp>
      <p:sp>
        <p:nvSpPr>
          <p:cNvPr id="26" name="Text 20">
            <a:hlinkClick r:id="rId7" action="ppaction://hlinksldjump"/>
          </p:cNvPr>
          <p:cNvSpPr/>
          <p:nvPr/>
        </p:nvSpPr>
        <p:spPr>
          <a:xfrm>
            <a:off x="9006840" y="2377440"/>
            <a:ext cx="2487168" cy="411480"/>
          </a:xfrm>
          <a:prstGeom prst="rect">
            <a:avLst/>
          </a:prstGeom>
          <a:noFill/>
        </p:spPr>
        <p:txBody>
          <a:bodyPr wrap="square" lIns="0" tIns="0" rIns="0" bIns="0" rtlCol="0" anchor="ctr"/>
          <a:lstStyle/>
          <a:p>
            <a:pPr marL="0" indent="0" algn="ctr">
              <a:buNone/>
            </a:pPr>
            <a:r>
              <a:rPr lang="en-US" sz="950" u="sng" dirty="0">
                <a:solidFill>
                  <a:srgbClr val="C7C396"/>
                </a:solidFill>
                <a:latin typeface="Segoe UI" panose="020B0502040204020203" pitchFamily="34" charset="0"/>
                <a:ea typeface="Segoe UI" panose="020B0502040204020203" pitchFamily="34" charset="-122"/>
                <a:cs typeface="Segoe UI" panose="020B0502040204020203" pitchFamily="34" charset="-120"/>
                <a:hlinkClick r:id="rId7" action="ppaction://hlinksldjump"/>
              </a:rPr>
              <a:t>React, Spring Boot, FastAPI, OR-Tools</a:t>
            </a:r>
            <a:endParaRPr lang="en-US" sz="950" dirty="0"/>
          </a:p>
        </p:txBody>
      </p:sp>
      <p:sp>
        <p:nvSpPr>
          <p:cNvPr id="27" name="Text 21"/>
          <p:cNvSpPr/>
          <p:nvPr/>
        </p:nvSpPr>
        <p:spPr>
          <a:xfrm>
            <a:off x="9025128" y="1353312"/>
            <a:ext cx="548640" cy="274320"/>
          </a:xfrm>
          <a:prstGeom prst="rect">
            <a:avLst/>
          </a:prstGeom>
          <a:noFill/>
        </p:spPr>
        <p:txBody>
          <a:bodyPr wrap="square" lIns="0" tIns="0" rIns="0" bIns="0" rtlCol="0" anchor="ctr"/>
          <a:lstStyle/>
          <a:p>
            <a:pPr marL="0" indent="0">
              <a:buNone/>
            </a:pPr>
            <a:r>
              <a:rPr lang="en-US" sz="950" b="1" dirty="0">
                <a:solidFill>
                  <a:srgbClr val="5BDCBB"/>
                </a:solidFill>
                <a:latin typeface="Segoe UI" panose="020B0502040204020203" pitchFamily="34" charset="0"/>
                <a:ea typeface="Segoe UI" panose="020B0502040204020203" pitchFamily="34" charset="-122"/>
                <a:cs typeface="Segoe UI" panose="020B0502040204020203" pitchFamily="34" charset="-120"/>
              </a:rPr>
              <a:t>04</a:t>
            </a:r>
            <a:endParaRPr lang="en-US" sz="950" dirty="0"/>
          </a:p>
        </p:txBody>
      </p:sp>
      <p:sp>
        <p:nvSpPr>
          <p:cNvPr id="28" name="Shape 22">
            <a:hlinkClick r:id="rId9" action="ppaction://hlinksldjump"/>
          </p:cNvPr>
          <p:cNvSpPr/>
          <p:nvPr/>
        </p:nvSpPr>
        <p:spPr>
          <a:xfrm>
            <a:off x="548640" y="2944368"/>
            <a:ext cx="2670048" cy="1554480"/>
          </a:xfrm>
          <a:prstGeom prst="roundRect">
            <a:avLst>
              <a:gd name="adj" fmla="val 5882"/>
            </a:avLst>
          </a:prstGeom>
          <a:solidFill>
            <a:srgbClr val="156D4F"/>
          </a:solidFill>
          <a:ln w="12700">
            <a:solidFill>
              <a:srgbClr val="57926E"/>
            </a:solidFill>
            <a:prstDash val="solid"/>
          </a:ln>
          <a:effectLst>
            <a:outerShdw blurRad="76200" dist="25400" dir="2700000" algn="bl" rotWithShape="0">
              <a:srgbClr val="000000">
                <a:alpha val="8000"/>
              </a:srgbClr>
            </a:outerShdw>
          </a:effectLst>
        </p:spPr>
      </p:sp>
      <p:sp>
        <p:nvSpPr>
          <p:cNvPr id="29" name="Shape 23"/>
          <p:cNvSpPr/>
          <p:nvPr/>
        </p:nvSpPr>
        <p:spPr>
          <a:xfrm>
            <a:off x="1563624" y="3054096"/>
            <a:ext cx="640080" cy="640080"/>
          </a:xfrm>
          <a:prstGeom prst="ellipse">
            <a:avLst/>
          </a:prstGeom>
          <a:solidFill>
            <a:srgbClr val="57926E"/>
          </a:solidFill>
          <a:effectLst>
            <a:outerShdw blurRad="76200" dist="25400" dir="2700000" algn="bl" rotWithShape="0">
              <a:srgbClr val="000000">
                <a:alpha val="8000"/>
              </a:srgbClr>
            </a:outerShdw>
          </a:effectLst>
        </p:spPr>
      </p:sp>
      <p:pic>
        <p:nvPicPr>
          <p:cNvPr id="30" name="Image 4" descr="./icons/layer_white.png"/>
          <p:cNvPicPr>
            <a:picLocks noChangeAspect="1"/>
          </p:cNvPicPr>
          <p:nvPr/>
        </p:nvPicPr>
        <p:blipFill>
          <a:blip r:embed="rId10"/>
          <a:stretch>
            <a:fillRect/>
          </a:stretch>
        </p:blipFill>
        <p:spPr>
          <a:xfrm>
            <a:off x="1730045" y="3220517"/>
            <a:ext cx="307238" cy="307238"/>
          </a:xfrm>
          <a:prstGeom prst="rect">
            <a:avLst/>
          </a:prstGeom>
        </p:spPr>
      </p:pic>
      <p:sp>
        <p:nvSpPr>
          <p:cNvPr id="31" name="Text 24">
            <a:hlinkClick r:id="rId9" action="ppaction://hlinksldjump"/>
          </p:cNvPr>
          <p:cNvSpPr/>
          <p:nvPr/>
        </p:nvSpPr>
        <p:spPr>
          <a:xfrm>
            <a:off x="640080" y="3721608"/>
            <a:ext cx="2487168" cy="320040"/>
          </a:xfrm>
          <a:prstGeom prst="rect">
            <a:avLst/>
          </a:prstGeom>
          <a:noFill/>
        </p:spPr>
        <p:txBody>
          <a:bodyPr wrap="square" lIns="0" tIns="0" rIns="0" bIns="0" rtlCol="0" anchor="ctr"/>
          <a:lstStyle/>
          <a:p>
            <a:pPr marL="0" indent="0" algn="ctr">
              <a:buNone/>
            </a:pPr>
            <a:r>
              <a:rPr lang="en-US" sz="1300" b="1" u="sng" dirty="0">
                <a:solidFill>
                  <a:srgbClr val="5BDCBB"/>
                </a:solidFill>
                <a:latin typeface="Segoe UI" panose="020B0502040204020203" pitchFamily="34" charset="0"/>
                <a:ea typeface="Segoe UI" panose="020B0502040204020203" pitchFamily="34" charset="-122"/>
                <a:cs typeface="Segoe UI" panose="020B0502040204020203" pitchFamily="34" charset="-120"/>
                <a:hlinkClick r:id="rId9" action="ppaction://hlinksldjump"/>
              </a:rPr>
              <a:t>System Blueprint</a:t>
            </a:r>
            <a:endParaRPr lang="en-US" sz="1300" dirty="0"/>
          </a:p>
        </p:txBody>
      </p:sp>
      <p:sp>
        <p:nvSpPr>
          <p:cNvPr id="32" name="Text 25">
            <a:hlinkClick r:id="rId9" action="ppaction://hlinksldjump"/>
          </p:cNvPr>
          <p:cNvSpPr/>
          <p:nvPr/>
        </p:nvSpPr>
        <p:spPr>
          <a:xfrm>
            <a:off x="640080" y="4041648"/>
            <a:ext cx="2487168" cy="411480"/>
          </a:xfrm>
          <a:prstGeom prst="rect">
            <a:avLst/>
          </a:prstGeom>
          <a:noFill/>
        </p:spPr>
        <p:txBody>
          <a:bodyPr wrap="square" lIns="0" tIns="0" rIns="0" bIns="0" rtlCol="0" anchor="ctr"/>
          <a:lstStyle/>
          <a:p>
            <a:pPr marL="0" indent="0" algn="ctr">
              <a:buNone/>
            </a:pPr>
            <a:r>
              <a:rPr lang="en-US" sz="950" u="sng" dirty="0">
                <a:solidFill>
                  <a:srgbClr val="C7C396"/>
                </a:solidFill>
                <a:latin typeface="Segoe UI" panose="020B0502040204020203" pitchFamily="34" charset="0"/>
                <a:ea typeface="Segoe UI" panose="020B0502040204020203" pitchFamily="34" charset="-122"/>
                <a:cs typeface="Segoe UI" panose="020B0502040204020203" pitchFamily="34" charset="-120"/>
                <a:hlinkClick r:id="rId9" action="ppaction://hlinksldjump"/>
              </a:rPr>
              <a:t>EcoSphere architecture diagram</a:t>
            </a:r>
            <a:endParaRPr lang="en-US" sz="950" dirty="0"/>
          </a:p>
        </p:txBody>
      </p:sp>
      <p:sp>
        <p:nvSpPr>
          <p:cNvPr id="33" name="Text 26"/>
          <p:cNvSpPr/>
          <p:nvPr/>
        </p:nvSpPr>
        <p:spPr>
          <a:xfrm>
            <a:off x="658368" y="3017520"/>
            <a:ext cx="548640" cy="274320"/>
          </a:xfrm>
          <a:prstGeom prst="rect">
            <a:avLst/>
          </a:prstGeom>
          <a:noFill/>
        </p:spPr>
        <p:txBody>
          <a:bodyPr wrap="square" lIns="0" tIns="0" rIns="0" bIns="0" rtlCol="0" anchor="ctr"/>
          <a:lstStyle/>
          <a:p>
            <a:pPr marL="0" indent="0">
              <a:buNone/>
            </a:pPr>
            <a:r>
              <a:rPr lang="en-US" sz="950" b="1" dirty="0">
                <a:solidFill>
                  <a:srgbClr val="5BDCBB"/>
                </a:solidFill>
                <a:latin typeface="Segoe UI" panose="020B0502040204020203" pitchFamily="34" charset="0"/>
                <a:ea typeface="Segoe UI" panose="020B0502040204020203" pitchFamily="34" charset="-122"/>
                <a:cs typeface="Segoe UI" panose="020B0502040204020203" pitchFamily="34" charset="-120"/>
              </a:rPr>
              <a:t>05</a:t>
            </a:r>
            <a:endParaRPr lang="en-US" sz="950" dirty="0"/>
          </a:p>
        </p:txBody>
      </p:sp>
      <p:sp>
        <p:nvSpPr>
          <p:cNvPr id="34" name="Shape 27">
            <a:hlinkClick r:id="rId11" action="ppaction://hlinksldjump"/>
          </p:cNvPr>
          <p:cNvSpPr/>
          <p:nvPr/>
        </p:nvSpPr>
        <p:spPr>
          <a:xfrm>
            <a:off x="3337560" y="2944368"/>
            <a:ext cx="2670048" cy="1554480"/>
          </a:xfrm>
          <a:prstGeom prst="roundRect">
            <a:avLst>
              <a:gd name="adj" fmla="val 5882"/>
            </a:avLst>
          </a:prstGeom>
          <a:solidFill>
            <a:srgbClr val="156D4F"/>
          </a:solidFill>
          <a:ln w="12700">
            <a:solidFill>
              <a:srgbClr val="57926E"/>
            </a:solidFill>
            <a:prstDash val="solid"/>
          </a:ln>
          <a:effectLst>
            <a:outerShdw blurRad="76200" dist="25400" dir="2700000" algn="bl" rotWithShape="0">
              <a:srgbClr val="000000">
                <a:alpha val="8000"/>
              </a:srgbClr>
            </a:outerShdw>
          </a:effectLst>
        </p:spPr>
      </p:sp>
      <p:sp>
        <p:nvSpPr>
          <p:cNvPr id="35" name="Shape 28"/>
          <p:cNvSpPr/>
          <p:nvPr/>
        </p:nvSpPr>
        <p:spPr>
          <a:xfrm>
            <a:off x="4352544" y="3054096"/>
            <a:ext cx="640080" cy="640080"/>
          </a:xfrm>
          <a:prstGeom prst="ellipse">
            <a:avLst/>
          </a:prstGeom>
          <a:solidFill>
            <a:srgbClr val="57926E"/>
          </a:solidFill>
          <a:effectLst>
            <a:outerShdw blurRad="76200" dist="25400" dir="2700000" algn="bl" rotWithShape="0">
              <a:srgbClr val="000000">
                <a:alpha val="8000"/>
              </a:srgbClr>
            </a:outerShdw>
          </a:effectLst>
        </p:spPr>
      </p:sp>
      <p:pic>
        <p:nvPicPr>
          <p:cNvPr id="36" name="Image 5" descr="./icons/gateway_white.png"/>
          <p:cNvPicPr>
            <a:picLocks noChangeAspect="1"/>
          </p:cNvPicPr>
          <p:nvPr/>
        </p:nvPicPr>
        <p:blipFill>
          <a:blip r:embed="rId12"/>
          <a:stretch>
            <a:fillRect/>
          </a:stretch>
        </p:blipFill>
        <p:spPr>
          <a:xfrm>
            <a:off x="4518965" y="3220517"/>
            <a:ext cx="307238" cy="307238"/>
          </a:xfrm>
          <a:prstGeom prst="rect">
            <a:avLst/>
          </a:prstGeom>
        </p:spPr>
      </p:pic>
      <p:sp>
        <p:nvSpPr>
          <p:cNvPr id="37" name="Text 29">
            <a:hlinkClick r:id="rId11" action="ppaction://hlinksldjump"/>
          </p:cNvPr>
          <p:cNvSpPr/>
          <p:nvPr/>
        </p:nvSpPr>
        <p:spPr>
          <a:xfrm>
            <a:off x="3429000" y="3721608"/>
            <a:ext cx="2487168" cy="320040"/>
          </a:xfrm>
          <a:prstGeom prst="rect">
            <a:avLst/>
          </a:prstGeom>
          <a:noFill/>
        </p:spPr>
        <p:txBody>
          <a:bodyPr wrap="square" lIns="0" tIns="0" rIns="0" bIns="0" rtlCol="0" anchor="ctr"/>
          <a:lstStyle/>
          <a:p>
            <a:pPr marL="0" indent="0" algn="ctr">
              <a:buNone/>
            </a:pPr>
            <a:r>
              <a:rPr lang="en-US" sz="1300" b="1" u="sng" dirty="0">
                <a:solidFill>
                  <a:srgbClr val="5BDCBB"/>
                </a:solidFill>
                <a:latin typeface="Segoe UI" panose="020B0502040204020203" pitchFamily="34" charset="0"/>
                <a:ea typeface="Segoe UI" panose="020B0502040204020203" pitchFamily="34" charset="-122"/>
                <a:cs typeface="Segoe UI" panose="020B0502040204020203" pitchFamily="34" charset="-120"/>
                <a:hlinkClick r:id="rId11" action="ppaction://hlinksldjump"/>
              </a:rPr>
              <a:t>Frontend &amp; Map UI</a:t>
            </a:r>
            <a:endParaRPr lang="en-US" sz="1300" dirty="0"/>
          </a:p>
        </p:txBody>
      </p:sp>
      <p:sp>
        <p:nvSpPr>
          <p:cNvPr id="38" name="Text 30">
            <a:hlinkClick r:id="rId11" action="ppaction://hlinksldjump"/>
          </p:cNvPr>
          <p:cNvSpPr/>
          <p:nvPr/>
        </p:nvSpPr>
        <p:spPr>
          <a:xfrm>
            <a:off x="3429000" y="4041648"/>
            <a:ext cx="2487168" cy="411480"/>
          </a:xfrm>
          <a:prstGeom prst="rect">
            <a:avLst/>
          </a:prstGeom>
          <a:noFill/>
        </p:spPr>
        <p:txBody>
          <a:bodyPr wrap="square" lIns="0" tIns="0" rIns="0" bIns="0" rtlCol="0" anchor="ctr"/>
          <a:lstStyle/>
          <a:p>
            <a:pPr marL="0" indent="0" algn="ctr">
              <a:buNone/>
            </a:pPr>
            <a:r>
              <a:rPr lang="en-US" sz="950" u="sng" dirty="0">
                <a:solidFill>
                  <a:srgbClr val="C7C396"/>
                </a:solidFill>
                <a:latin typeface="Segoe UI" panose="020B0502040204020203" pitchFamily="34" charset="0"/>
                <a:ea typeface="Segoe UI" panose="020B0502040204020203" pitchFamily="34" charset="-122"/>
                <a:cs typeface="Segoe UI" panose="020B0502040204020203" pitchFamily="34" charset="-120"/>
                <a:hlinkClick r:id="rId11" action="ppaction://hlinksldjump"/>
              </a:rPr>
              <a:t>React client &amp; Leaflet visualization</a:t>
            </a:r>
            <a:endParaRPr lang="en-US" sz="950" dirty="0"/>
          </a:p>
        </p:txBody>
      </p:sp>
      <p:sp>
        <p:nvSpPr>
          <p:cNvPr id="39" name="Text 31"/>
          <p:cNvSpPr/>
          <p:nvPr/>
        </p:nvSpPr>
        <p:spPr>
          <a:xfrm>
            <a:off x="3447288" y="3017520"/>
            <a:ext cx="548640" cy="274320"/>
          </a:xfrm>
          <a:prstGeom prst="rect">
            <a:avLst/>
          </a:prstGeom>
          <a:noFill/>
        </p:spPr>
        <p:txBody>
          <a:bodyPr wrap="square" lIns="0" tIns="0" rIns="0" bIns="0" rtlCol="0" anchor="ctr"/>
          <a:lstStyle/>
          <a:p>
            <a:pPr marL="0" indent="0">
              <a:buNone/>
            </a:pPr>
            <a:r>
              <a:rPr lang="en-US" sz="950" b="1" dirty="0">
                <a:solidFill>
                  <a:srgbClr val="5BDCBB"/>
                </a:solidFill>
                <a:latin typeface="Segoe UI" panose="020B0502040204020203" pitchFamily="34" charset="0"/>
                <a:ea typeface="Segoe UI" panose="020B0502040204020203" pitchFamily="34" charset="-122"/>
                <a:cs typeface="Segoe UI" panose="020B0502040204020203" pitchFamily="34" charset="-120"/>
              </a:rPr>
              <a:t>06</a:t>
            </a:r>
            <a:endParaRPr lang="en-US" sz="950" dirty="0"/>
          </a:p>
        </p:txBody>
      </p:sp>
      <p:sp>
        <p:nvSpPr>
          <p:cNvPr id="40" name="Shape 32">
            <a:hlinkClick r:id="rId13" action="ppaction://hlinksldjump"/>
          </p:cNvPr>
          <p:cNvSpPr/>
          <p:nvPr/>
        </p:nvSpPr>
        <p:spPr>
          <a:xfrm>
            <a:off x="6126480" y="2944368"/>
            <a:ext cx="2670048" cy="1554480"/>
          </a:xfrm>
          <a:prstGeom prst="roundRect">
            <a:avLst>
              <a:gd name="adj" fmla="val 5882"/>
            </a:avLst>
          </a:prstGeom>
          <a:solidFill>
            <a:srgbClr val="156D4F"/>
          </a:solidFill>
          <a:ln w="12700">
            <a:solidFill>
              <a:srgbClr val="57926E"/>
            </a:solidFill>
            <a:prstDash val="solid"/>
          </a:ln>
          <a:effectLst>
            <a:outerShdw blurRad="76200" dist="25400" dir="2700000" algn="bl" rotWithShape="0">
              <a:srgbClr val="000000">
                <a:alpha val="8000"/>
              </a:srgbClr>
            </a:outerShdw>
          </a:effectLst>
        </p:spPr>
      </p:sp>
      <p:sp>
        <p:nvSpPr>
          <p:cNvPr id="41" name="Shape 33"/>
          <p:cNvSpPr/>
          <p:nvPr/>
        </p:nvSpPr>
        <p:spPr>
          <a:xfrm>
            <a:off x="7141464" y="3054096"/>
            <a:ext cx="640080" cy="640080"/>
          </a:xfrm>
          <a:prstGeom prst="ellipse">
            <a:avLst/>
          </a:prstGeom>
          <a:solidFill>
            <a:srgbClr val="57926E"/>
          </a:solidFill>
          <a:effectLst>
            <a:outerShdw blurRad="76200" dist="25400" dir="2700000" algn="bl" rotWithShape="0">
              <a:srgbClr val="000000">
                <a:alpha val="8000"/>
              </a:srgbClr>
            </a:outerShdw>
          </a:effectLst>
        </p:spPr>
      </p:sp>
      <p:pic>
        <p:nvPicPr>
          <p:cNvPr id="42" name="Image 6" descr="./icons/key_white.png"/>
          <p:cNvPicPr>
            <a:picLocks noChangeAspect="1"/>
          </p:cNvPicPr>
          <p:nvPr/>
        </p:nvPicPr>
        <p:blipFill>
          <a:blip r:embed="rId14"/>
          <a:stretch>
            <a:fillRect/>
          </a:stretch>
        </p:blipFill>
        <p:spPr>
          <a:xfrm>
            <a:off x="7307885" y="3220517"/>
            <a:ext cx="307238" cy="307238"/>
          </a:xfrm>
          <a:prstGeom prst="rect">
            <a:avLst/>
          </a:prstGeom>
        </p:spPr>
      </p:pic>
      <p:sp>
        <p:nvSpPr>
          <p:cNvPr id="43" name="Text 34">
            <a:hlinkClick r:id="rId13" action="ppaction://hlinksldjump"/>
          </p:cNvPr>
          <p:cNvSpPr/>
          <p:nvPr/>
        </p:nvSpPr>
        <p:spPr>
          <a:xfrm>
            <a:off x="6217920" y="3721608"/>
            <a:ext cx="2487168" cy="320040"/>
          </a:xfrm>
          <a:prstGeom prst="rect">
            <a:avLst/>
          </a:prstGeom>
          <a:noFill/>
        </p:spPr>
        <p:txBody>
          <a:bodyPr wrap="square" lIns="0" tIns="0" rIns="0" bIns="0" rtlCol="0" anchor="ctr"/>
          <a:lstStyle/>
          <a:p>
            <a:pPr marL="0" indent="0" algn="ctr">
              <a:buNone/>
            </a:pPr>
            <a:r>
              <a:rPr lang="en-US" sz="1300" b="1" u="sng" dirty="0">
                <a:solidFill>
                  <a:srgbClr val="5BDCBB"/>
                </a:solidFill>
                <a:latin typeface="Segoe UI" panose="020B0502040204020203" pitchFamily="34" charset="0"/>
                <a:ea typeface="Segoe UI" panose="020B0502040204020203" pitchFamily="34" charset="-122"/>
                <a:cs typeface="Segoe UI" panose="020B0502040204020203" pitchFamily="34" charset="-120"/>
                <a:hlinkClick r:id="rId13" action="ppaction://hlinksldjump"/>
              </a:rPr>
              <a:t>Backend API &amp; ML</a:t>
            </a:r>
            <a:endParaRPr lang="en-US" sz="1300" dirty="0"/>
          </a:p>
        </p:txBody>
      </p:sp>
      <p:sp>
        <p:nvSpPr>
          <p:cNvPr id="44" name="Text 35">
            <a:hlinkClick r:id="rId13" action="ppaction://hlinksldjump"/>
          </p:cNvPr>
          <p:cNvSpPr/>
          <p:nvPr/>
        </p:nvSpPr>
        <p:spPr>
          <a:xfrm>
            <a:off x="6217920" y="4041648"/>
            <a:ext cx="2487168" cy="411480"/>
          </a:xfrm>
          <a:prstGeom prst="rect">
            <a:avLst/>
          </a:prstGeom>
          <a:noFill/>
        </p:spPr>
        <p:txBody>
          <a:bodyPr wrap="square" lIns="0" tIns="0" rIns="0" bIns="0" rtlCol="0" anchor="ctr"/>
          <a:lstStyle/>
          <a:p>
            <a:pPr marL="0" indent="0" algn="ctr">
              <a:buNone/>
            </a:pPr>
            <a:r>
              <a:rPr lang="en-US" sz="950" u="sng" dirty="0">
                <a:solidFill>
                  <a:srgbClr val="C7C396"/>
                </a:solidFill>
                <a:latin typeface="Segoe UI" panose="020B0502040204020203" pitchFamily="34" charset="0"/>
                <a:ea typeface="Segoe UI" panose="020B0502040204020203" pitchFamily="34" charset="-122"/>
                <a:cs typeface="Segoe UI" panose="020B0502040204020203" pitchFamily="34" charset="-120"/>
                <a:hlinkClick r:id="rId13" action="ppaction://hlinksldjump"/>
              </a:rPr>
              <a:t>Spring Gateway &amp; FastAPI services</a:t>
            </a:r>
            <a:endParaRPr lang="en-US" sz="950" dirty="0"/>
          </a:p>
        </p:txBody>
      </p:sp>
      <p:sp>
        <p:nvSpPr>
          <p:cNvPr id="45" name="Text 36"/>
          <p:cNvSpPr/>
          <p:nvPr/>
        </p:nvSpPr>
        <p:spPr>
          <a:xfrm>
            <a:off x="6236208" y="3017520"/>
            <a:ext cx="548640" cy="274320"/>
          </a:xfrm>
          <a:prstGeom prst="rect">
            <a:avLst/>
          </a:prstGeom>
          <a:noFill/>
        </p:spPr>
        <p:txBody>
          <a:bodyPr wrap="square" lIns="0" tIns="0" rIns="0" bIns="0" rtlCol="0" anchor="ctr"/>
          <a:lstStyle/>
          <a:p>
            <a:pPr marL="0" indent="0">
              <a:buNone/>
            </a:pPr>
            <a:r>
              <a:rPr lang="en-US" sz="950" b="1" dirty="0">
                <a:solidFill>
                  <a:srgbClr val="5BDCBB"/>
                </a:solidFill>
                <a:latin typeface="Segoe UI" panose="020B0502040204020203" pitchFamily="34" charset="0"/>
                <a:ea typeface="Segoe UI" panose="020B0502040204020203" pitchFamily="34" charset="-122"/>
                <a:cs typeface="Segoe UI" panose="020B0502040204020203" pitchFamily="34" charset="-120"/>
              </a:rPr>
              <a:t>07</a:t>
            </a:r>
            <a:endParaRPr lang="en-US" sz="950" dirty="0"/>
          </a:p>
        </p:txBody>
      </p:sp>
      <p:sp>
        <p:nvSpPr>
          <p:cNvPr id="46" name="Shape 37">
            <a:hlinkClick r:id="rId15" action="ppaction://hlinksldjump"/>
          </p:cNvPr>
          <p:cNvSpPr/>
          <p:nvPr/>
        </p:nvSpPr>
        <p:spPr>
          <a:xfrm>
            <a:off x="8915400" y="2944368"/>
            <a:ext cx="2670048" cy="1554480"/>
          </a:xfrm>
          <a:prstGeom prst="roundRect">
            <a:avLst>
              <a:gd name="adj" fmla="val 5882"/>
            </a:avLst>
          </a:prstGeom>
          <a:solidFill>
            <a:srgbClr val="156D4F"/>
          </a:solidFill>
          <a:ln w="12700">
            <a:solidFill>
              <a:srgbClr val="57926E"/>
            </a:solidFill>
            <a:prstDash val="solid"/>
          </a:ln>
          <a:effectLst>
            <a:outerShdw blurRad="76200" dist="25400" dir="2700000" algn="bl" rotWithShape="0">
              <a:srgbClr val="000000">
                <a:alpha val="8000"/>
              </a:srgbClr>
            </a:outerShdw>
          </a:effectLst>
        </p:spPr>
      </p:sp>
      <p:sp>
        <p:nvSpPr>
          <p:cNvPr id="47" name="Shape 38"/>
          <p:cNvSpPr/>
          <p:nvPr/>
        </p:nvSpPr>
        <p:spPr>
          <a:xfrm>
            <a:off x="9930384" y="3054096"/>
            <a:ext cx="640080" cy="640080"/>
          </a:xfrm>
          <a:prstGeom prst="ellipse">
            <a:avLst/>
          </a:prstGeom>
          <a:solidFill>
            <a:srgbClr val="57926E"/>
          </a:solidFill>
          <a:effectLst>
            <a:outerShdw blurRad="76200" dist="25400" dir="2700000" algn="bl" rotWithShape="0">
              <a:srgbClr val="000000">
                <a:alpha val="8000"/>
              </a:srgbClr>
            </a:outerShdw>
          </a:effectLst>
        </p:spPr>
      </p:sp>
      <p:pic>
        <p:nvPicPr>
          <p:cNvPr id="48" name="Image 7" descr="./icons/shield_white.png"/>
          <p:cNvPicPr>
            <a:picLocks noChangeAspect="1"/>
          </p:cNvPicPr>
          <p:nvPr/>
        </p:nvPicPr>
        <p:blipFill>
          <a:blip r:embed="rId16"/>
          <a:stretch>
            <a:fillRect/>
          </a:stretch>
        </p:blipFill>
        <p:spPr>
          <a:xfrm>
            <a:off x="10096805" y="3220517"/>
            <a:ext cx="307238" cy="307238"/>
          </a:xfrm>
          <a:prstGeom prst="rect">
            <a:avLst/>
          </a:prstGeom>
        </p:spPr>
      </p:pic>
      <p:sp>
        <p:nvSpPr>
          <p:cNvPr id="49" name="Text 39">
            <a:hlinkClick r:id="rId15" action="ppaction://hlinksldjump"/>
          </p:cNvPr>
          <p:cNvSpPr/>
          <p:nvPr/>
        </p:nvSpPr>
        <p:spPr>
          <a:xfrm>
            <a:off x="9006840" y="3721608"/>
            <a:ext cx="2487168" cy="320040"/>
          </a:xfrm>
          <a:prstGeom prst="rect">
            <a:avLst/>
          </a:prstGeom>
          <a:noFill/>
        </p:spPr>
        <p:txBody>
          <a:bodyPr wrap="square" lIns="0" tIns="0" rIns="0" bIns="0" rtlCol="0" anchor="ctr"/>
          <a:lstStyle/>
          <a:p>
            <a:pPr marL="0" indent="0" algn="ctr">
              <a:buNone/>
            </a:pPr>
            <a:r>
              <a:rPr lang="en-US" sz="1300" b="1" u="sng" dirty="0">
                <a:solidFill>
                  <a:srgbClr val="5BDCBB"/>
                </a:solidFill>
                <a:latin typeface="Segoe UI" panose="020B0502040204020203" pitchFamily="34" charset="0"/>
                <a:ea typeface="Segoe UI" panose="020B0502040204020203" pitchFamily="34" charset="-122"/>
                <a:cs typeface="Segoe UI" panose="020B0502040204020203" pitchFamily="34" charset="-120"/>
                <a:hlinkClick r:id="rId15" action="ppaction://hlinksldjump"/>
              </a:rPr>
              <a:t>Novelty Engines</a:t>
            </a:r>
            <a:endParaRPr lang="en-US" sz="1300" dirty="0"/>
          </a:p>
        </p:txBody>
      </p:sp>
      <p:sp>
        <p:nvSpPr>
          <p:cNvPr id="50" name="Text 40">
            <a:hlinkClick r:id="rId15" action="ppaction://hlinksldjump"/>
          </p:cNvPr>
          <p:cNvSpPr/>
          <p:nvPr/>
        </p:nvSpPr>
        <p:spPr>
          <a:xfrm>
            <a:off x="9006840" y="4041648"/>
            <a:ext cx="2487168" cy="411480"/>
          </a:xfrm>
          <a:prstGeom prst="rect">
            <a:avLst/>
          </a:prstGeom>
          <a:noFill/>
        </p:spPr>
        <p:txBody>
          <a:bodyPr wrap="square" lIns="0" tIns="0" rIns="0" bIns="0" rtlCol="0" anchor="ctr"/>
          <a:lstStyle/>
          <a:p>
            <a:pPr marL="0" indent="0" algn="ctr">
              <a:buNone/>
            </a:pPr>
            <a:r>
              <a:rPr lang="en-US" sz="950" u="sng" dirty="0">
                <a:solidFill>
                  <a:srgbClr val="C7C396"/>
                </a:solidFill>
                <a:latin typeface="Segoe UI" panose="020B0502040204020203" pitchFamily="34" charset="0"/>
                <a:ea typeface="Segoe UI" panose="020B0502040204020203" pitchFamily="34" charset="-122"/>
                <a:cs typeface="Segoe UI" panose="020B0502040204020203" pitchFamily="34" charset="-120"/>
                <a:hlinkClick r:id="rId15" action="ppaction://hlinksldjump"/>
              </a:rPr>
              <a:t>Resource solver &amp; adaptive coaching</a:t>
            </a:r>
            <a:endParaRPr lang="en-US" sz="950" dirty="0"/>
          </a:p>
        </p:txBody>
      </p:sp>
      <p:sp>
        <p:nvSpPr>
          <p:cNvPr id="51" name="Text 41"/>
          <p:cNvSpPr/>
          <p:nvPr/>
        </p:nvSpPr>
        <p:spPr>
          <a:xfrm>
            <a:off x="9025128" y="3017520"/>
            <a:ext cx="548640" cy="274320"/>
          </a:xfrm>
          <a:prstGeom prst="rect">
            <a:avLst/>
          </a:prstGeom>
          <a:noFill/>
        </p:spPr>
        <p:txBody>
          <a:bodyPr wrap="square" lIns="0" tIns="0" rIns="0" bIns="0" rtlCol="0" anchor="ctr"/>
          <a:lstStyle/>
          <a:p>
            <a:pPr marL="0" indent="0">
              <a:buNone/>
            </a:pPr>
            <a:r>
              <a:rPr lang="en-US" sz="950" b="1" dirty="0">
                <a:solidFill>
                  <a:srgbClr val="5BDCBB"/>
                </a:solidFill>
                <a:latin typeface="Segoe UI" panose="020B0502040204020203" pitchFamily="34" charset="0"/>
                <a:ea typeface="Segoe UI" panose="020B0502040204020203" pitchFamily="34" charset="-122"/>
                <a:cs typeface="Segoe UI" panose="020B0502040204020203" pitchFamily="34" charset="-120"/>
              </a:rPr>
              <a:t>08</a:t>
            </a:r>
            <a:endParaRPr lang="en-US" sz="950" dirty="0"/>
          </a:p>
        </p:txBody>
      </p:sp>
      <p:sp>
        <p:nvSpPr>
          <p:cNvPr id="52" name="Shape 42">
            <a:hlinkClick r:id="rId17" action="ppaction://hlinksldjump"/>
          </p:cNvPr>
          <p:cNvSpPr/>
          <p:nvPr/>
        </p:nvSpPr>
        <p:spPr>
          <a:xfrm>
            <a:off x="548640" y="4608576"/>
            <a:ext cx="2670048" cy="1554480"/>
          </a:xfrm>
          <a:prstGeom prst="roundRect">
            <a:avLst>
              <a:gd name="adj" fmla="val 5882"/>
            </a:avLst>
          </a:prstGeom>
          <a:solidFill>
            <a:srgbClr val="156D4F"/>
          </a:solidFill>
          <a:ln w="12700">
            <a:solidFill>
              <a:srgbClr val="57926E"/>
            </a:solidFill>
            <a:prstDash val="solid"/>
          </a:ln>
          <a:effectLst>
            <a:outerShdw blurRad="76200" dist="25400" dir="2700000" algn="bl" rotWithShape="0">
              <a:srgbClr val="000000">
                <a:alpha val="8000"/>
              </a:srgbClr>
            </a:outerShdw>
          </a:effectLst>
        </p:spPr>
      </p:sp>
      <p:sp>
        <p:nvSpPr>
          <p:cNvPr id="53" name="Shape 43"/>
          <p:cNvSpPr/>
          <p:nvPr/>
        </p:nvSpPr>
        <p:spPr>
          <a:xfrm>
            <a:off x="1563624" y="4718304"/>
            <a:ext cx="640080" cy="640080"/>
          </a:xfrm>
          <a:prstGeom prst="ellipse">
            <a:avLst/>
          </a:prstGeom>
          <a:solidFill>
            <a:srgbClr val="57926E"/>
          </a:solidFill>
          <a:effectLst>
            <a:outerShdw blurRad="76200" dist="25400" dir="2700000" algn="bl" rotWithShape="0">
              <a:srgbClr val="000000">
                <a:alpha val="8000"/>
              </a:srgbClr>
            </a:outerShdw>
          </a:effectLst>
        </p:spPr>
      </p:sp>
      <p:pic>
        <p:nvPicPr>
          <p:cNvPr id="54" name="Image 8" descr="./icons/clipboard_white.png"/>
          <p:cNvPicPr>
            <a:picLocks noChangeAspect="1"/>
          </p:cNvPicPr>
          <p:nvPr/>
        </p:nvPicPr>
        <p:blipFill>
          <a:blip r:embed="rId18"/>
          <a:stretch>
            <a:fillRect/>
          </a:stretch>
        </p:blipFill>
        <p:spPr>
          <a:xfrm>
            <a:off x="1730045" y="4884725"/>
            <a:ext cx="307238" cy="307238"/>
          </a:xfrm>
          <a:prstGeom prst="rect">
            <a:avLst/>
          </a:prstGeom>
        </p:spPr>
      </p:pic>
      <p:sp>
        <p:nvSpPr>
          <p:cNvPr id="55" name="Text 44">
            <a:hlinkClick r:id="rId17" action="ppaction://hlinksldjump"/>
          </p:cNvPr>
          <p:cNvSpPr/>
          <p:nvPr/>
        </p:nvSpPr>
        <p:spPr>
          <a:xfrm>
            <a:off x="640080" y="5385816"/>
            <a:ext cx="2487168" cy="320040"/>
          </a:xfrm>
          <a:prstGeom prst="rect">
            <a:avLst/>
          </a:prstGeom>
          <a:noFill/>
        </p:spPr>
        <p:txBody>
          <a:bodyPr wrap="square" lIns="0" tIns="0" rIns="0" bIns="0" rtlCol="0" anchor="ctr"/>
          <a:lstStyle/>
          <a:p>
            <a:pPr marL="0" indent="0" algn="ctr">
              <a:buNone/>
            </a:pPr>
            <a:r>
              <a:rPr lang="en-US" sz="1300" b="1" u="sng" dirty="0">
                <a:solidFill>
                  <a:srgbClr val="5BDCBB"/>
                </a:solidFill>
                <a:latin typeface="Segoe UI" panose="020B0502040204020203" pitchFamily="34" charset="0"/>
                <a:ea typeface="Segoe UI" panose="020B0502040204020203" pitchFamily="34" charset="-122"/>
                <a:cs typeface="Segoe UI" panose="020B0502040204020203" pitchFamily="34" charset="-120"/>
                <a:hlinkClick r:id="rId17" action="ppaction://hlinksldjump"/>
              </a:rPr>
              <a:t>Team Structure</a:t>
            </a:r>
            <a:endParaRPr lang="en-US" sz="1300" dirty="0"/>
          </a:p>
        </p:txBody>
      </p:sp>
      <p:sp>
        <p:nvSpPr>
          <p:cNvPr id="56" name="Text 45">
            <a:hlinkClick r:id="rId17" action="ppaction://hlinksldjump"/>
          </p:cNvPr>
          <p:cNvSpPr/>
          <p:nvPr/>
        </p:nvSpPr>
        <p:spPr>
          <a:xfrm>
            <a:off x="640080" y="5705856"/>
            <a:ext cx="2487168" cy="411480"/>
          </a:xfrm>
          <a:prstGeom prst="rect">
            <a:avLst/>
          </a:prstGeom>
          <a:noFill/>
        </p:spPr>
        <p:txBody>
          <a:bodyPr wrap="square" lIns="0" tIns="0" rIns="0" bIns="0" rtlCol="0" anchor="ctr"/>
          <a:lstStyle/>
          <a:p>
            <a:pPr marL="0" indent="0" algn="ctr">
              <a:buNone/>
            </a:pPr>
            <a:r>
              <a:rPr lang="en-US" sz="950" u="sng" dirty="0">
                <a:solidFill>
                  <a:srgbClr val="C7C396"/>
                </a:solidFill>
                <a:latin typeface="Segoe UI" panose="020B0502040204020203" pitchFamily="34" charset="0"/>
                <a:ea typeface="Segoe UI" panose="020B0502040204020203" pitchFamily="34" charset="-122"/>
                <a:cs typeface="Segoe UI" panose="020B0502040204020203" pitchFamily="34" charset="-120"/>
                <a:hlinkClick r:id="rId17" action="ppaction://hlinksldjump"/>
              </a:rPr>
              <a:t>Grish, Gangash, Girijesh &amp; Godfrey</a:t>
            </a:r>
            <a:endParaRPr lang="en-US" sz="950" dirty="0"/>
          </a:p>
        </p:txBody>
      </p:sp>
      <p:sp>
        <p:nvSpPr>
          <p:cNvPr id="57" name="Text 46"/>
          <p:cNvSpPr/>
          <p:nvPr/>
        </p:nvSpPr>
        <p:spPr>
          <a:xfrm>
            <a:off x="658368" y="4681728"/>
            <a:ext cx="548640" cy="274320"/>
          </a:xfrm>
          <a:prstGeom prst="rect">
            <a:avLst/>
          </a:prstGeom>
          <a:noFill/>
        </p:spPr>
        <p:txBody>
          <a:bodyPr wrap="square" lIns="0" tIns="0" rIns="0" bIns="0" rtlCol="0" anchor="ctr"/>
          <a:lstStyle/>
          <a:p>
            <a:pPr marL="0" indent="0">
              <a:buNone/>
            </a:pPr>
            <a:r>
              <a:rPr lang="en-US" sz="950" b="1" dirty="0">
                <a:solidFill>
                  <a:srgbClr val="5BDCBB"/>
                </a:solidFill>
                <a:latin typeface="Segoe UI" panose="020B0502040204020203" pitchFamily="34" charset="0"/>
                <a:ea typeface="Segoe UI" panose="020B0502040204020203" pitchFamily="34" charset="-122"/>
                <a:cs typeface="Segoe UI" panose="020B0502040204020203" pitchFamily="34" charset="-120"/>
              </a:rPr>
              <a:t>09</a:t>
            </a:r>
            <a:endParaRPr lang="en-US" sz="950" dirty="0"/>
          </a:p>
        </p:txBody>
      </p:sp>
      <p:sp>
        <p:nvSpPr>
          <p:cNvPr id="58" name="Shape 47">
            <a:hlinkClick r:id="rId19" action="ppaction://hlinksldjump"/>
          </p:cNvPr>
          <p:cNvSpPr/>
          <p:nvPr/>
        </p:nvSpPr>
        <p:spPr>
          <a:xfrm>
            <a:off x="3337560" y="4608576"/>
            <a:ext cx="2670048" cy="1554480"/>
          </a:xfrm>
          <a:prstGeom prst="roundRect">
            <a:avLst>
              <a:gd name="adj" fmla="val 5882"/>
            </a:avLst>
          </a:prstGeom>
          <a:solidFill>
            <a:srgbClr val="156D4F"/>
          </a:solidFill>
          <a:ln w="12700">
            <a:solidFill>
              <a:srgbClr val="57926E"/>
            </a:solidFill>
            <a:prstDash val="solid"/>
          </a:ln>
          <a:effectLst>
            <a:outerShdw blurRad="76200" dist="25400" dir="2700000" algn="bl" rotWithShape="0">
              <a:srgbClr val="000000">
                <a:alpha val="8000"/>
              </a:srgbClr>
            </a:outerShdw>
          </a:effectLst>
        </p:spPr>
      </p:sp>
      <p:sp>
        <p:nvSpPr>
          <p:cNvPr id="59" name="Shape 48"/>
          <p:cNvSpPr/>
          <p:nvPr/>
        </p:nvSpPr>
        <p:spPr>
          <a:xfrm>
            <a:off x="4352544" y="4718304"/>
            <a:ext cx="640080" cy="640080"/>
          </a:xfrm>
          <a:prstGeom prst="ellipse">
            <a:avLst/>
          </a:prstGeom>
          <a:solidFill>
            <a:srgbClr val="57926E"/>
          </a:solidFill>
          <a:effectLst>
            <a:outerShdw blurRad="76200" dist="25400" dir="2700000" algn="bl" rotWithShape="0">
              <a:srgbClr val="000000">
                <a:alpha val="8000"/>
              </a:srgbClr>
            </a:outerShdw>
          </a:effectLst>
        </p:spPr>
      </p:sp>
      <p:pic>
        <p:nvPicPr>
          <p:cNvPr id="60" name="Image 9" descr="./icons/route_white.png"/>
          <p:cNvPicPr>
            <a:picLocks noChangeAspect="1"/>
          </p:cNvPicPr>
          <p:nvPr/>
        </p:nvPicPr>
        <p:blipFill>
          <a:blip r:embed="rId20"/>
          <a:stretch>
            <a:fillRect/>
          </a:stretch>
        </p:blipFill>
        <p:spPr>
          <a:xfrm>
            <a:off x="4518965" y="4884725"/>
            <a:ext cx="307238" cy="307238"/>
          </a:xfrm>
          <a:prstGeom prst="rect">
            <a:avLst/>
          </a:prstGeom>
        </p:spPr>
      </p:pic>
      <p:sp>
        <p:nvSpPr>
          <p:cNvPr id="61" name="Text 49">
            <a:hlinkClick r:id="rId19" action="ppaction://hlinksldjump"/>
          </p:cNvPr>
          <p:cNvSpPr/>
          <p:nvPr/>
        </p:nvSpPr>
        <p:spPr>
          <a:xfrm>
            <a:off x="3429000" y="5385816"/>
            <a:ext cx="2487168" cy="320040"/>
          </a:xfrm>
          <a:prstGeom prst="rect">
            <a:avLst/>
          </a:prstGeom>
          <a:noFill/>
        </p:spPr>
        <p:txBody>
          <a:bodyPr wrap="square" lIns="0" tIns="0" rIns="0" bIns="0" rtlCol="0" anchor="ctr"/>
          <a:lstStyle/>
          <a:p>
            <a:pPr marL="0" indent="0" algn="ctr">
              <a:buNone/>
            </a:pPr>
            <a:r>
              <a:rPr lang="en-US" sz="1300" b="1" u="sng" dirty="0">
                <a:solidFill>
                  <a:srgbClr val="5BDCBB"/>
                </a:solidFill>
                <a:latin typeface="Segoe UI" panose="020B0502040204020203" pitchFamily="34" charset="0"/>
                <a:ea typeface="Segoe UI" panose="020B0502040204020203" pitchFamily="34" charset="-122"/>
                <a:cs typeface="Segoe UI" panose="020B0502040204020203" pitchFamily="34" charset="-120"/>
                <a:hlinkClick r:id="rId19" action="ppaction://hlinksldjump"/>
              </a:rPr>
              <a:t>Prototype Roadmap</a:t>
            </a:r>
            <a:endParaRPr lang="en-US" sz="1300" dirty="0"/>
          </a:p>
        </p:txBody>
      </p:sp>
      <p:sp>
        <p:nvSpPr>
          <p:cNvPr id="62" name="Text 50">
            <a:hlinkClick r:id="rId19" action="ppaction://hlinksldjump"/>
          </p:cNvPr>
          <p:cNvSpPr/>
          <p:nvPr/>
        </p:nvSpPr>
        <p:spPr>
          <a:xfrm>
            <a:off x="3429000" y="5705856"/>
            <a:ext cx="2487168" cy="411480"/>
          </a:xfrm>
          <a:prstGeom prst="rect">
            <a:avLst/>
          </a:prstGeom>
          <a:noFill/>
        </p:spPr>
        <p:txBody>
          <a:bodyPr wrap="square" lIns="0" tIns="0" rIns="0" bIns="0" rtlCol="0" anchor="ctr"/>
          <a:lstStyle/>
          <a:p>
            <a:pPr marL="0" indent="0" algn="ctr">
              <a:buNone/>
            </a:pPr>
            <a:r>
              <a:rPr lang="en-US" sz="950" u="sng" dirty="0">
                <a:solidFill>
                  <a:srgbClr val="C7C396"/>
                </a:solidFill>
                <a:latin typeface="Segoe UI" panose="020B0502040204020203" pitchFamily="34" charset="0"/>
                <a:ea typeface="Segoe UI" panose="020B0502040204020203" pitchFamily="34" charset="-122"/>
                <a:cs typeface="Segoe UI" panose="020B0502040204020203" pitchFamily="34" charset="-120"/>
                <a:hlinkClick r:id="rId19" action="ppaction://hlinksldjump"/>
              </a:rPr>
              <a:t>6-Week final year timeline (W1-6)</a:t>
            </a:r>
            <a:endParaRPr lang="en-US" sz="950" dirty="0"/>
          </a:p>
        </p:txBody>
      </p:sp>
      <p:sp>
        <p:nvSpPr>
          <p:cNvPr id="63" name="Text 51"/>
          <p:cNvSpPr/>
          <p:nvPr/>
        </p:nvSpPr>
        <p:spPr>
          <a:xfrm>
            <a:off x="3447288" y="4681728"/>
            <a:ext cx="548640" cy="274320"/>
          </a:xfrm>
          <a:prstGeom prst="rect">
            <a:avLst/>
          </a:prstGeom>
          <a:noFill/>
        </p:spPr>
        <p:txBody>
          <a:bodyPr wrap="square" lIns="0" tIns="0" rIns="0" bIns="0" rtlCol="0" anchor="ctr"/>
          <a:lstStyle/>
          <a:p>
            <a:pPr marL="0" indent="0">
              <a:buNone/>
            </a:pPr>
            <a:r>
              <a:rPr lang="en-US" sz="950" b="1" dirty="0">
                <a:solidFill>
                  <a:srgbClr val="5BDCBB"/>
                </a:solidFill>
                <a:latin typeface="Segoe UI" panose="020B0502040204020203" pitchFamily="34" charset="0"/>
                <a:ea typeface="Segoe UI" panose="020B0502040204020203" pitchFamily="34" charset="-122"/>
                <a:cs typeface="Segoe UI" panose="020B0502040204020203" pitchFamily="34" charset="-120"/>
              </a:rPr>
              <a:t>10</a:t>
            </a:r>
            <a:endParaRPr lang="en-US" sz="950" dirty="0"/>
          </a:p>
        </p:txBody>
      </p:sp>
      <p:sp>
        <p:nvSpPr>
          <p:cNvPr id="64" name="Shape 52">
            <a:hlinkClick r:id="rId21" action="ppaction://hlinksldjump"/>
          </p:cNvPr>
          <p:cNvSpPr/>
          <p:nvPr/>
        </p:nvSpPr>
        <p:spPr>
          <a:xfrm>
            <a:off x="6126480" y="4608576"/>
            <a:ext cx="2670048" cy="1554480"/>
          </a:xfrm>
          <a:prstGeom prst="roundRect">
            <a:avLst>
              <a:gd name="adj" fmla="val 5882"/>
            </a:avLst>
          </a:prstGeom>
          <a:solidFill>
            <a:srgbClr val="156D4F"/>
          </a:solidFill>
          <a:ln w="12700">
            <a:solidFill>
              <a:srgbClr val="57926E"/>
            </a:solidFill>
            <a:prstDash val="solid"/>
          </a:ln>
          <a:effectLst>
            <a:outerShdw blurRad="76200" dist="25400" dir="2700000" algn="bl" rotWithShape="0">
              <a:srgbClr val="000000">
                <a:alpha val="8000"/>
              </a:srgbClr>
            </a:outerShdw>
          </a:effectLst>
        </p:spPr>
      </p:sp>
      <p:sp>
        <p:nvSpPr>
          <p:cNvPr id="65" name="Shape 53"/>
          <p:cNvSpPr/>
          <p:nvPr/>
        </p:nvSpPr>
        <p:spPr>
          <a:xfrm>
            <a:off x="7141464" y="4718304"/>
            <a:ext cx="640080" cy="640080"/>
          </a:xfrm>
          <a:prstGeom prst="ellipse">
            <a:avLst/>
          </a:prstGeom>
          <a:solidFill>
            <a:srgbClr val="57926E"/>
          </a:solidFill>
          <a:effectLst>
            <a:outerShdw blurRad="76200" dist="25400" dir="2700000" algn="bl" rotWithShape="0">
              <a:srgbClr val="000000">
                <a:alpha val="8000"/>
              </a:srgbClr>
            </a:outerShdw>
          </a:effectLst>
        </p:spPr>
      </p:sp>
      <p:pic>
        <p:nvPicPr>
          <p:cNvPr id="66" name="Image 10" descr="./icons/brain_white.png"/>
          <p:cNvPicPr>
            <a:picLocks noChangeAspect="1"/>
          </p:cNvPicPr>
          <p:nvPr/>
        </p:nvPicPr>
        <p:blipFill>
          <a:blip r:embed="rId22"/>
          <a:stretch>
            <a:fillRect/>
          </a:stretch>
        </p:blipFill>
        <p:spPr>
          <a:xfrm>
            <a:off x="7307885" y="4884725"/>
            <a:ext cx="307238" cy="307238"/>
          </a:xfrm>
          <a:prstGeom prst="rect">
            <a:avLst/>
          </a:prstGeom>
        </p:spPr>
      </p:pic>
      <p:sp>
        <p:nvSpPr>
          <p:cNvPr id="67" name="Text 54">
            <a:hlinkClick r:id="rId21" action="ppaction://hlinksldjump"/>
          </p:cNvPr>
          <p:cNvSpPr/>
          <p:nvPr/>
        </p:nvSpPr>
        <p:spPr>
          <a:xfrm>
            <a:off x="6217920" y="5385816"/>
            <a:ext cx="2487168" cy="320040"/>
          </a:xfrm>
          <a:prstGeom prst="rect">
            <a:avLst/>
          </a:prstGeom>
          <a:noFill/>
        </p:spPr>
        <p:txBody>
          <a:bodyPr wrap="square" lIns="0" tIns="0" rIns="0" bIns="0" rtlCol="0" anchor="ctr"/>
          <a:lstStyle/>
          <a:p>
            <a:pPr marL="0" indent="0" algn="ctr">
              <a:buNone/>
            </a:pPr>
            <a:r>
              <a:rPr lang="en-US" sz="1300" b="1" u="sng" dirty="0">
                <a:solidFill>
                  <a:srgbClr val="5BDCBB"/>
                </a:solidFill>
                <a:latin typeface="Segoe UI" panose="020B0502040204020203" pitchFamily="34" charset="0"/>
                <a:ea typeface="Segoe UI" panose="020B0502040204020203" pitchFamily="34" charset="-122"/>
                <a:cs typeface="Segoe UI" panose="020B0502040204020203" pitchFamily="34" charset="-120"/>
                <a:hlinkClick r:id="rId21" action="ppaction://hlinksldjump"/>
              </a:rPr>
              <a:t>R&amp;D Highlights</a:t>
            </a:r>
            <a:endParaRPr lang="en-US" sz="1300" dirty="0"/>
          </a:p>
        </p:txBody>
      </p:sp>
      <p:sp>
        <p:nvSpPr>
          <p:cNvPr id="68" name="Text 55">
            <a:hlinkClick r:id="rId21" action="ppaction://hlinksldjump"/>
          </p:cNvPr>
          <p:cNvSpPr/>
          <p:nvPr/>
        </p:nvSpPr>
        <p:spPr>
          <a:xfrm>
            <a:off x="6217920" y="5705856"/>
            <a:ext cx="2487168" cy="411480"/>
          </a:xfrm>
          <a:prstGeom prst="rect">
            <a:avLst/>
          </a:prstGeom>
          <a:noFill/>
        </p:spPr>
        <p:txBody>
          <a:bodyPr wrap="square" lIns="0" tIns="0" rIns="0" bIns="0" rtlCol="0" anchor="ctr"/>
          <a:lstStyle/>
          <a:p>
            <a:pPr marL="0" indent="0" algn="ctr">
              <a:buNone/>
            </a:pPr>
            <a:r>
              <a:rPr lang="en-US" sz="950" u="sng" dirty="0">
                <a:solidFill>
                  <a:srgbClr val="C7C396"/>
                </a:solidFill>
                <a:latin typeface="Segoe UI" panose="020B0502040204020203" pitchFamily="34" charset="0"/>
                <a:ea typeface="Segoe UI" panose="020B0502040204020203" pitchFamily="34" charset="-122"/>
                <a:cs typeface="Segoe UI" panose="020B0502040204020203" pitchFamily="34" charset="-120"/>
                <a:hlinkClick r:id="rId21" action="ppaction://hlinksldjump"/>
              </a:rPr>
              <a:t>Academic novelty &amp; expected outcomes</a:t>
            </a:r>
            <a:endParaRPr lang="en-US" sz="950" dirty="0"/>
          </a:p>
        </p:txBody>
      </p:sp>
      <p:sp>
        <p:nvSpPr>
          <p:cNvPr id="69" name="Text 56"/>
          <p:cNvSpPr/>
          <p:nvPr/>
        </p:nvSpPr>
        <p:spPr>
          <a:xfrm>
            <a:off x="6236208" y="4681728"/>
            <a:ext cx="548640" cy="274320"/>
          </a:xfrm>
          <a:prstGeom prst="rect">
            <a:avLst/>
          </a:prstGeom>
          <a:noFill/>
        </p:spPr>
        <p:txBody>
          <a:bodyPr wrap="square" lIns="0" tIns="0" rIns="0" bIns="0" rtlCol="0" anchor="ctr"/>
          <a:lstStyle/>
          <a:p>
            <a:pPr marL="0" indent="0">
              <a:buNone/>
            </a:pPr>
            <a:r>
              <a:rPr lang="en-US" sz="950" b="1" dirty="0">
                <a:solidFill>
                  <a:srgbClr val="5BDCBB"/>
                </a:solidFill>
                <a:latin typeface="Segoe UI" panose="020B0502040204020203" pitchFamily="34" charset="0"/>
                <a:ea typeface="Segoe UI" panose="020B0502040204020203" pitchFamily="34" charset="-122"/>
                <a:cs typeface="Segoe UI" panose="020B0502040204020203" pitchFamily="34" charset="-120"/>
              </a:rPr>
              <a:t>11</a:t>
            </a:r>
            <a:endParaRPr lang="en-US" sz="950" dirty="0"/>
          </a:p>
        </p:txBody>
      </p:sp>
      <p:sp>
        <p:nvSpPr>
          <p:cNvPr id="70" name="Shape 57">
            <a:hlinkClick r:id="rId23" action="ppaction://hlinksldjump"/>
          </p:cNvPr>
          <p:cNvSpPr/>
          <p:nvPr/>
        </p:nvSpPr>
        <p:spPr>
          <a:xfrm>
            <a:off x="8915400" y="4608576"/>
            <a:ext cx="2670048" cy="1554480"/>
          </a:xfrm>
          <a:prstGeom prst="roundRect">
            <a:avLst>
              <a:gd name="adj" fmla="val 5882"/>
            </a:avLst>
          </a:prstGeom>
          <a:solidFill>
            <a:srgbClr val="156D4F"/>
          </a:solidFill>
          <a:ln w="12700">
            <a:solidFill>
              <a:srgbClr val="57926E"/>
            </a:solidFill>
            <a:prstDash val="solid"/>
          </a:ln>
          <a:effectLst>
            <a:outerShdw blurRad="76200" dist="25400" dir="2700000" algn="bl" rotWithShape="0">
              <a:srgbClr val="000000">
                <a:alpha val="8000"/>
              </a:srgbClr>
            </a:outerShdw>
          </a:effectLst>
        </p:spPr>
      </p:sp>
      <p:sp>
        <p:nvSpPr>
          <p:cNvPr id="71" name="Shape 58"/>
          <p:cNvSpPr/>
          <p:nvPr/>
        </p:nvSpPr>
        <p:spPr>
          <a:xfrm>
            <a:off x="9930384" y="4718304"/>
            <a:ext cx="640080" cy="640080"/>
          </a:xfrm>
          <a:prstGeom prst="ellipse">
            <a:avLst/>
          </a:prstGeom>
          <a:solidFill>
            <a:srgbClr val="57926E"/>
          </a:solidFill>
          <a:effectLst>
            <a:outerShdw blurRad="76200" dist="25400" dir="2700000" algn="bl" rotWithShape="0">
              <a:srgbClr val="000000">
                <a:alpha val="8000"/>
              </a:srgbClr>
            </a:outerShdw>
          </a:effectLst>
        </p:spPr>
      </p:sp>
      <p:pic>
        <p:nvPicPr>
          <p:cNvPr id="72" name="Image 11" descr="./icons/check_white.png"/>
          <p:cNvPicPr>
            <a:picLocks noChangeAspect="1"/>
          </p:cNvPicPr>
          <p:nvPr/>
        </p:nvPicPr>
        <p:blipFill>
          <a:blip r:embed="rId24"/>
          <a:stretch>
            <a:fillRect/>
          </a:stretch>
        </p:blipFill>
        <p:spPr>
          <a:xfrm>
            <a:off x="10096805" y="4884725"/>
            <a:ext cx="307238" cy="307238"/>
          </a:xfrm>
          <a:prstGeom prst="rect">
            <a:avLst/>
          </a:prstGeom>
        </p:spPr>
      </p:pic>
      <p:sp>
        <p:nvSpPr>
          <p:cNvPr id="73" name="Text 59">
            <a:hlinkClick r:id="rId23" action="ppaction://hlinksldjump"/>
          </p:cNvPr>
          <p:cNvSpPr/>
          <p:nvPr/>
        </p:nvSpPr>
        <p:spPr>
          <a:xfrm>
            <a:off x="9006840" y="5385816"/>
            <a:ext cx="2487168" cy="320040"/>
          </a:xfrm>
          <a:prstGeom prst="rect">
            <a:avLst/>
          </a:prstGeom>
          <a:noFill/>
        </p:spPr>
        <p:txBody>
          <a:bodyPr wrap="square" lIns="0" tIns="0" rIns="0" bIns="0" rtlCol="0" anchor="ctr"/>
          <a:lstStyle/>
          <a:p>
            <a:pPr marL="0" indent="0" algn="ctr">
              <a:buNone/>
            </a:pPr>
            <a:r>
              <a:rPr lang="en-US" sz="1300" b="1" u="sng" dirty="0">
                <a:solidFill>
                  <a:srgbClr val="5BDCBB"/>
                </a:solidFill>
                <a:latin typeface="Segoe UI" panose="020B0502040204020203" pitchFamily="34" charset="0"/>
                <a:ea typeface="Segoe UI" panose="020B0502040204020203" pitchFamily="34" charset="-122"/>
                <a:cs typeface="Segoe UI" panose="020B0502040204020203" pitchFamily="34" charset="-120"/>
                <a:hlinkClick r:id="rId23" action="ppaction://hlinksldjump"/>
              </a:rPr>
              <a:t>Feasibility Verdict</a:t>
            </a:r>
            <a:endParaRPr lang="en-US" sz="1300" dirty="0"/>
          </a:p>
        </p:txBody>
      </p:sp>
      <p:sp>
        <p:nvSpPr>
          <p:cNvPr id="74" name="Text 60">
            <a:hlinkClick r:id="rId23" action="ppaction://hlinksldjump"/>
          </p:cNvPr>
          <p:cNvSpPr/>
          <p:nvPr/>
        </p:nvSpPr>
        <p:spPr>
          <a:xfrm>
            <a:off x="9006840" y="5705856"/>
            <a:ext cx="2487168" cy="411480"/>
          </a:xfrm>
          <a:prstGeom prst="rect">
            <a:avLst/>
          </a:prstGeom>
          <a:noFill/>
        </p:spPr>
        <p:txBody>
          <a:bodyPr wrap="square" lIns="0" tIns="0" rIns="0" bIns="0" rtlCol="0" anchor="ctr"/>
          <a:lstStyle/>
          <a:p>
            <a:pPr marL="0" indent="0" algn="ctr">
              <a:buNone/>
            </a:pPr>
            <a:r>
              <a:rPr lang="en-US" sz="950" u="sng" dirty="0">
                <a:solidFill>
                  <a:srgbClr val="C7C396"/>
                </a:solidFill>
                <a:latin typeface="Segoe UI" panose="020B0502040204020203" pitchFamily="34" charset="0"/>
                <a:ea typeface="Segoe UI" panose="020B0502040204020203" pitchFamily="34" charset="-122"/>
                <a:cs typeface="Segoe UI" panose="020B0502040204020203" pitchFamily="34" charset="-120"/>
                <a:hlinkClick r:id="rId23" action="ppaction://hlinksldjump"/>
              </a:rPr>
              <a:t>Technical assessment &amp; final score</a:t>
            </a:r>
            <a:endParaRPr lang="en-US" sz="950" dirty="0"/>
          </a:p>
        </p:txBody>
      </p:sp>
      <p:sp>
        <p:nvSpPr>
          <p:cNvPr id="75" name="Text 61"/>
          <p:cNvSpPr/>
          <p:nvPr/>
        </p:nvSpPr>
        <p:spPr>
          <a:xfrm>
            <a:off x="9025128" y="4681728"/>
            <a:ext cx="548640" cy="274320"/>
          </a:xfrm>
          <a:prstGeom prst="rect">
            <a:avLst/>
          </a:prstGeom>
          <a:noFill/>
        </p:spPr>
        <p:txBody>
          <a:bodyPr wrap="square" lIns="0" tIns="0" rIns="0" bIns="0" rtlCol="0" anchor="ctr"/>
          <a:lstStyle/>
          <a:p>
            <a:pPr marL="0" indent="0">
              <a:buNone/>
            </a:pPr>
            <a:r>
              <a:rPr lang="en-US" sz="950" b="1" dirty="0">
                <a:solidFill>
                  <a:srgbClr val="5BDCBB"/>
                </a:solidFill>
                <a:latin typeface="Segoe UI" panose="020B0502040204020203" pitchFamily="34" charset="0"/>
                <a:ea typeface="Segoe UI" panose="020B0502040204020203" pitchFamily="34" charset="-122"/>
                <a:cs typeface="Segoe UI" panose="020B0502040204020203" pitchFamily="34" charset="-120"/>
              </a:rPr>
              <a:t>12</a:t>
            </a:r>
            <a:endParaRPr lang="en-US" sz="9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C7C396"/>
        </a:solidFill>
        <a:effectLst/>
      </p:bgPr>
    </p:bg>
    <p:spTree>
      <p:nvGrpSpPr>
        <p:cNvPr id="1" name=""/>
        <p:cNvGrpSpPr/>
        <p:nvPr/>
      </p:nvGrpSpPr>
      <p:grpSpPr>
        <a:xfrm>
          <a:off x="0" y="0"/>
          <a:ext cx="0" cy="0"/>
          <a:chOff x="0" y="0"/>
          <a:chExt cx="0" cy="0"/>
        </a:xfrm>
      </p:grpSpPr>
      <p:sp>
        <p:nvSpPr>
          <p:cNvPr id="2" name="Text 0"/>
          <p:cNvSpPr/>
          <p:nvPr/>
        </p:nvSpPr>
        <p:spPr>
          <a:xfrm>
            <a:off x="548640" y="384048"/>
            <a:ext cx="8229600" cy="274320"/>
          </a:xfrm>
          <a:prstGeom prst="rect">
            <a:avLst/>
          </a:prstGeom>
          <a:noFill/>
        </p:spPr>
        <p:txBody>
          <a:bodyPr wrap="square" lIns="0" tIns="0" rIns="0" bIns="0" rtlCol="0" anchor="ctr"/>
          <a:lstStyle/>
          <a:p>
            <a:pPr marL="0" indent="0">
              <a:buNone/>
            </a:pPr>
            <a:r>
              <a:rPr lang="en-US" sz="1200" b="1" kern="0" spc="200" dirty="0">
                <a:solidFill>
                  <a:srgbClr val="156D4F"/>
                </a:solidFill>
                <a:latin typeface="Segoe UI" panose="020B0502040204020203" pitchFamily="34" charset="0"/>
                <a:ea typeface="Segoe UI" panose="020B0502040204020203" pitchFamily="34" charset="-122"/>
                <a:cs typeface="Segoe UI" panose="020B0502040204020203" pitchFamily="34" charset="-120"/>
              </a:rPr>
              <a:t>SECTION 01 · STRATEGIC LANDSCAPE</a:t>
            </a:r>
            <a:endParaRPr lang="en-US" sz="1200" dirty="0"/>
          </a:p>
        </p:txBody>
      </p:sp>
      <p:sp>
        <p:nvSpPr>
          <p:cNvPr id="3" name="Text 1"/>
          <p:cNvSpPr/>
          <p:nvPr/>
        </p:nvSpPr>
        <p:spPr>
          <a:xfrm>
            <a:off x="548640" y="640080"/>
            <a:ext cx="9601200" cy="640080"/>
          </a:xfrm>
          <a:prstGeom prst="rect">
            <a:avLst/>
          </a:prstGeom>
          <a:noFill/>
        </p:spPr>
        <p:txBody>
          <a:bodyPr wrap="square" lIns="0" tIns="0" rIns="0" bIns="0" rtlCol="0" anchor="ctr"/>
          <a:lstStyle/>
          <a:p>
            <a:pPr marL="0" indent="0">
              <a:buNone/>
            </a:pPr>
            <a:r>
              <a:rPr lang="en-US" sz="2800" b="1" dirty="0">
                <a:solidFill>
                  <a:srgbClr val="156D4F"/>
                </a:solidFill>
                <a:latin typeface="Georgia" panose="02040502050405020303" pitchFamily="34" charset="0"/>
                <a:ea typeface="Georgia" panose="02040502050405020303" pitchFamily="34" charset="-122"/>
                <a:cs typeface="Georgia" panose="02040502050405020303" pitchFamily="34" charset="-120"/>
              </a:rPr>
              <a:t>Vision &amp; Contextual Landscape</a:t>
            </a:r>
            <a:endParaRPr lang="en-US" sz="2800" dirty="0"/>
          </a:p>
        </p:txBody>
      </p:sp>
      <p:sp>
        <p:nvSpPr>
          <p:cNvPr id="4" name="Text 2"/>
          <p:cNvSpPr/>
          <p:nvPr/>
        </p:nvSpPr>
        <p:spPr>
          <a:xfrm>
            <a:off x="548640" y="1417320"/>
            <a:ext cx="10607040" cy="868680"/>
          </a:xfrm>
          <a:prstGeom prst="rect">
            <a:avLst/>
          </a:prstGeom>
          <a:noFill/>
        </p:spPr>
        <p:txBody>
          <a:bodyPr wrap="square" lIns="0" tIns="0" rIns="0" bIns="0" rtlCol="0" anchor="ctr"/>
          <a:lstStyle/>
          <a:p>
            <a:pPr marL="0" indent="0" algn="just">
              <a:lnSpc>
                <a:spcPct val="125000"/>
              </a:lnSpc>
              <a:buNone/>
            </a:pPr>
            <a:r>
              <a:rPr lang="en-US" sz="1350" dirty="0">
                <a:solidFill>
                  <a:srgbClr val="364327"/>
                </a:solidFill>
                <a:latin typeface="Segoe UI" panose="020B0502040204020203" pitchFamily="34" charset="0"/>
                <a:ea typeface="Segoe UI" panose="020B0502040204020203" pitchFamily="34" charset="-122"/>
                <a:cs typeface="Segoe UI" panose="020B0502040204020203" pitchFamily="34" charset="-120"/>
              </a:rPr>
              <a:t>Current environmental sustainability platforms emphasize monitoring and historical reporting rather than intelligent decision support. They typically require heavy manual logging, offer generic advice, focus only on carbon, and lack simulation, optimization, explainability, or verification capabilities. EcoSphere shifts this paradigm by treating sustainability as an active decision-support problem: learning user behavior, predicting future carbon, energy, and water usage, and generating multi-resource optimizations with explainable AI reasoning.</a:t>
            </a:r>
            <a:endParaRPr lang="en-US" sz="1350" dirty="0"/>
          </a:p>
        </p:txBody>
      </p:sp>
      <p:sp>
        <p:nvSpPr>
          <p:cNvPr id="5" name="Shape 3"/>
          <p:cNvSpPr/>
          <p:nvPr/>
        </p:nvSpPr>
        <p:spPr>
          <a:xfrm>
            <a:off x="548640" y="2423160"/>
            <a:ext cx="10607040" cy="1188720"/>
          </a:xfrm>
          <a:prstGeom prst="roundRect">
            <a:avLst>
              <a:gd name="adj" fmla="val 7692"/>
            </a:avLst>
          </a:prstGeom>
          <a:solidFill>
            <a:srgbClr val="FFFFFF"/>
          </a:solidFill>
          <a:effectLst>
            <a:outerShdw blurRad="101600" dist="38100" dir="2700000" algn="bl" rotWithShape="0">
              <a:srgbClr val="000000">
                <a:alpha val="12000"/>
              </a:srgbClr>
            </a:outerShdw>
          </a:effectLst>
        </p:spPr>
      </p:sp>
      <p:sp>
        <p:nvSpPr>
          <p:cNvPr id="6" name="Text 4"/>
          <p:cNvSpPr/>
          <p:nvPr/>
        </p:nvSpPr>
        <p:spPr>
          <a:xfrm>
            <a:off x="822960" y="2578608"/>
            <a:ext cx="3657600" cy="274320"/>
          </a:xfrm>
          <a:prstGeom prst="rect">
            <a:avLst/>
          </a:prstGeom>
          <a:noFill/>
        </p:spPr>
        <p:txBody>
          <a:bodyPr wrap="square" lIns="0" tIns="0" rIns="0" bIns="0" rtlCol="0" anchor="ctr"/>
          <a:lstStyle/>
          <a:p>
            <a:pPr marL="0" indent="0">
              <a:buNone/>
            </a:pPr>
            <a:r>
              <a:rPr lang="en-US" sz="1100" b="1" kern="0" spc="150" dirty="0">
                <a:solidFill>
                  <a:srgbClr val="156D4F"/>
                </a:solidFill>
                <a:latin typeface="Segoe UI" panose="020B0502040204020203" pitchFamily="34" charset="0"/>
                <a:ea typeface="Segoe UI" panose="020B0502040204020203" pitchFamily="34" charset="-122"/>
                <a:cs typeface="Segoe UI" panose="020B0502040204020203" pitchFamily="34" charset="-120"/>
              </a:rPr>
              <a:t>VISION</a:t>
            </a:r>
            <a:endParaRPr lang="en-US" sz="1100" dirty="0"/>
          </a:p>
        </p:txBody>
      </p:sp>
      <p:sp>
        <p:nvSpPr>
          <p:cNvPr id="7" name="Text 5"/>
          <p:cNvSpPr/>
          <p:nvPr/>
        </p:nvSpPr>
        <p:spPr>
          <a:xfrm>
            <a:off x="822960" y="2852928"/>
            <a:ext cx="10058400" cy="685800"/>
          </a:xfrm>
          <a:prstGeom prst="rect">
            <a:avLst/>
          </a:prstGeom>
          <a:noFill/>
        </p:spPr>
        <p:txBody>
          <a:bodyPr wrap="square" lIns="0" tIns="0" rIns="0" bIns="0" rtlCol="0" anchor="ctr"/>
          <a:lstStyle/>
          <a:p>
            <a:pPr marL="0" indent="0" algn="just">
              <a:lnSpc>
                <a:spcPct val="120000"/>
              </a:lnSpc>
              <a:buNone/>
            </a:pPr>
            <a:r>
              <a:rPr lang="en-US" sz="1450" i="1" dirty="0">
                <a:solidFill>
                  <a:srgbClr val="156D4F"/>
                </a:solidFill>
                <a:latin typeface="Georgia" panose="02040502050405020303" pitchFamily="34" charset="0"/>
                <a:ea typeface="Georgia" panose="02040502050405020303" pitchFamily="34" charset="-122"/>
                <a:cs typeface="Georgia" panose="02040502050405020303" pitchFamily="34" charset="-120"/>
              </a:rPr>
              <a:t>An ML-driven sustainability platform combining behavioral forecasting, digital twin simulations, multi-objective optimization, and explainable AI to guide users toward verified eco-friendly lifestyles.</a:t>
            </a:r>
            <a:endParaRPr lang="en-US" sz="1450" dirty="0"/>
          </a:p>
        </p:txBody>
      </p:sp>
      <p:sp>
        <p:nvSpPr>
          <p:cNvPr id="8" name="Shape 6"/>
          <p:cNvSpPr/>
          <p:nvPr/>
        </p:nvSpPr>
        <p:spPr>
          <a:xfrm>
            <a:off x="548640" y="3657600"/>
            <a:ext cx="5166360" cy="2240280"/>
          </a:xfrm>
          <a:prstGeom prst="roundRect">
            <a:avLst>
              <a:gd name="adj" fmla="val 3673"/>
            </a:avLst>
          </a:prstGeom>
          <a:solidFill>
            <a:srgbClr val="FFFFFF"/>
          </a:solidFill>
          <a:effectLst>
            <a:outerShdw blurRad="76200" dist="25400" dir="2700000" algn="bl" rotWithShape="0">
              <a:srgbClr val="000000">
                <a:alpha val="8000"/>
              </a:srgbClr>
            </a:outerShdw>
          </a:effectLst>
        </p:spPr>
      </p:sp>
      <p:sp>
        <p:nvSpPr>
          <p:cNvPr id="9" name="Text 7"/>
          <p:cNvSpPr/>
          <p:nvPr/>
        </p:nvSpPr>
        <p:spPr>
          <a:xfrm>
            <a:off x="777240" y="3794760"/>
            <a:ext cx="4709160" cy="365760"/>
          </a:xfrm>
          <a:prstGeom prst="rect">
            <a:avLst/>
          </a:prstGeom>
          <a:noFill/>
        </p:spPr>
        <p:txBody>
          <a:bodyPr wrap="square" lIns="0" tIns="0" rIns="0" bIns="0" rtlCol="0" anchor="ctr"/>
          <a:lstStyle/>
          <a:p>
            <a:pPr marL="0" indent="0">
              <a:buNone/>
            </a:pPr>
            <a:r>
              <a:rPr lang="en-US" sz="1550" b="1" dirty="0">
                <a:solidFill>
                  <a:srgbClr val="156D4F"/>
                </a:solidFill>
                <a:latin typeface="Segoe UI" panose="020B0502040204020203" pitchFamily="34" charset="0"/>
                <a:ea typeface="Segoe UI" panose="020B0502040204020203" pitchFamily="34" charset="-122"/>
                <a:cs typeface="Segoe UI" panose="020B0502040204020203" pitchFamily="34" charset="-120"/>
              </a:rPr>
              <a:t>LIMITATIONS OF TRADITIONAL APPS</a:t>
            </a:r>
            <a:endParaRPr lang="en-US" sz="1550" dirty="0"/>
          </a:p>
        </p:txBody>
      </p:sp>
      <p:sp>
        <p:nvSpPr>
          <p:cNvPr id="10" name="Text 8"/>
          <p:cNvSpPr/>
          <p:nvPr/>
        </p:nvSpPr>
        <p:spPr>
          <a:xfrm>
            <a:off x="777240" y="4206240"/>
            <a:ext cx="4754880" cy="1554480"/>
          </a:xfrm>
          <a:prstGeom prst="rect">
            <a:avLst/>
          </a:prstGeom>
          <a:noFill/>
        </p:spPr>
        <p:txBody>
          <a:bodyPr wrap="square" lIns="0" tIns="0" rIns="0" bIns="0" rtlCol="0" anchor="ctr"/>
          <a:lstStyle/>
          <a:p>
            <a:pPr marL="0" indent="0" algn="just">
              <a:lnSpc>
                <a:spcPct val="118000"/>
              </a:lnSpc>
              <a:buNone/>
            </a:pPr>
            <a:r>
              <a:rPr lang="en-US" sz="1200" dirty="0">
                <a:solidFill>
                  <a:srgbClr val="364327"/>
                </a:solidFill>
                <a:latin typeface="Segoe UI" panose="020B0502040204020203" pitchFamily="34" charset="0"/>
                <a:ea typeface="Segoe UI" panose="020B0502040204020203" pitchFamily="34" charset="-122"/>
                <a:cs typeface="Segoe UI" panose="020B0502040204020203" pitchFamily="34" charset="-120"/>
              </a:rPr>
              <a:t>• Historical Auditing: Reports past emissions instead of predicting future impacts.</a:t>
            </a:r>
            <a:endParaRPr lang="en-US" sz="1200" dirty="0"/>
          </a:p>
          <a:p>
            <a:pPr marL="0" indent="0" algn="just">
              <a:lnSpc>
                <a:spcPct val="118000"/>
              </a:lnSpc>
              <a:buNone/>
            </a:pPr>
            <a:r>
              <a:rPr lang="en-US" sz="1200" dirty="0">
                <a:solidFill>
                  <a:srgbClr val="364327"/>
                </a:solidFill>
                <a:latin typeface="Segoe UI" panose="020B0502040204020203" pitchFamily="34" charset="0"/>
                <a:ea typeface="Segoe UI" panose="020B0502040204020203" pitchFamily="34" charset="-122"/>
                <a:cs typeface="Segoe UI" panose="020B0502040204020203" pitchFamily="34" charset="-120"/>
              </a:rPr>
              <a:t>• Single-Resource Focus: Optimizes one metric while ignoring conflicts with others.</a:t>
            </a:r>
            <a:endParaRPr lang="en-US" sz="1200" dirty="0"/>
          </a:p>
          <a:p>
            <a:pPr marL="0" indent="0" algn="just">
              <a:lnSpc>
                <a:spcPct val="118000"/>
              </a:lnSpc>
              <a:buNone/>
            </a:pPr>
            <a:r>
              <a:rPr lang="en-US" sz="1200" dirty="0">
                <a:solidFill>
                  <a:srgbClr val="364327"/>
                </a:solidFill>
                <a:latin typeface="Segoe UI" panose="020B0502040204020203" pitchFamily="34" charset="0"/>
                <a:ea typeface="Segoe UI" panose="020B0502040204020203" pitchFamily="34" charset="-122"/>
                <a:cs typeface="Segoe UI" panose="020B0502040204020203" pitchFamily="34" charset="-120"/>
              </a:rPr>
              <a:t>• Generic Interventions: Suggests static tips, leading to quick user disengagement.</a:t>
            </a:r>
            <a:endParaRPr lang="en-US" sz="1200" dirty="0"/>
          </a:p>
          <a:p>
            <a:pPr marL="0" indent="0" algn="just">
              <a:lnSpc>
                <a:spcPct val="118000"/>
              </a:lnSpc>
              <a:buNone/>
            </a:pPr>
            <a:r>
              <a:rPr lang="en-US" sz="1200" dirty="0">
                <a:solidFill>
                  <a:srgbClr val="364327"/>
                </a:solidFill>
                <a:latin typeface="Segoe UI" panose="020B0502040204020203" pitchFamily="34" charset="0"/>
                <a:ea typeface="Segoe UI" panose="020B0502040204020203" pitchFamily="34" charset="-122"/>
                <a:cs typeface="Segoe UI" panose="020B0502040204020203" pitchFamily="34" charset="-120"/>
              </a:rPr>
              <a:t>• No Verification: Lacks evidence submission to validate environmental achievements.</a:t>
            </a:r>
            <a:endParaRPr lang="en-US" sz="1200" dirty="0"/>
          </a:p>
        </p:txBody>
      </p:sp>
      <p:sp>
        <p:nvSpPr>
          <p:cNvPr id="11" name="Shape 9"/>
          <p:cNvSpPr/>
          <p:nvPr/>
        </p:nvSpPr>
        <p:spPr>
          <a:xfrm>
            <a:off x="5897880" y="3657600"/>
            <a:ext cx="5257800" cy="2240280"/>
          </a:xfrm>
          <a:prstGeom prst="roundRect">
            <a:avLst>
              <a:gd name="adj" fmla="val 3673"/>
            </a:avLst>
          </a:prstGeom>
          <a:solidFill>
            <a:srgbClr val="FFFFFF"/>
          </a:solidFill>
          <a:ln w="15875">
            <a:solidFill>
              <a:srgbClr val="156D4F"/>
            </a:solidFill>
            <a:prstDash val="solid"/>
          </a:ln>
          <a:effectLst>
            <a:outerShdw blurRad="76200" dist="25400" dir="2700000" algn="bl" rotWithShape="0">
              <a:srgbClr val="000000">
                <a:alpha val="8000"/>
              </a:srgbClr>
            </a:outerShdw>
          </a:effectLst>
        </p:spPr>
      </p:sp>
      <p:sp>
        <p:nvSpPr>
          <p:cNvPr id="12" name="Text 10"/>
          <p:cNvSpPr/>
          <p:nvPr/>
        </p:nvSpPr>
        <p:spPr>
          <a:xfrm>
            <a:off x="6126480" y="3794760"/>
            <a:ext cx="4800600" cy="365760"/>
          </a:xfrm>
          <a:prstGeom prst="rect">
            <a:avLst/>
          </a:prstGeom>
          <a:noFill/>
        </p:spPr>
        <p:txBody>
          <a:bodyPr wrap="square" lIns="0" tIns="0" rIns="0" bIns="0" rtlCol="0" anchor="ctr"/>
          <a:lstStyle/>
          <a:p>
            <a:pPr marL="0" indent="0">
              <a:buNone/>
            </a:pPr>
            <a:r>
              <a:rPr lang="en-US" sz="1550" b="1" dirty="0">
                <a:solidFill>
                  <a:srgbClr val="156D4F"/>
                </a:solidFill>
                <a:latin typeface="Segoe UI" panose="020B0502040204020203" pitchFamily="34" charset="0"/>
                <a:ea typeface="Segoe UI" panose="020B0502040204020203" pitchFamily="34" charset="-122"/>
                <a:cs typeface="Segoe UI" panose="020B0502040204020203" pitchFamily="34" charset="-120"/>
              </a:rPr>
              <a:t>THE ECOSPHERE SOLUTION</a:t>
            </a:r>
            <a:endParaRPr lang="en-US" sz="1550" dirty="0"/>
          </a:p>
        </p:txBody>
      </p:sp>
      <p:sp>
        <p:nvSpPr>
          <p:cNvPr id="13" name="Text 11"/>
          <p:cNvSpPr/>
          <p:nvPr/>
        </p:nvSpPr>
        <p:spPr>
          <a:xfrm>
            <a:off x="6126480" y="4251960"/>
            <a:ext cx="4800600" cy="1463040"/>
          </a:xfrm>
          <a:prstGeom prst="rect">
            <a:avLst/>
          </a:prstGeom>
          <a:noFill/>
        </p:spPr>
        <p:txBody>
          <a:bodyPr wrap="square" lIns="0" tIns="0" rIns="0" bIns="0" rtlCol="0" anchor="ctr"/>
          <a:lstStyle/>
          <a:p>
            <a:pPr marL="0" indent="0" algn="just">
              <a:lnSpc>
                <a:spcPct val="125000"/>
              </a:lnSpc>
              <a:buNone/>
            </a:pPr>
            <a:r>
              <a:rPr lang="en-US" sz="1450" dirty="0">
                <a:solidFill>
                  <a:srgbClr val="156D4F"/>
                </a:solidFill>
                <a:latin typeface="Segoe UI" panose="020B0502040204020203" pitchFamily="34" charset="0"/>
                <a:ea typeface="Segoe UI" panose="020B0502040204020203" pitchFamily="34" charset="-122"/>
                <a:cs typeface="Segoe UI" panose="020B0502040204020203" pitchFamily="34" charset="-120"/>
              </a:rPr>
              <a:t>An integrated decision framework combining behavioral analytics, multi-objective constraint solvers (Google OR-Tools), digital twin simulations, and natural-language explanations to drive verified, personalized, and collective sustainability improvements.</a:t>
            </a:r>
            <a:endParaRPr lang="en-US" sz="1450" dirty="0"/>
          </a:p>
        </p:txBody>
      </p:sp>
      <p:sp>
        <p:nvSpPr>
          <p:cNvPr id="14" name="Text 12"/>
          <p:cNvSpPr/>
          <p:nvPr/>
        </p:nvSpPr>
        <p:spPr>
          <a:xfrm>
            <a:off x="548640" y="5989320"/>
            <a:ext cx="10607040" cy="365760"/>
          </a:xfrm>
          <a:prstGeom prst="rect">
            <a:avLst/>
          </a:prstGeom>
          <a:noFill/>
        </p:spPr>
        <p:txBody>
          <a:bodyPr wrap="square" lIns="0" tIns="0" rIns="0" bIns="0" rtlCol="0" anchor="ctr"/>
          <a:lstStyle/>
          <a:p>
            <a:pPr marL="0" indent="0">
              <a:buNone/>
            </a:pPr>
            <a:r>
              <a:rPr lang="en-US" sz="1100" i="1" dirty="0">
                <a:solidFill>
                  <a:srgbClr val="156D4F"/>
                </a:solidFill>
                <a:latin typeface="Segoe UI" panose="020B0502040204020203" pitchFamily="34" charset="0"/>
                <a:ea typeface="Segoe UI" panose="020B0502040204020203" pitchFamily="34" charset="-122"/>
                <a:cs typeface="Segoe UI" panose="020B0502040204020203" pitchFamily="34" charset="-120"/>
              </a:rPr>
              <a:t>EcoSphere helps individuals and institutions move from basic reporting to predictive decision support.</a:t>
            </a:r>
            <a:endParaRPr lang="en-US" sz="1100" dirty="0"/>
          </a:p>
        </p:txBody>
      </p:sp>
      <p:sp>
        <p:nvSpPr>
          <p:cNvPr id="15" name="Shape 13"/>
          <p:cNvSpPr/>
          <p:nvPr/>
        </p:nvSpPr>
        <p:spPr>
          <a:xfrm>
            <a:off x="530352" y="6364224"/>
            <a:ext cx="237744" cy="237744"/>
          </a:xfrm>
          <a:prstGeom prst="ellipse">
            <a:avLst/>
          </a:prstGeom>
          <a:solidFill>
            <a:srgbClr val="156D4F"/>
          </a:solidFill>
        </p:spPr>
      </p:sp>
      <p:pic>
        <p:nvPicPr>
          <p:cNvPr id="16" name="Image 0" descr="./icons/arrow_left_white.png">
            <a:hlinkClick r:id="rId1" action="ppaction://hlinksldjump"/>
          </p:cNvPr>
          <p:cNvPicPr>
            <a:picLocks noChangeAspect="1"/>
          </p:cNvPicPr>
          <p:nvPr/>
        </p:nvPicPr>
        <p:blipFill>
          <a:blip r:embed="rId2"/>
          <a:stretch>
            <a:fillRect/>
          </a:stretch>
        </p:blipFill>
        <p:spPr>
          <a:xfrm>
            <a:off x="548640" y="6382512"/>
            <a:ext cx="201168" cy="201168"/>
          </a:xfrm>
          <a:prstGeom prst="rect">
            <a:avLst/>
          </a:prstGeom>
        </p:spPr>
      </p:pic>
      <p:sp>
        <p:nvSpPr>
          <p:cNvPr id="17" name="Shape 14">
            <a:hlinkClick r:id="rId1" action="ppaction://hlinksldjump"/>
          </p:cNvPr>
          <p:cNvSpPr/>
          <p:nvPr/>
        </p:nvSpPr>
        <p:spPr>
          <a:xfrm>
            <a:off x="530352" y="6355080"/>
            <a:ext cx="2377440" cy="365760"/>
          </a:xfrm>
          <a:prstGeom prst="rect">
            <a:avLst/>
          </a:prstGeom>
          <a:solidFill>
            <a:srgbClr val="364327">
              <a:alpha val="0"/>
            </a:srgbClr>
          </a:solidFill>
        </p:spPr>
      </p:sp>
      <p:sp>
        <p:nvSpPr>
          <p:cNvPr id="18" name="Text 15">
            <a:hlinkClick r:id="rId1" action="ppaction://hlinksldjump"/>
          </p:cNvPr>
          <p:cNvSpPr/>
          <p:nvPr/>
        </p:nvSpPr>
        <p:spPr>
          <a:xfrm>
            <a:off x="841248" y="6355080"/>
            <a:ext cx="2377440" cy="365760"/>
          </a:xfrm>
          <a:prstGeom prst="rect">
            <a:avLst/>
          </a:prstGeom>
          <a:noFill/>
        </p:spPr>
        <p:txBody>
          <a:bodyPr wrap="square" lIns="0" tIns="0" rIns="0" bIns="0" rtlCol="0" anchor="ctr"/>
          <a:lstStyle/>
          <a:p>
            <a:pPr marL="0" indent="0">
              <a:buNone/>
            </a:pPr>
            <a:r>
              <a:rPr lang="en-US" sz="1100" b="1" u="sng" dirty="0">
                <a:solidFill>
                  <a:srgbClr val="156D4F"/>
                </a:solidFill>
                <a:latin typeface="Segoe UI" panose="020B0502040204020203" pitchFamily="34" charset="0"/>
                <a:ea typeface="Segoe UI" panose="020B0502040204020203" pitchFamily="34" charset="-122"/>
                <a:cs typeface="Segoe UI" panose="020B0502040204020203" pitchFamily="34" charset="-120"/>
                <a:hlinkClick r:id="rId1" action="ppaction://hlinksldjump"/>
              </a:rPr>
              <a:t>BACK TO REVIEW BOARD</a:t>
            </a:r>
            <a:endParaRPr lang="en-US" sz="1100" dirty="0"/>
          </a:p>
        </p:txBody>
      </p:sp>
      <p:sp>
        <p:nvSpPr>
          <p:cNvPr id="19" name="Text 16"/>
          <p:cNvSpPr/>
          <p:nvPr/>
        </p:nvSpPr>
        <p:spPr>
          <a:xfrm>
            <a:off x="8595360" y="6382512"/>
            <a:ext cx="3017520" cy="274320"/>
          </a:xfrm>
          <a:prstGeom prst="rect">
            <a:avLst/>
          </a:prstGeom>
          <a:noFill/>
        </p:spPr>
        <p:txBody>
          <a:bodyPr wrap="square" lIns="0" tIns="0" rIns="0" bIns="0" rtlCol="0" anchor="ctr"/>
          <a:lstStyle/>
          <a:p>
            <a:pPr marL="0" indent="0" algn="r">
              <a:buNone/>
            </a:pPr>
            <a:r>
              <a:rPr lang="en-US" sz="1000" dirty="0">
                <a:solidFill>
                  <a:srgbClr val="364327"/>
                </a:solidFill>
                <a:latin typeface="Segoe UI" panose="020B0502040204020203" pitchFamily="34" charset="0"/>
                <a:ea typeface="Segoe UI" panose="020B0502040204020203" pitchFamily="34" charset="-122"/>
                <a:cs typeface="Segoe UI" panose="020B0502040204020203" pitchFamily="34" charset="-120"/>
              </a:rPr>
              <a:t>EcoSphere · Vision</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C7C396"/>
        </a:solidFill>
        <a:effectLst/>
      </p:bgPr>
    </p:bg>
    <p:spTree>
      <p:nvGrpSpPr>
        <p:cNvPr id="1" name=""/>
        <p:cNvGrpSpPr/>
        <p:nvPr/>
      </p:nvGrpSpPr>
      <p:grpSpPr>
        <a:xfrm>
          <a:off x="0" y="0"/>
          <a:ext cx="0" cy="0"/>
          <a:chOff x="0" y="0"/>
          <a:chExt cx="0" cy="0"/>
        </a:xfrm>
      </p:grpSpPr>
      <p:sp>
        <p:nvSpPr>
          <p:cNvPr id="2" name="Text 0"/>
          <p:cNvSpPr/>
          <p:nvPr/>
        </p:nvSpPr>
        <p:spPr>
          <a:xfrm>
            <a:off x="548640" y="384048"/>
            <a:ext cx="8229600" cy="274320"/>
          </a:xfrm>
          <a:prstGeom prst="rect">
            <a:avLst/>
          </a:prstGeom>
          <a:noFill/>
        </p:spPr>
        <p:txBody>
          <a:bodyPr wrap="square" lIns="0" tIns="0" rIns="0" bIns="0" rtlCol="0" anchor="ctr"/>
          <a:lstStyle/>
          <a:p>
            <a:pPr marL="0" indent="0">
              <a:buNone/>
            </a:pPr>
            <a:r>
              <a:rPr lang="en-US" sz="1200" b="1" kern="0" spc="200" dirty="0">
                <a:solidFill>
                  <a:srgbClr val="156D4F"/>
                </a:solidFill>
                <a:latin typeface="Segoe UI" panose="020B0502040204020203" pitchFamily="34" charset="0"/>
                <a:ea typeface="Segoe UI" panose="020B0502040204020203" pitchFamily="34" charset="-122"/>
                <a:cs typeface="Segoe UI" panose="020B0502040204020203" pitchFamily="34" charset="-120"/>
              </a:rPr>
              <a:t>SECTION 02 · CHRONOLOGICAL WORKFLOW</a:t>
            </a:r>
            <a:endParaRPr lang="en-US" sz="1200" dirty="0"/>
          </a:p>
        </p:txBody>
      </p:sp>
      <p:sp>
        <p:nvSpPr>
          <p:cNvPr id="3" name="Text 1"/>
          <p:cNvSpPr/>
          <p:nvPr/>
        </p:nvSpPr>
        <p:spPr>
          <a:xfrm>
            <a:off x="548640" y="640080"/>
            <a:ext cx="9601200" cy="640080"/>
          </a:xfrm>
          <a:prstGeom prst="rect">
            <a:avLst/>
          </a:prstGeom>
          <a:noFill/>
        </p:spPr>
        <p:txBody>
          <a:bodyPr wrap="square" lIns="0" tIns="0" rIns="0" bIns="0" rtlCol="0" anchor="ctr"/>
          <a:lstStyle/>
          <a:p>
            <a:pPr marL="0" indent="0">
              <a:buNone/>
            </a:pPr>
            <a:r>
              <a:rPr lang="en-US" sz="2800" b="1" dirty="0">
                <a:solidFill>
                  <a:srgbClr val="156D4F"/>
                </a:solidFill>
                <a:latin typeface="Georgia" panose="02040502050405020303" pitchFamily="34" charset="0"/>
                <a:ea typeface="Georgia" panose="02040502050405020303" pitchFamily="34" charset="-122"/>
                <a:cs typeface="Georgia" panose="02040502050405020303" pitchFamily="34" charset="-120"/>
              </a:rPr>
              <a:t>Sequential Sustainability Decision Pipeline in EcoSphere</a:t>
            </a:r>
            <a:endParaRPr lang="en-US" sz="2800" dirty="0"/>
          </a:p>
        </p:txBody>
      </p:sp>
      <p:sp>
        <p:nvSpPr>
          <p:cNvPr id="4" name="Text 2"/>
          <p:cNvSpPr/>
          <p:nvPr/>
        </p:nvSpPr>
        <p:spPr>
          <a:xfrm>
            <a:off x="548640" y="1371600"/>
            <a:ext cx="10607040" cy="320040"/>
          </a:xfrm>
          <a:prstGeom prst="rect">
            <a:avLst/>
          </a:prstGeom>
          <a:noFill/>
        </p:spPr>
        <p:txBody>
          <a:bodyPr wrap="square" lIns="0" tIns="0" rIns="0" bIns="0" rtlCol="0" anchor="ctr"/>
          <a:lstStyle/>
          <a:p>
            <a:pPr marL="0" indent="0" algn="just">
              <a:buNone/>
            </a:pPr>
            <a:r>
              <a:rPr lang="en-US" sz="1250" dirty="0">
                <a:solidFill>
                  <a:srgbClr val="156D4F"/>
                </a:solidFill>
                <a:latin typeface="Segoe UI" panose="020B0502040204020203" pitchFamily="34" charset="0"/>
                <a:ea typeface="Segoe UI" panose="020B0502040204020203" pitchFamily="34" charset="-122"/>
                <a:cs typeface="Segoe UI" panose="020B0502040204020203" pitchFamily="34" charset="-120"/>
              </a:rPr>
              <a:t>EcoSphere sequences environmental data capture, predictive modeling, optimization, and verification in a strict pipeline.</a:t>
            </a:r>
            <a:endParaRPr lang="en-US" sz="1250" dirty="0"/>
          </a:p>
        </p:txBody>
      </p:sp>
      <p:graphicFrame>
        <p:nvGraphicFramePr>
          <p:cNvPr id="7" name="Table 0"/>
          <p:cNvGraphicFramePr>
            <a:graphicFrameLocks noGrp="1"/>
          </p:cNvGraphicFramePr>
          <p:nvPr/>
        </p:nvGraphicFramePr>
        <p:xfrm>
          <a:off x="596900" y="1691640"/>
          <a:ext cx="10607040" cy="4535424"/>
        </p:xfrm>
        <a:graphic>
          <a:graphicData uri="http://schemas.openxmlformats.org/drawingml/2006/table">
            <a:tbl>
              <a:tblPr/>
              <a:tblGrid>
                <a:gridCol w="2103120"/>
                <a:gridCol w="2834640"/>
                <a:gridCol w="2834640"/>
                <a:gridCol w="2834640"/>
              </a:tblGrid>
              <a:tr h="566928">
                <a:tc>
                  <a:txBody>
                    <a:bodyPr/>
                    <a:lstStyle/>
                    <a:p>
                      <a:pPr marL="0" indent="0">
                        <a:buNone/>
                      </a:pPr>
                      <a:r>
                        <a:rPr lang="en-US" sz="1150" b="1" dirty="0">
                          <a:solidFill>
                            <a:srgbClr val="FFFFFF"/>
                          </a:solidFill>
                          <a:latin typeface="Segoe UI" panose="020B0502040204020203" pitchFamily="34" charset="0"/>
                          <a:ea typeface="Segoe UI" panose="020B0502040204020203" pitchFamily="34" charset="-122"/>
                          <a:cs typeface="Segoe UI" panose="020B0502040204020203" pitchFamily="34" charset="-120"/>
                        </a:rPr>
                        <a:t>Workflow Stage</a:t>
                      </a:r>
                      <a:endParaRPr lang="en-US" sz="1150" dirty="0">
                        <a:latin typeface="Segoe UI" panose="020B0502040204020203" pitchFamily="34" charset="0"/>
                        <a:ea typeface="Segoe UI" panose="020B0502040204020203" pitchFamily="34" charset="0"/>
                        <a:cs typeface="Segoe UI" panose="020B0502040204020203" pitchFamily="34" charset="0"/>
                      </a:endParaRPr>
                    </a:p>
                  </a:txBody>
                  <a:tcPr anchor="ctr">
                    <a:lnL w="6350" cap="flat" cmpd="sng" algn="ctr">
                      <a:solidFill>
                        <a:srgbClr val="156D4F"/>
                      </a:solidFill>
                      <a:prstDash val="solid"/>
                      <a:round/>
                      <a:headEnd type="none" w="med" len="med"/>
                      <a:tailEnd type="none" w="med" len="med"/>
                    </a:lnL>
                    <a:lnR w="6350" cap="flat" cmpd="sng" algn="ctr">
                      <a:solidFill>
                        <a:srgbClr val="156D4F"/>
                      </a:solidFill>
                      <a:prstDash val="solid"/>
                      <a:round/>
                      <a:headEnd type="none" w="med" len="med"/>
                      <a:tailEnd type="none" w="med" len="med"/>
                    </a:lnR>
                    <a:lnT w="6350" cap="flat" cmpd="sng" algn="ctr">
                      <a:solidFill>
                        <a:srgbClr val="156D4F"/>
                      </a:solidFill>
                      <a:prstDash val="solid"/>
                      <a:round/>
                      <a:headEnd type="none" w="med" len="med"/>
                      <a:tailEnd type="none" w="med" len="med"/>
                    </a:lnT>
                    <a:lnB w="6350" cap="flat" cmpd="sng" algn="ctr">
                      <a:solidFill>
                        <a:srgbClr val="156D4F"/>
                      </a:solidFill>
                      <a:prstDash val="solid"/>
                      <a:round/>
                      <a:headEnd type="none" w="med" len="med"/>
                      <a:tailEnd type="none" w="med" len="med"/>
                    </a:lnB>
                    <a:solidFill>
                      <a:srgbClr val="156D4F"/>
                    </a:solidFill>
                  </a:tcPr>
                </a:tc>
                <a:tc>
                  <a:txBody>
                    <a:bodyPr/>
                    <a:lstStyle/>
                    <a:p>
                      <a:pPr marL="0" indent="0">
                        <a:buNone/>
                      </a:pPr>
                      <a:r>
                        <a:rPr lang="en-US" sz="1150" b="1" dirty="0">
                          <a:solidFill>
                            <a:srgbClr val="FFFFFF"/>
                          </a:solidFill>
                          <a:latin typeface="Segoe UI" panose="020B0502040204020203" pitchFamily="34" charset="0"/>
                          <a:ea typeface="Segoe UI" panose="020B0502040204020203" pitchFamily="34" charset="-122"/>
                          <a:cs typeface="Segoe UI" panose="020B0502040204020203" pitchFamily="34" charset="-120"/>
                        </a:rPr>
                        <a:t>Core Mechanism</a:t>
                      </a:r>
                      <a:endParaRPr lang="en-US" sz="1150" dirty="0">
                        <a:latin typeface="Segoe UI" panose="020B0502040204020203" pitchFamily="34" charset="0"/>
                        <a:ea typeface="Segoe UI" panose="020B0502040204020203" pitchFamily="34" charset="0"/>
                        <a:cs typeface="Segoe UI" panose="020B0502040204020203" pitchFamily="34" charset="0"/>
                      </a:endParaRPr>
                    </a:p>
                  </a:txBody>
                  <a:tcPr anchor="ctr">
                    <a:lnL w="6350" cap="flat" cmpd="sng" algn="ctr">
                      <a:solidFill>
                        <a:srgbClr val="156D4F"/>
                      </a:solidFill>
                      <a:prstDash val="solid"/>
                      <a:round/>
                      <a:headEnd type="none" w="med" len="med"/>
                      <a:tailEnd type="none" w="med" len="med"/>
                    </a:lnL>
                    <a:lnR w="6350" cap="flat" cmpd="sng" algn="ctr">
                      <a:solidFill>
                        <a:srgbClr val="156D4F"/>
                      </a:solidFill>
                      <a:prstDash val="solid"/>
                      <a:round/>
                      <a:headEnd type="none" w="med" len="med"/>
                      <a:tailEnd type="none" w="med" len="med"/>
                    </a:lnR>
                    <a:lnT w="6350" cap="flat" cmpd="sng" algn="ctr">
                      <a:solidFill>
                        <a:srgbClr val="156D4F"/>
                      </a:solidFill>
                      <a:prstDash val="solid"/>
                      <a:round/>
                      <a:headEnd type="none" w="med" len="med"/>
                      <a:tailEnd type="none" w="med" len="med"/>
                    </a:lnT>
                    <a:lnB w="6350" cap="flat" cmpd="sng" algn="ctr">
                      <a:solidFill>
                        <a:srgbClr val="156D4F"/>
                      </a:solidFill>
                      <a:prstDash val="solid"/>
                      <a:round/>
                      <a:headEnd type="none" w="med" len="med"/>
                      <a:tailEnd type="none" w="med" len="med"/>
                    </a:lnB>
                    <a:solidFill>
                      <a:srgbClr val="156D4F"/>
                    </a:solidFill>
                  </a:tcPr>
                </a:tc>
                <a:tc>
                  <a:txBody>
                    <a:bodyPr/>
                    <a:lstStyle/>
                    <a:p>
                      <a:pPr marL="0" indent="0">
                        <a:buNone/>
                      </a:pPr>
                      <a:r>
                        <a:rPr lang="en-US" sz="1150" b="1" dirty="0">
                          <a:solidFill>
                            <a:srgbClr val="FFFFFF"/>
                          </a:solidFill>
                          <a:latin typeface="Segoe UI" panose="020B0502040204020203" pitchFamily="34" charset="0"/>
                          <a:ea typeface="Segoe UI" panose="020B0502040204020203" pitchFamily="34" charset="-122"/>
                          <a:cs typeface="Segoe UI" panose="020B0502040204020203" pitchFamily="34" charset="-120"/>
                        </a:rPr>
                        <a:t>Functional Objective</a:t>
                      </a:r>
                      <a:endParaRPr lang="en-US" sz="1150" dirty="0">
                        <a:latin typeface="Segoe UI" panose="020B0502040204020203" pitchFamily="34" charset="0"/>
                        <a:ea typeface="Segoe UI" panose="020B0502040204020203" pitchFamily="34" charset="0"/>
                        <a:cs typeface="Segoe UI" panose="020B0502040204020203" pitchFamily="34" charset="0"/>
                      </a:endParaRPr>
                    </a:p>
                  </a:txBody>
                  <a:tcPr anchor="ctr">
                    <a:lnL w="6350" cap="flat" cmpd="sng" algn="ctr">
                      <a:solidFill>
                        <a:srgbClr val="156D4F"/>
                      </a:solidFill>
                      <a:prstDash val="solid"/>
                      <a:round/>
                      <a:headEnd type="none" w="med" len="med"/>
                      <a:tailEnd type="none" w="med" len="med"/>
                    </a:lnL>
                    <a:lnR w="6350" cap="flat" cmpd="sng" algn="ctr">
                      <a:solidFill>
                        <a:srgbClr val="156D4F"/>
                      </a:solidFill>
                      <a:prstDash val="solid"/>
                      <a:round/>
                      <a:headEnd type="none" w="med" len="med"/>
                      <a:tailEnd type="none" w="med" len="med"/>
                    </a:lnR>
                    <a:lnT w="6350" cap="flat" cmpd="sng" algn="ctr">
                      <a:solidFill>
                        <a:srgbClr val="156D4F"/>
                      </a:solidFill>
                      <a:prstDash val="solid"/>
                      <a:round/>
                      <a:headEnd type="none" w="med" len="med"/>
                      <a:tailEnd type="none" w="med" len="med"/>
                    </a:lnT>
                    <a:lnB w="6350" cap="flat" cmpd="sng" algn="ctr">
                      <a:solidFill>
                        <a:srgbClr val="156D4F"/>
                      </a:solidFill>
                      <a:prstDash val="solid"/>
                      <a:round/>
                      <a:headEnd type="none" w="med" len="med"/>
                      <a:tailEnd type="none" w="med" len="med"/>
                    </a:lnB>
                    <a:solidFill>
                      <a:srgbClr val="156D4F"/>
                    </a:solidFill>
                  </a:tcPr>
                </a:tc>
                <a:tc>
                  <a:txBody>
                    <a:bodyPr/>
                    <a:lstStyle/>
                    <a:p>
                      <a:pPr marL="0" indent="0">
                        <a:buNone/>
                      </a:pPr>
                      <a:r>
                        <a:rPr lang="en-US" sz="1150" b="1" dirty="0">
                          <a:solidFill>
                            <a:srgbClr val="FFFFFF"/>
                          </a:solidFill>
                          <a:latin typeface="Segoe UI" panose="020B0502040204020203" pitchFamily="34" charset="0"/>
                          <a:ea typeface="Segoe UI" panose="020B0502040204020203" pitchFamily="34" charset="-122"/>
                          <a:cs typeface="Segoe UI" panose="020B0502040204020203" pitchFamily="34" charset="-120"/>
                        </a:rPr>
                        <a:t>Outcome &amp; Deliverable</a:t>
                      </a:r>
                      <a:endParaRPr lang="en-US" sz="1150" dirty="0">
                        <a:latin typeface="Segoe UI" panose="020B0502040204020203" pitchFamily="34" charset="0"/>
                        <a:ea typeface="Segoe UI" panose="020B0502040204020203" pitchFamily="34" charset="0"/>
                        <a:cs typeface="Segoe UI" panose="020B0502040204020203" pitchFamily="34" charset="0"/>
                      </a:endParaRPr>
                    </a:p>
                  </a:txBody>
                  <a:tcPr anchor="ctr">
                    <a:lnL w="6350" cap="flat" cmpd="sng" algn="ctr">
                      <a:solidFill>
                        <a:srgbClr val="156D4F"/>
                      </a:solidFill>
                      <a:prstDash val="solid"/>
                      <a:round/>
                      <a:headEnd type="none" w="med" len="med"/>
                      <a:tailEnd type="none" w="med" len="med"/>
                    </a:lnL>
                    <a:lnR w="6350" cap="flat" cmpd="sng" algn="ctr">
                      <a:solidFill>
                        <a:srgbClr val="156D4F"/>
                      </a:solidFill>
                      <a:prstDash val="solid"/>
                      <a:round/>
                      <a:headEnd type="none" w="med" len="med"/>
                      <a:tailEnd type="none" w="med" len="med"/>
                    </a:lnR>
                    <a:lnT w="6350" cap="flat" cmpd="sng" algn="ctr">
                      <a:solidFill>
                        <a:srgbClr val="156D4F"/>
                      </a:solidFill>
                      <a:prstDash val="solid"/>
                      <a:round/>
                      <a:headEnd type="none" w="med" len="med"/>
                      <a:tailEnd type="none" w="med" len="med"/>
                    </a:lnT>
                    <a:lnB w="6350" cap="flat" cmpd="sng" algn="ctr">
                      <a:solidFill>
                        <a:srgbClr val="156D4F"/>
                      </a:solidFill>
                      <a:prstDash val="solid"/>
                      <a:round/>
                      <a:headEnd type="none" w="med" len="med"/>
                      <a:tailEnd type="none" w="med" len="med"/>
                    </a:lnB>
                    <a:solidFill>
                      <a:srgbClr val="156D4F"/>
                    </a:solidFill>
                  </a:tcPr>
                </a:tc>
              </a:tr>
              <a:tr h="566928">
                <a:tc>
                  <a:txBody>
                    <a:bodyPr/>
                    <a:lstStyle/>
                    <a:p>
                      <a:pPr marL="0" indent="0">
                        <a:buNone/>
                      </a:pPr>
                      <a:r>
                        <a:rPr lang="en-US" sz="1150" dirty="0">
                          <a:solidFill>
                            <a:srgbClr val="156D4F"/>
                          </a:solidFill>
                          <a:latin typeface="Segoe UI" panose="020B0502040204020203" pitchFamily="34" charset="0"/>
                          <a:ea typeface="Segoe UI" panose="020B0502040204020203" pitchFamily="34" charset="-122"/>
                          <a:cs typeface="Segoe UI" panose="020B0502040204020203" pitchFamily="34" charset="-120"/>
                        </a:rPr>
                        <a:t>1. Activity Tracking</a:t>
                      </a:r>
                      <a:endParaRPr lang="en-US" sz="1150" dirty="0">
                        <a:latin typeface="Segoe UI" panose="020B0502040204020203" pitchFamily="34" charset="0"/>
                        <a:ea typeface="Segoe UI" panose="020B0502040204020203" pitchFamily="34" charset="0"/>
                        <a:cs typeface="Segoe UI" panose="020B0502040204020203" pitchFamily="34" charset="0"/>
                      </a:endParaRPr>
                    </a:p>
                  </a:txBody>
                  <a:tcPr anchor="ctr">
                    <a:lnL w="6350" cap="flat" cmpd="sng" algn="ctr">
                      <a:solidFill>
                        <a:srgbClr val="156D4F"/>
                      </a:solidFill>
                      <a:prstDash val="solid"/>
                      <a:round/>
                      <a:headEnd type="none" w="med" len="med"/>
                      <a:tailEnd type="none" w="med" len="med"/>
                    </a:lnL>
                    <a:lnR w="6350" cap="flat" cmpd="sng" algn="ctr">
                      <a:solidFill>
                        <a:srgbClr val="156D4F"/>
                      </a:solidFill>
                      <a:prstDash val="solid"/>
                      <a:round/>
                      <a:headEnd type="none" w="med" len="med"/>
                      <a:tailEnd type="none" w="med" len="med"/>
                    </a:lnR>
                    <a:lnT w="6350" cap="flat" cmpd="sng" algn="ctr">
                      <a:solidFill>
                        <a:srgbClr val="156D4F"/>
                      </a:solidFill>
                      <a:prstDash val="solid"/>
                      <a:round/>
                      <a:headEnd type="none" w="med" len="med"/>
                      <a:tailEnd type="none" w="med" len="med"/>
                    </a:lnT>
                    <a:lnB w="6350" cap="flat" cmpd="sng" algn="ctr">
                      <a:solidFill>
                        <a:srgbClr val="156D4F"/>
                      </a:solidFill>
                      <a:prstDash val="solid"/>
                      <a:round/>
                      <a:headEnd type="none" w="med" len="med"/>
                      <a:tailEnd type="none" w="med" len="med"/>
                    </a:lnB>
                  </a:tcPr>
                </a:tc>
                <a:tc>
                  <a:txBody>
                    <a:bodyPr/>
                    <a:lstStyle/>
                    <a:p>
                      <a:pPr marL="0" indent="0">
                        <a:buNone/>
                      </a:pPr>
                      <a:r>
                        <a:rPr lang="en-US" sz="1150" dirty="0">
                          <a:solidFill>
                            <a:srgbClr val="156D4F"/>
                          </a:solidFill>
                          <a:latin typeface="Segoe UI" panose="020B0502040204020203" pitchFamily="34" charset="0"/>
                          <a:ea typeface="Segoe UI" panose="020B0502040204020203" pitchFamily="34" charset="-122"/>
                          <a:cs typeface="Segoe UI" panose="020B0502040204020203" pitchFamily="34" charset="-120"/>
                        </a:rPr>
                        <a:t>Multi-Resource Logging</a:t>
                      </a:r>
                      <a:endParaRPr lang="en-US" sz="1150" dirty="0">
                        <a:latin typeface="Segoe UI" panose="020B0502040204020203" pitchFamily="34" charset="0"/>
                        <a:ea typeface="Segoe UI" panose="020B0502040204020203" pitchFamily="34" charset="0"/>
                        <a:cs typeface="Segoe UI" panose="020B0502040204020203" pitchFamily="34" charset="0"/>
                      </a:endParaRPr>
                    </a:p>
                  </a:txBody>
                  <a:tcPr anchor="ctr">
                    <a:lnL w="6350" cap="flat" cmpd="sng" algn="ctr">
                      <a:solidFill>
                        <a:srgbClr val="156D4F"/>
                      </a:solidFill>
                      <a:prstDash val="solid"/>
                      <a:round/>
                      <a:headEnd type="none" w="med" len="med"/>
                      <a:tailEnd type="none" w="med" len="med"/>
                    </a:lnL>
                    <a:lnR w="6350" cap="flat" cmpd="sng" algn="ctr">
                      <a:solidFill>
                        <a:srgbClr val="156D4F"/>
                      </a:solidFill>
                      <a:prstDash val="solid"/>
                      <a:round/>
                      <a:headEnd type="none" w="med" len="med"/>
                      <a:tailEnd type="none" w="med" len="med"/>
                    </a:lnR>
                    <a:lnT w="6350" cap="flat" cmpd="sng" algn="ctr">
                      <a:solidFill>
                        <a:srgbClr val="156D4F"/>
                      </a:solidFill>
                      <a:prstDash val="solid"/>
                      <a:round/>
                      <a:headEnd type="none" w="med" len="med"/>
                      <a:tailEnd type="none" w="med" len="med"/>
                    </a:lnT>
                    <a:lnB w="6350" cap="flat" cmpd="sng" algn="ctr">
                      <a:solidFill>
                        <a:srgbClr val="156D4F"/>
                      </a:solidFill>
                      <a:prstDash val="solid"/>
                      <a:round/>
                      <a:headEnd type="none" w="med" len="med"/>
                      <a:tailEnd type="none" w="med" len="med"/>
                    </a:lnB>
                  </a:tcPr>
                </a:tc>
                <a:tc>
                  <a:txBody>
                    <a:bodyPr/>
                    <a:lstStyle/>
                    <a:p>
                      <a:pPr marL="0" indent="0">
                        <a:buNone/>
                      </a:pPr>
                      <a:r>
                        <a:rPr lang="en-US" sz="1150" dirty="0">
                          <a:solidFill>
                            <a:srgbClr val="156D4F"/>
                          </a:solidFill>
                          <a:latin typeface="Segoe UI" panose="020B0502040204020203" pitchFamily="34" charset="0"/>
                          <a:ea typeface="Segoe UI" panose="020B0502040204020203" pitchFamily="34" charset="-122"/>
                          <a:cs typeface="Segoe UI" panose="020B0502040204020203" pitchFamily="34" charset="-120"/>
                        </a:rPr>
                        <a:t>Logs daily transport, water, energy, and waste data.</a:t>
                      </a:r>
                      <a:endParaRPr lang="en-US" sz="1150" dirty="0">
                        <a:latin typeface="Segoe UI" panose="020B0502040204020203" pitchFamily="34" charset="0"/>
                        <a:ea typeface="Segoe UI" panose="020B0502040204020203" pitchFamily="34" charset="0"/>
                        <a:cs typeface="Segoe UI" panose="020B0502040204020203" pitchFamily="34" charset="0"/>
                      </a:endParaRPr>
                    </a:p>
                  </a:txBody>
                  <a:tcPr anchor="ctr">
                    <a:lnL w="6350" cap="flat" cmpd="sng" algn="ctr">
                      <a:solidFill>
                        <a:srgbClr val="156D4F"/>
                      </a:solidFill>
                      <a:prstDash val="solid"/>
                      <a:round/>
                      <a:headEnd type="none" w="med" len="med"/>
                      <a:tailEnd type="none" w="med" len="med"/>
                    </a:lnL>
                    <a:lnR w="6350" cap="flat" cmpd="sng" algn="ctr">
                      <a:solidFill>
                        <a:srgbClr val="156D4F"/>
                      </a:solidFill>
                      <a:prstDash val="solid"/>
                      <a:round/>
                      <a:headEnd type="none" w="med" len="med"/>
                      <a:tailEnd type="none" w="med" len="med"/>
                    </a:lnR>
                    <a:lnT w="6350" cap="flat" cmpd="sng" algn="ctr">
                      <a:solidFill>
                        <a:srgbClr val="156D4F"/>
                      </a:solidFill>
                      <a:prstDash val="solid"/>
                      <a:round/>
                      <a:headEnd type="none" w="med" len="med"/>
                      <a:tailEnd type="none" w="med" len="med"/>
                    </a:lnT>
                    <a:lnB w="6350" cap="flat" cmpd="sng" algn="ctr">
                      <a:solidFill>
                        <a:srgbClr val="156D4F"/>
                      </a:solidFill>
                      <a:prstDash val="solid"/>
                      <a:round/>
                      <a:headEnd type="none" w="med" len="med"/>
                      <a:tailEnd type="none" w="med" len="med"/>
                    </a:lnB>
                  </a:tcPr>
                </a:tc>
                <a:tc>
                  <a:txBody>
                    <a:bodyPr/>
                    <a:lstStyle/>
                    <a:p>
                      <a:pPr marL="0" indent="0">
                        <a:buNone/>
                      </a:pPr>
                      <a:r>
                        <a:rPr lang="en-US" sz="1150" dirty="0">
                          <a:solidFill>
                            <a:srgbClr val="156D4F"/>
                          </a:solidFill>
                          <a:latin typeface="Segoe UI" panose="020B0502040204020203" pitchFamily="34" charset="0"/>
                          <a:ea typeface="Segoe UI" panose="020B0502040204020203" pitchFamily="34" charset="-122"/>
                          <a:cs typeface="Segoe UI" panose="020B0502040204020203" pitchFamily="34" charset="-120"/>
                        </a:rPr>
                        <a:t>Clean activity logs stored in PostgreSQL.</a:t>
                      </a:r>
                      <a:endParaRPr lang="en-US" sz="1150" dirty="0">
                        <a:latin typeface="Segoe UI" panose="020B0502040204020203" pitchFamily="34" charset="0"/>
                        <a:ea typeface="Segoe UI" panose="020B0502040204020203" pitchFamily="34" charset="0"/>
                        <a:cs typeface="Segoe UI" panose="020B0502040204020203" pitchFamily="34" charset="0"/>
                      </a:endParaRPr>
                    </a:p>
                  </a:txBody>
                  <a:tcPr anchor="ctr">
                    <a:lnL w="6350" cap="flat" cmpd="sng" algn="ctr">
                      <a:solidFill>
                        <a:srgbClr val="156D4F"/>
                      </a:solidFill>
                      <a:prstDash val="solid"/>
                      <a:round/>
                      <a:headEnd type="none" w="med" len="med"/>
                      <a:tailEnd type="none" w="med" len="med"/>
                    </a:lnL>
                    <a:lnR w="6350" cap="flat" cmpd="sng" algn="ctr">
                      <a:solidFill>
                        <a:srgbClr val="156D4F"/>
                      </a:solidFill>
                      <a:prstDash val="solid"/>
                      <a:round/>
                      <a:headEnd type="none" w="med" len="med"/>
                      <a:tailEnd type="none" w="med" len="med"/>
                    </a:lnR>
                    <a:lnT w="6350" cap="flat" cmpd="sng" algn="ctr">
                      <a:solidFill>
                        <a:srgbClr val="156D4F"/>
                      </a:solidFill>
                      <a:prstDash val="solid"/>
                      <a:round/>
                      <a:headEnd type="none" w="med" len="med"/>
                      <a:tailEnd type="none" w="med" len="med"/>
                    </a:lnT>
                    <a:lnB w="6350" cap="flat" cmpd="sng" algn="ctr">
                      <a:solidFill>
                        <a:srgbClr val="156D4F"/>
                      </a:solidFill>
                      <a:prstDash val="solid"/>
                      <a:round/>
                      <a:headEnd type="none" w="med" len="med"/>
                      <a:tailEnd type="none" w="med" len="med"/>
                    </a:lnB>
                  </a:tcPr>
                </a:tc>
              </a:tr>
              <a:tr h="566928">
                <a:tc>
                  <a:txBody>
                    <a:bodyPr/>
                    <a:lstStyle/>
                    <a:p>
                      <a:pPr marL="0" indent="0">
                        <a:buNone/>
                      </a:pPr>
                      <a:r>
                        <a:rPr lang="en-US" sz="1150" dirty="0">
                          <a:solidFill>
                            <a:srgbClr val="156D4F"/>
                          </a:solidFill>
                          <a:latin typeface="Segoe UI" panose="020B0502040204020203" pitchFamily="34" charset="0"/>
                          <a:ea typeface="Segoe UI" panose="020B0502040204020203" pitchFamily="34" charset="-122"/>
                          <a:cs typeface="Segoe UI" panose="020B0502040204020203" pitchFamily="34" charset="-120"/>
                        </a:rPr>
                        <a:t>2. Behaviour Learning</a:t>
                      </a:r>
                      <a:endParaRPr lang="en-US" sz="1150" dirty="0">
                        <a:latin typeface="Segoe UI" panose="020B0502040204020203" pitchFamily="34" charset="0"/>
                        <a:ea typeface="Segoe UI" panose="020B0502040204020203" pitchFamily="34" charset="0"/>
                        <a:cs typeface="Segoe UI" panose="020B0502040204020203" pitchFamily="34" charset="0"/>
                      </a:endParaRPr>
                    </a:p>
                  </a:txBody>
                  <a:tcPr anchor="ctr">
                    <a:lnL w="6350" cap="flat" cmpd="sng" algn="ctr">
                      <a:solidFill>
                        <a:srgbClr val="156D4F"/>
                      </a:solidFill>
                      <a:prstDash val="solid"/>
                      <a:round/>
                      <a:headEnd type="none" w="med" len="med"/>
                      <a:tailEnd type="none" w="med" len="med"/>
                    </a:lnL>
                    <a:lnR w="6350" cap="flat" cmpd="sng" algn="ctr">
                      <a:solidFill>
                        <a:srgbClr val="156D4F"/>
                      </a:solidFill>
                      <a:prstDash val="solid"/>
                      <a:round/>
                      <a:headEnd type="none" w="med" len="med"/>
                      <a:tailEnd type="none" w="med" len="med"/>
                    </a:lnR>
                    <a:lnT w="6350" cap="flat" cmpd="sng" algn="ctr">
                      <a:solidFill>
                        <a:srgbClr val="156D4F"/>
                      </a:solidFill>
                      <a:prstDash val="solid"/>
                      <a:round/>
                      <a:headEnd type="none" w="med" len="med"/>
                      <a:tailEnd type="none" w="med" len="med"/>
                    </a:lnT>
                    <a:lnB w="6350" cap="flat" cmpd="sng" algn="ctr">
                      <a:solidFill>
                        <a:srgbClr val="156D4F"/>
                      </a:solidFill>
                      <a:prstDash val="solid"/>
                      <a:round/>
                      <a:headEnd type="none" w="med" len="med"/>
                      <a:tailEnd type="none" w="med" len="med"/>
                    </a:lnB>
                  </a:tcPr>
                </a:tc>
                <a:tc>
                  <a:txBody>
                    <a:bodyPr/>
                    <a:lstStyle/>
                    <a:p>
                      <a:pPr marL="0" indent="0">
                        <a:buNone/>
                      </a:pPr>
                      <a:r>
                        <a:rPr lang="en-US" sz="1150" dirty="0">
                          <a:solidFill>
                            <a:srgbClr val="156D4F"/>
                          </a:solidFill>
                          <a:latin typeface="Segoe UI" panose="020B0502040204020203" pitchFamily="34" charset="0"/>
                          <a:ea typeface="Segoe UI" panose="020B0502040204020203" pitchFamily="34" charset="-122"/>
                          <a:cs typeface="Segoe UI" panose="020B0502040204020203" pitchFamily="34" charset="-120"/>
                        </a:rPr>
                        <a:t>Pattern Mining Engine</a:t>
                      </a:r>
                      <a:endParaRPr lang="en-US" sz="1150" dirty="0">
                        <a:latin typeface="Segoe UI" panose="020B0502040204020203" pitchFamily="34" charset="0"/>
                        <a:ea typeface="Segoe UI" panose="020B0502040204020203" pitchFamily="34" charset="0"/>
                        <a:cs typeface="Segoe UI" panose="020B0502040204020203" pitchFamily="34" charset="0"/>
                      </a:endParaRPr>
                    </a:p>
                  </a:txBody>
                  <a:tcPr anchor="ctr">
                    <a:lnL w="6350" cap="flat" cmpd="sng" algn="ctr">
                      <a:solidFill>
                        <a:srgbClr val="156D4F"/>
                      </a:solidFill>
                      <a:prstDash val="solid"/>
                      <a:round/>
                      <a:headEnd type="none" w="med" len="med"/>
                      <a:tailEnd type="none" w="med" len="med"/>
                    </a:lnL>
                    <a:lnR w="6350" cap="flat" cmpd="sng" algn="ctr">
                      <a:solidFill>
                        <a:srgbClr val="156D4F"/>
                      </a:solidFill>
                      <a:prstDash val="solid"/>
                      <a:round/>
                      <a:headEnd type="none" w="med" len="med"/>
                      <a:tailEnd type="none" w="med" len="med"/>
                    </a:lnR>
                    <a:lnT w="6350" cap="flat" cmpd="sng" algn="ctr">
                      <a:solidFill>
                        <a:srgbClr val="156D4F"/>
                      </a:solidFill>
                      <a:prstDash val="solid"/>
                      <a:round/>
                      <a:headEnd type="none" w="med" len="med"/>
                      <a:tailEnd type="none" w="med" len="med"/>
                    </a:lnT>
                    <a:lnB w="6350" cap="flat" cmpd="sng" algn="ctr">
                      <a:solidFill>
                        <a:srgbClr val="156D4F"/>
                      </a:solidFill>
                      <a:prstDash val="solid"/>
                      <a:round/>
                      <a:headEnd type="none" w="med" len="med"/>
                      <a:tailEnd type="none" w="med" len="med"/>
                    </a:lnB>
                  </a:tcPr>
                </a:tc>
                <a:tc>
                  <a:txBody>
                    <a:bodyPr/>
                    <a:lstStyle/>
                    <a:p>
                      <a:pPr marL="0" indent="0">
                        <a:buNone/>
                      </a:pPr>
                      <a:r>
                        <a:rPr lang="en-US" sz="1150" dirty="0">
                          <a:solidFill>
                            <a:srgbClr val="156D4F"/>
                          </a:solidFill>
                          <a:latin typeface="Segoe UI" panose="020B0502040204020203" pitchFamily="34" charset="0"/>
                          <a:ea typeface="Segoe UI" panose="020B0502040204020203" pitchFamily="34" charset="-122"/>
                          <a:cs typeface="Segoe UI" panose="020B0502040204020203" pitchFamily="34" charset="-120"/>
                        </a:rPr>
                        <a:t>Learns routines, preferences, and intervention responses.</a:t>
                      </a:r>
                      <a:endParaRPr lang="en-US" sz="1150" dirty="0">
                        <a:latin typeface="Segoe UI" panose="020B0502040204020203" pitchFamily="34" charset="0"/>
                        <a:ea typeface="Segoe UI" panose="020B0502040204020203" pitchFamily="34" charset="0"/>
                        <a:cs typeface="Segoe UI" panose="020B0502040204020203" pitchFamily="34" charset="0"/>
                      </a:endParaRPr>
                    </a:p>
                  </a:txBody>
                  <a:tcPr anchor="ctr">
                    <a:lnL w="6350" cap="flat" cmpd="sng" algn="ctr">
                      <a:solidFill>
                        <a:srgbClr val="156D4F"/>
                      </a:solidFill>
                      <a:prstDash val="solid"/>
                      <a:round/>
                      <a:headEnd type="none" w="med" len="med"/>
                      <a:tailEnd type="none" w="med" len="med"/>
                    </a:lnL>
                    <a:lnR w="6350" cap="flat" cmpd="sng" algn="ctr">
                      <a:solidFill>
                        <a:srgbClr val="156D4F"/>
                      </a:solidFill>
                      <a:prstDash val="solid"/>
                      <a:round/>
                      <a:headEnd type="none" w="med" len="med"/>
                      <a:tailEnd type="none" w="med" len="med"/>
                    </a:lnR>
                    <a:lnT w="6350" cap="flat" cmpd="sng" algn="ctr">
                      <a:solidFill>
                        <a:srgbClr val="156D4F"/>
                      </a:solidFill>
                      <a:prstDash val="solid"/>
                      <a:round/>
                      <a:headEnd type="none" w="med" len="med"/>
                      <a:tailEnd type="none" w="med" len="med"/>
                    </a:lnT>
                    <a:lnB w="6350" cap="flat" cmpd="sng" algn="ctr">
                      <a:solidFill>
                        <a:srgbClr val="156D4F"/>
                      </a:solidFill>
                      <a:prstDash val="solid"/>
                      <a:round/>
                      <a:headEnd type="none" w="med" len="med"/>
                      <a:tailEnd type="none" w="med" len="med"/>
                    </a:lnB>
                  </a:tcPr>
                </a:tc>
                <a:tc>
                  <a:txBody>
                    <a:bodyPr/>
                    <a:lstStyle/>
                    <a:p>
                      <a:pPr marL="0" indent="0">
                        <a:buNone/>
                      </a:pPr>
                      <a:r>
                        <a:rPr lang="en-US" sz="1150" dirty="0">
                          <a:solidFill>
                            <a:srgbClr val="156D4F"/>
                          </a:solidFill>
                          <a:latin typeface="Segoe UI" panose="020B0502040204020203" pitchFamily="34" charset="0"/>
                          <a:ea typeface="Segoe UI" panose="020B0502040204020203" pitchFamily="34" charset="-122"/>
                          <a:cs typeface="Segoe UI" panose="020B0502040204020203" pitchFamily="34" charset="-120"/>
                        </a:rPr>
                        <a:t>Personalized user behavior profile.</a:t>
                      </a:r>
                      <a:endParaRPr lang="en-US" sz="1150" dirty="0">
                        <a:latin typeface="Segoe UI" panose="020B0502040204020203" pitchFamily="34" charset="0"/>
                        <a:ea typeface="Segoe UI" panose="020B0502040204020203" pitchFamily="34" charset="0"/>
                        <a:cs typeface="Segoe UI" panose="020B0502040204020203" pitchFamily="34" charset="0"/>
                      </a:endParaRPr>
                    </a:p>
                  </a:txBody>
                  <a:tcPr anchor="ctr">
                    <a:lnL w="6350" cap="flat" cmpd="sng" algn="ctr">
                      <a:solidFill>
                        <a:srgbClr val="156D4F"/>
                      </a:solidFill>
                      <a:prstDash val="solid"/>
                      <a:round/>
                      <a:headEnd type="none" w="med" len="med"/>
                      <a:tailEnd type="none" w="med" len="med"/>
                    </a:lnL>
                    <a:lnR w="6350" cap="flat" cmpd="sng" algn="ctr">
                      <a:solidFill>
                        <a:srgbClr val="156D4F"/>
                      </a:solidFill>
                      <a:prstDash val="solid"/>
                      <a:round/>
                      <a:headEnd type="none" w="med" len="med"/>
                      <a:tailEnd type="none" w="med" len="med"/>
                    </a:lnR>
                    <a:lnT w="6350" cap="flat" cmpd="sng" algn="ctr">
                      <a:solidFill>
                        <a:srgbClr val="156D4F"/>
                      </a:solidFill>
                      <a:prstDash val="solid"/>
                      <a:round/>
                      <a:headEnd type="none" w="med" len="med"/>
                      <a:tailEnd type="none" w="med" len="med"/>
                    </a:lnT>
                    <a:lnB w="6350" cap="flat" cmpd="sng" algn="ctr">
                      <a:solidFill>
                        <a:srgbClr val="156D4F"/>
                      </a:solidFill>
                      <a:prstDash val="solid"/>
                      <a:round/>
                      <a:headEnd type="none" w="med" len="med"/>
                      <a:tailEnd type="none" w="med" len="med"/>
                    </a:lnB>
                  </a:tcPr>
                </a:tc>
              </a:tr>
              <a:tr h="566928">
                <a:tc>
                  <a:txBody>
                    <a:bodyPr/>
                    <a:lstStyle/>
                    <a:p>
                      <a:pPr marL="0" indent="0">
                        <a:buNone/>
                      </a:pPr>
                      <a:r>
                        <a:rPr lang="en-US" sz="1150" dirty="0">
                          <a:solidFill>
                            <a:srgbClr val="156D4F"/>
                          </a:solidFill>
                          <a:latin typeface="Segoe UI" panose="020B0502040204020203" pitchFamily="34" charset="0"/>
                          <a:ea typeface="Segoe UI" panose="020B0502040204020203" pitchFamily="34" charset="-122"/>
                          <a:cs typeface="Segoe UI" panose="020B0502040204020203" pitchFamily="34" charset="-120"/>
                        </a:rPr>
                        <a:t>3. ML Forecasting</a:t>
                      </a:r>
                      <a:endParaRPr lang="en-US" sz="1150" dirty="0">
                        <a:latin typeface="Segoe UI" panose="020B0502040204020203" pitchFamily="34" charset="0"/>
                        <a:ea typeface="Segoe UI" panose="020B0502040204020203" pitchFamily="34" charset="0"/>
                        <a:cs typeface="Segoe UI" panose="020B0502040204020203" pitchFamily="34" charset="0"/>
                      </a:endParaRPr>
                    </a:p>
                  </a:txBody>
                  <a:tcPr anchor="ctr">
                    <a:lnL w="6350" cap="flat" cmpd="sng" algn="ctr">
                      <a:solidFill>
                        <a:srgbClr val="156D4F"/>
                      </a:solidFill>
                      <a:prstDash val="solid"/>
                      <a:round/>
                      <a:headEnd type="none" w="med" len="med"/>
                      <a:tailEnd type="none" w="med" len="med"/>
                    </a:lnL>
                    <a:lnR w="6350" cap="flat" cmpd="sng" algn="ctr">
                      <a:solidFill>
                        <a:srgbClr val="156D4F"/>
                      </a:solidFill>
                      <a:prstDash val="solid"/>
                      <a:round/>
                      <a:headEnd type="none" w="med" len="med"/>
                      <a:tailEnd type="none" w="med" len="med"/>
                    </a:lnR>
                    <a:lnT w="6350" cap="flat" cmpd="sng" algn="ctr">
                      <a:solidFill>
                        <a:srgbClr val="156D4F"/>
                      </a:solidFill>
                      <a:prstDash val="solid"/>
                      <a:round/>
                      <a:headEnd type="none" w="med" len="med"/>
                      <a:tailEnd type="none" w="med" len="med"/>
                    </a:lnT>
                    <a:lnB w="6350" cap="flat" cmpd="sng" algn="ctr">
                      <a:solidFill>
                        <a:srgbClr val="156D4F"/>
                      </a:solidFill>
                      <a:prstDash val="solid"/>
                      <a:round/>
                      <a:headEnd type="none" w="med" len="med"/>
                      <a:tailEnd type="none" w="med" len="med"/>
                    </a:lnB>
                  </a:tcPr>
                </a:tc>
                <a:tc>
                  <a:txBody>
                    <a:bodyPr/>
                    <a:lstStyle/>
                    <a:p>
                      <a:pPr marL="0" indent="0">
                        <a:buNone/>
                      </a:pPr>
                      <a:r>
                        <a:rPr lang="en-US" sz="1150" dirty="0">
                          <a:solidFill>
                            <a:srgbClr val="156D4F"/>
                          </a:solidFill>
                          <a:latin typeface="Segoe UI" panose="020B0502040204020203" pitchFamily="34" charset="0"/>
                          <a:ea typeface="Segoe UI" panose="020B0502040204020203" pitchFamily="34" charset="-122"/>
                          <a:cs typeface="Segoe UI" panose="020B0502040204020203" pitchFamily="34" charset="-120"/>
                        </a:rPr>
                        <a:t>XGBoost Regression Model</a:t>
                      </a:r>
                      <a:endParaRPr lang="en-US" sz="1150" dirty="0">
                        <a:latin typeface="Segoe UI" panose="020B0502040204020203" pitchFamily="34" charset="0"/>
                        <a:ea typeface="Segoe UI" panose="020B0502040204020203" pitchFamily="34" charset="0"/>
                        <a:cs typeface="Segoe UI" panose="020B0502040204020203" pitchFamily="34" charset="0"/>
                      </a:endParaRPr>
                    </a:p>
                  </a:txBody>
                  <a:tcPr anchor="ctr">
                    <a:lnL w="6350" cap="flat" cmpd="sng" algn="ctr">
                      <a:solidFill>
                        <a:srgbClr val="156D4F"/>
                      </a:solidFill>
                      <a:prstDash val="solid"/>
                      <a:round/>
                      <a:headEnd type="none" w="med" len="med"/>
                      <a:tailEnd type="none" w="med" len="med"/>
                    </a:lnL>
                    <a:lnR w="6350" cap="flat" cmpd="sng" algn="ctr">
                      <a:solidFill>
                        <a:srgbClr val="156D4F"/>
                      </a:solidFill>
                      <a:prstDash val="solid"/>
                      <a:round/>
                      <a:headEnd type="none" w="med" len="med"/>
                      <a:tailEnd type="none" w="med" len="med"/>
                    </a:lnR>
                    <a:lnT w="6350" cap="flat" cmpd="sng" algn="ctr">
                      <a:solidFill>
                        <a:srgbClr val="156D4F"/>
                      </a:solidFill>
                      <a:prstDash val="solid"/>
                      <a:round/>
                      <a:headEnd type="none" w="med" len="med"/>
                      <a:tailEnd type="none" w="med" len="med"/>
                    </a:lnT>
                    <a:lnB w="6350" cap="flat" cmpd="sng" algn="ctr">
                      <a:solidFill>
                        <a:srgbClr val="156D4F"/>
                      </a:solidFill>
                      <a:prstDash val="solid"/>
                      <a:round/>
                      <a:headEnd type="none" w="med" len="med"/>
                      <a:tailEnd type="none" w="med" len="med"/>
                    </a:lnB>
                  </a:tcPr>
                </a:tc>
                <a:tc>
                  <a:txBody>
                    <a:bodyPr/>
                    <a:lstStyle/>
                    <a:p>
                      <a:pPr marL="0" indent="0">
                        <a:buNone/>
                      </a:pPr>
                      <a:r>
                        <a:rPr lang="en-US" sz="1150" dirty="0">
                          <a:solidFill>
                            <a:srgbClr val="156D4F"/>
                          </a:solidFill>
                          <a:latin typeface="Segoe UI" panose="020B0502040204020203" pitchFamily="34" charset="0"/>
                          <a:ea typeface="Segoe UI" panose="020B0502040204020203" pitchFamily="34" charset="-122"/>
                          <a:cs typeface="Segoe UI" panose="020B0502040204020203" pitchFamily="34" charset="-120"/>
                        </a:rPr>
                        <a:t>Predicts future resource footprint based on historical trends.</a:t>
                      </a:r>
                      <a:endParaRPr lang="en-US" sz="1150" dirty="0">
                        <a:latin typeface="Segoe UI" panose="020B0502040204020203" pitchFamily="34" charset="0"/>
                        <a:ea typeface="Segoe UI" panose="020B0502040204020203" pitchFamily="34" charset="0"/>
                        <a:cs typeface="Segoe UI" panose="020B0502040204020203" pitchFamily="34" charset="0"/>
                      </a:endParaRPr>
                    </a:p>
                  </a:txBody>
                  <a:tcPr anchor="ctr">
                    <a:lnL w="6350" cap="flat" cmpd="sng" algn="ctr">
                      <a:solidFill>
                        <a:srgbClr val="156D4F"/>
                      </a:solidFill>
                      <a:prstDash val="solid"/>
                      <a:round/>
                      <a:headEnd type="none" w="med" len="med"/>
                      <a:tailEnd type="none" w="med" len="med"/>
                    </a:lnL>
                    <a:lnR w="6350" cap="flat" cmpd="sng" algn="ctr">
                      <a:solidFill>
                        <a:srgbClr val="156D4F"/>
                      </a:solidFill>
                      <a:prstDash val="solid"/>
                      <a:round/>
                      <a:headEnd type="none" w="med" len="med"/>
                      <a:tailEnd type="none" w="med" len="med"/>
                    </a:lnR>
                    <a:lnT w="6350" cap="flat" cmpd="sng" algn="ctr">
                      <a:solidFill>
                        <a:srgbClr val="156D4F"/>
                      </a:solidFill>
                      <a:prstDash val="solid"/>
                      <a:round/>
                      <a:headEnd type="none" w="med" len="med"/>
                      <a:tailEnd type="none" w="med" len="med"/>
                    </a:lnT>
                    <a:lnB w="6350" cap="flat" cmpd="sng" algn="ctr">
                      <a:solidFill>
                        <a:srgbClr val="156D4F"/>
                      </a:solidFill>
                      <a:prstDash val="solid"/>
                      <a:round/>
                      <a:headEnd type="none" w="med" len="med"/>
                      <a:tailEnd type="none" w="med" len="med"/>
                    </a:lnB>
                  </a:tcPr>
                </a:tc>
                <a:tc>
                  <a:txBody>
                    <a:bodyPr/>
                    <a:lstStyle/>
                    <a:p>
                      <a:pPr marL="0" indent="0">
                        <a:buNone/>
                      </a:pPr>
                      <a:r>
                        <a:rPr lang="en-US" sz="1150" dirty="0">
                          <a:solidFill>
                            <a:srgbClr val="156D4F"/>
                          </a:solidFill>
                          <a:latin typeface="Segoe UI" panose="020B0502040204020203" pitchFamily="34" charset="0"/>
                          <a:ea typeface="Segoe UI" panose="020B0502040204020203" pitchFamily="34" charset="-122"/>
                          <a:cs typeface="Segoe UI" panose="020B0502040204020203" pitchFamily="34" charset="-120"/>
                        </a:rPr>
                        <a:t>Future impact predictions and alerts.</a:t>
                      </a:r>
                      <a:endParaRPr lang="en-US" sz="1150" dirty="0">
                        <a:latin typeface="Segoe UI" panose="020B0502040204020203" pitchFamily="34" charset="0"/>
                        <a:ea typeface="Segoe UI" panose="020B0502040204020203" pitchFamily="34" charset="0"/>
                        <a:cs typeface="Segoe UI" panose="020B0502040204020203" pitchFamily="34" charset="0"/>
                      </a:endParaRPr>
                    </a:p>
                  </a:txBody>
                  <a:tcPr anchor="ctr">
                    <a:lnL w="6350" cap="flat" cmpd="sng" algn="ctr">
                      <a:solidFill>
                        <a:srgbClr val="156D4F"/>
                      </a:solidFill>
                      <a:prstDash val="solid"/>
                      <a:round/>
                      <a:headEnd type="none" w="med" len="med"/>
                      <a:tailEnd type="none" w="med" len="med"/>
                    </a:lnL>
                    <a:lnR w="6350" cap="flat" cmpd="sng" algn="ctr">
                      <a:solidFill>
                        <a:srgbClr val="156D4F"/>
                      </a:solidFill>
                      <a:prstDash val="solid"/>
                      <a:round/>
                      <a:headEnd type="none" w="med" len="med"/>
                      <a:tailEnd type="none" w="med" len="med"/>
                    </a:lnR>
                    <a:lnT w="6350" cap="flat" cmpd="sng" algn="ctr">
                      <a:solidFill>
                        <a:srgbClr val="156D4F"/>
                      </a:solidFill>
                      <a:prstDash val="solid"/>
                      <a:round/>
                      <a:headEnd type="none" w="med" len="med"/>
                      <a:tailEnd type="none" w="med" len="med"/>
                    </a:lnT>
                    <a:lnB w="6350" cap="flat" cmpd="sng" algn="ctr">
                      <a:solidFill>
                        <a:srgbClr val="156D4F"/>
                      </a:solidFill>
                      <a:prstDash val="solid"/>
                      <a:round/>
                      <a:headEnd type="none" w="med" len="med"/>
                      <a:tailEnd type="none" w="med" len="med"/>
                    </a:lnB>
                  </a:tcPr>
                </a:tc>
              </a:tr>
              <a:tr h="566928">
                <a:tc>
                  <a:txBody>
                    <a:bodyPr/>
                    <a:lstStyle/>
                    <a:p>
                      <a:pPr marL="0" indent="0">
                        <a:buNone/>
                      </a:pPr>
                      <a:r>
                        <a:rPr lang="en-US" sz="1150" dirty="0">
                          <a:solidFill>
                            <a:srgbClr val="156D4F"/>
                          </a:solidFill>
                          <a:latin typeface="Segoe UI" panose="020B0502040204020203" pitchFamily="34" charset="0"/>
                          <a:ea typeface="Segoe UI" panose="020B0502040204020203" pitchFamily="34" charset="-122"/>
                          <a:cs typeface="Segoe UI" panose="020B0502040204020203" pitchFamily="34" charset="-120"/>
                        </a:rPr>
                        <a:t>4. Twin Simulation</a:t>
                      </a:r>
                      <a:endParaRPr lang="en-US" sz="1150" dirty="0">
                        <a:latin typeface="Segoe UI" panose="020B0502040204020203" pitchFamily="34" charset="0"/>
                        <a:ea typeface="Segoe UI" panose="020B0502040204020203" pitchFamily="34" charset="0"/>
                        <a:cs typeface="Segoe UI" panose="020B0502040204020203" pitchFamily="34" charset="0"/>
                      </a:endParaRPr>
                    </a:p>
                  </a:txBody>
                  <a:tcPr anchor="ctr">
                    <a:lnL w="6350" cap="flat" cmpd="sng" algn="ctr">
                      <a:solidFill>
                        <a:srgbClr val="156D4F"/>
                      </a:solidFill>
                      <a:prstDash val="solid"/>
                      <a:round/>
                      <a:headEnd type="none" w="med" len="med"/>
                      <a:tailEnd type="none" w="med" len="med"/>
                    </a:lnL>
                    <a:lnR w="6350" cap="flat" cmpd="sng" algn="ctr">
                      <a:solidFill>
                        <a:srgbClr val="156D4F"/>
                      </a:solidFill>
                      <a:prstDash val="solid"/>
                      <a:round/>
                      <a:headEnd type="none" w="med" len="med"/>
                      <a:tailEnd type="none" w="med" len="med"/>
                    </a:lnR>
                    <a:lnT w="6350" cap="flat" cmpd="sng" algn="ctr">
                      <a:solidFill>
                        <a:srgbClr val="156D4F"/>
                      </a:solidFill>
                      <a:prstDash val="solid"/>
                      <a:round/>
                      <a:headEnd type="none" w="med" len="med"/>
                      <a:tailEnd type="none" w="med" len="med"/>
                    </a:lnT>
                    <a:lnB w="6350" cap="flat" cmpd="sng" algn="ctr">
                      <a:solidFill>
                        <a:srgbClr val="156D4F"/>
                      </a:solidFill>
                      <a:prstDash val="solid"/>
                      <a:round/>
                      <a:headEnd type="none" w="med" len="med"/>
                      <a:tailEnd type="none" w="med" len="med"/>
                    </a:lnB>
                  </a:tcPr>
                </a:tc>
                <a:tc>
                  <a:txBody>
                    <a:bodyPr/>
                    <a:lstStyle/>
                    <a:p>
                      <a:pPr marL="0" indent="0">
                        <a:buNone/>
                      </a:pPr>
                      <a:r>
                        <a:rPr lang="en-US" sz="1150" dirty="0">
                          <a:solidFill>
                            <a:srgbClr val="156D4F"/>
                          </a:solidFill>
                          <a:latin typeface="Segoe UI" panose="020B0502040204020203" pitchFamily="34" charset="0"/>
                          <a:ea typeface="Segoe UI" panose="020B0502040204020203" pitchFamily="34" charset="-122"/>
                          <a:cs typeface="Segoe UI" panose="020B0502040204020203" pitchFamily="34" charset="-120"/>
                        </a:rPr>
                        <a:t>Digital Twin Simulator</a:t>
                      </a:r>
                      <a:endParaRPr lang="en-US" sz="1150" dirty="0">
                        <a:latin typeface="Segoe UI" panose="020B0502040204020203" pitchFamily="34" charset="0"/>
                        <a:ea typeface="Segoe UI" panose="020B0502040204020203" pitchFamily="34" charset="0"/>
                        <a:cs typeface="Segoe UI" panose="020B0502040204020203" pitchFamily="34" charset="0"/>
                      </a:endParaRPr>
                    </a:p>
                  </a:txBody>
                  <a:tcPr anchor="ctr">
                    <a:lnL w="6350" cap="flat" cmpd="sng" algn="ctr">
                      <a:solidFill>
                        <a:srgbClr val="156D4F"/>
                      </a:solidFill>
                      <a:prstDash val="solid"/>
                      <a:round/>
                      <a:headEnd type="none" w="med" len="med"/>
                      <a:tailEnd type="none" w="med" len="med"/>
                    </a:lnL>
                    <a:lnR w="6350" cap="flat" cmpd="sng" algn="ctr">
                      <a:solidFill>
                        <a:srgbClr val="156D4F"/>
                      </a:solidFill>
                      <a:prstDash val="solid"/>
                      <a:round/>
                      <a:headEnd type="none" w="med" len="med"/>
                      <a:tailEnd type="none" w="med" len="med"/>
                    </a:lnR>
                    <a:lnT w="6350" cap="flat" cmpd="sng" algn="ctr">
                      <a:solidFill>
                        <a:srgbClr val="156D4F"/>
                      </a:solidFill>
                      <a:prstDash val="solid"/>
                      <a:round/>
                      <a:headEnd type="none" w="med" len="med"/>
                      <a:tailEnd type="none" w="med" len="med"/>
                    </a:lnT>
                    <a:lnB w="6350" cap="flat" cmpd="sng" algn="ctr">
                      <a:solidFill>
                        <a:srgbClr val="156D4F"/>
                      </a:solidFill>
                      <a:prstDash val="solid"/>
                      <a:round/>
                      <a:headEnd type="none" w="med" len="med"/>
                      <a:tailEnd type="none" w="med" len="med"/>
                    </a:lnB>
                  </a:tcPr>
                </a:tc>
                <a:tc>
                  <a:txBody>
                    <a:bodyPr/>
                    <a:lstStyle/>
                    <a:p>
                      <a:pPr marL="0" indent="0">
                        <a:buNone/>
                      </a:pPr>
                      <a:r>
                        <a:rPr lang="en-US" sz="1150" dirty="0">
                          <a:solidFill>
                            <a:srgbClr val="156D4F"/>
                          </a:solidFill>
                          <a:latin typeface="Segoe UI" panose="020B0502040204020203" pitchFamily="34" charset="0"/>
                          <a:ea typeface="Segoe UI" panose="020B0502040204020203" pitchFamily="34" charset="-122"/>
                          <a:cs typeface="Segoe UI" panose="020B0502040204020203" pitchFamily="34" charset="-120"/>
                        </a:rPr>
                        <a:t>Simulates hypothetical scenarios (e.g. solar panels, LEDs).</a:t>
                      </a:r>
                      <a:endParaRPr lang="en-US" sz="1150" dirty="0">
                        <a:latin typeface="Segoe UI" panose="020B0502040204020203" pitchFamily="34" charset="0"/>
                        <a:ea typeface="Segoe UI" panose="020B0502040204020203" pitchFamily="34" charset="0"/>
                        <a:cs typeface="Segoe UI" panose="020B0502040204020203" pitchFamily="34" charset="0"/>
                      </a:endParaRPr>
                    </a:p>
                  </a:txBody>
                  <a:tcPr anchor="ctr">
                    <a:lnL w="6350" cap="flat" cmpd="sng" algn="ctr">
                      <a:solidFill>
                        <a:srgbClr val="156D4F"/>
                      </a:solidFill>
                      <a:prstDash val="solid"/>
                      <a:round/>
                      <a:headEnd type="none" w="med" len="med"/>
                      <a:tailEnd type="none" w="med" len="med"/>
                    </a:lnL>
                    <a:lnR w="6350" cap="flat" cmpd="sng" algn="ctr">
                      <a:solidFill>
                        <a:srgbClr val="156D4F"/>
                      </a:solidFill>
                      <a:prstDash val="solid"/>
                      <a:round/>
                      <a:headEnd type="none" w="med" len="med"/>
                      <a:tailEnd type="none" w="med" len="med"/>
                    </a:lnR>
                    <a:lnT w="6350" cap="flat" cmpd="sng" algn="ctr">
                      <a:solidFill>
                        <a:srgbClr val="156D4F"/>
                      </a:solidFill>
                      <a:prstDash val="solid"/>
                      <a:round/>
                      <a:headEnd type="none" w="med" len="med"/>
                      <a:tailEnd type="none" w="med" len="med"/>
                    </a:lnT>
                    <a:lnB w="6350" cap="flat" cmpd="sng" algn="ctr">
                      <a:solidFill>
                        <a:srgbClr val="156D4F"/>
                      </a:solidFill>
                      <a:prstDash val="solid"/>
                      <a:round/>
                      <a:headEnd type="none" w="med" len="med"/>
                      <a:tailEnd type="none" w="med" len="med"/>
                    </a:lnB>
                  </a:tcPr>
                </a:tc>
                <a:tc>
                  <a:txBody>
                    <a:bodyPr/>
                    <a:lstStyle/>
                    <a:p>
                      <a:pPr marL="0" indent="0">
                        <a:buNone/>
                      </a:pPr>
                      <a:r>
                        <a:rPr lang="en-US" sz="1150" dirty="0">
                          <a:solidFill>
                            <a:srgbClr val="156D4F"/>
                          </a:solidFill>
                          <a:latin typeface="Segoe UI" panose="020B0502040204020203" pitchFamily="34" charset="0"/>
                          <a:ea typeface="Segoe UI" panose="020B0502040204020203" pitchFamily="34" charset="-122"/>
                          <a:cs typeface="Segoe UI" panose="020B0502040204020203" pitchFamily="34" charset="-120"/>
                        </a:rPr>
                        <a:t>Comparative impact-cost estimates.</a:t>
                      </a:r>
                      <a:endParaRPr lang="en-US" sz="1150" dirty="0">
                        <a:latin typeface="Segoe UI" panose="020B0502040204020203" pitchFamily="34" charset="0"/>
                        <a:ea typeface="Segoe UI" panose="020B0502040204020203" pitchFamily="34" charset="0"/>
                        <a:cs typeface="Segoe UI" panose="020B0502040204020203" pitchFamily="34" charset="0"/>
                      </a:endParaRPr>
                    </a:p>
                  </a:txBody>
                  <a:tcPr anchor="ctr">
                    <a:lnL w="6350" cap="flat" cmpd="sng" algn="ctr">
                      <a:solidFill>
                        <a:srgbClr val="156D4F"/>
                      </a:solidFill>
                      <a:prstDash val="solid"/>
                      <a:round/>
                      <a:headEnd type="none" w="med" len="med"/>
                      <a:tailEnd type="none" w="med" len="med"/>
                    </a:lnL>
                    <a:lnR w="6350" cap="flat" cmpd="sng" algn="ctr">
                      <a:solidFill>
                        <a:srgbClr val="156D4F"/>
                      </a:solidFill>
                      <a:prstDash val="solid"/>
                      <a:round/>
                      <a:headEnd type="none" w="med" len="med"/>
                      <a:tailEnd type="none" w="med" len="med"/>
                    </a:lnR>
                    <a:lnT w="6350" cap="flat" cmpd="sng" algn="ctr">
                      <a:solidFill>
                        <a:srgbClr val="156D4F"/>
                      </a:solidFill>
                      <a:prstDash val="solid"/>
                      <a:round/>
                      <a:headEnd type="none" w="med" len="med"/>
                      <a:tailEnd type="none" w="med" len="med"/>
                    </a:lnT>
                    <a:lnB w="6350" cap="flat" cmpd="sng" algn="ctr">
                      <a:solidFill>
                        <a:srgbClr val="156D4F"/>
                      </a:solidFill>
                      <a:prstDash val="solid"/>
                      <a:round/>
                      <a:headEnd type="none" w="med" len="med"/>
                      <a:tailEnd type="none" w="med" len="med"/>
                    </a:lnB>
                  </a:tcPr>
                </a:tc>
              </a:tr>
              <a:tr h="566928">
                <a:tc>
                  <a:txBody>
                    <a:bodyPr/>
                    <a:lstStyle/>
                    <a:p>
                      <a:pPr marL="0" indent="0">
                        <a:buNone/>
                      </a:pPr>
                      <a:r>
                        <a:rPr lang="en-US" sz="1150" dirty="0">
                          <a:solidFill>
                            <a:srgbClr val="156D4F"/>
                          </a:solidFill>
                          <a:latin typeface="Segoe UI" panose="020B0502040204020203" pitchFamily="34" charset="0"/>
                          <a:ea typeface="Segoe UI" panose="020B0502040204020203" pitchFamily="34" charset="-122"/>
                          <a:cs typeface="Segoe UI" panose="020B0502040204020203" pitchFamily="34" charset="-120"/>
                        </a:rPr>
                        <a:t>5. Resource Optimization</a:t>
                      </a:r>
                      <a:endParaRPr lang="en-US" sz="1150" dirty="0">
                        <a:latin typeface="Segoe UI" panose="020B0502040204020203" pitchFamily="34" charset="0"/>
                        <a:ea typeface="Segoe UI" panose="020B0502040204020203" pitchFamily="34" charset="0"/>
                        <a:cs typeface="Segoe UI" panose="020B0502040204020203" pitchFamily="34" charset="0"/>
                      </a:endParaRPr>
                    </a:p>
                  </a:txBody>
                  <a:tcPr anchor="ctr">
                    <a:lnL w="6350" cap="flat" cmpd="sng" algn="ctr">
                      <a:solidFill>
                        <a:srgbClr val="156D4F"/>
                      </a:solidFill>
                      <a:prstDash val="solid"/>
                      <a:round/>
                      <a:headEnd type="none" w="med" len="med"/>
                      <a:tailEnd type="none" w="med" len="med"/>
                    </a:lnL>
                    <a:lnR w="6350" cap="flat" cmpd="sng" algn="ctr">
                      <a:solidFill>
                        <a:srgbClr val="156D4F"/>
                      </a:solidFill>
                      <a:prstDash val="solid"/>
                      <a:round/>
                      <a:headEnd type="none" w="med" len="med"/>
                      <a:tailEnd type="none" w="med" len="med"/>
                    </a:lnR>
                    <a:lnT w="6350" cap="flat" cmpd="sng" algn="ctr">
                      <a:solidFill>
                        <a:srgbClr val="156D4F"/>
                      </a:solidFill>
                      <a:prstDash val="solid"/>
                      <a:round/>
                      <a:headEnd type="none" w="med" len="med"/>
                      <a:tailEnd type="none" w="med" len="med"/>
                    </a:lnT>
                    <a:lnB w="6350" cap="flat" cmpd="sng" algn="ctr">
                      <a:solidFill>
                        <a:srgbClr val="156D4F"/>
                      </a:solidFill>
                      <a:prstDash val="solid"/>
                      <a:round/>
                      <a:headEnd type="none" w="med" len="med"/>
                      <a:tailEnd type="none" w="med" len="med"/>
                    </a:lnB>
                  </a:tcPr>
                </a:tc>
                <a:tc>
                  <a:txBody>
                    <a:bodyPr/>
                    <a:lstStyle/>
                    <a:p>
                      <a:pPr marL="0" indent="0">
                        <a:buNone/>
                      </a:pPr>
                      <a:r>
                        <a:rPr lang="en-US" sz="1150" dirty="0">
                          <a:solidFill>
                            <a:srgbClr val="156D4F"/>
                          </a:solidFill>
                          <a:latin typeface="Segoe UI" panose="020B0502040204020203" pitchFamily="34" charset="0"/>
                          <a:ea typeface="Segoe UI" panose="020B0502040204020203" pitchFamily="34" charset="-122"/>
                          <a:cs typeface="Segoe UI" panose="020B0502040204020203" pitchFamily="34" charset="-120"/>
                        </a:rPr>
                        <a:t>Google OR-Tools Solver</a:t>
                      </a:r>
                      <a:endParaRPr lang="en-US" sz="1150" dirty="0">
                        <a:latin typeface="Segoe UI" panose="020B0502040204020203" pitchFamily="34" charset="0"/>
                        <a:ea typeface="Segoe UI" panose="020B0502040204020203" pitchFamily="34" charset="0"/>
                        <a:cs typeface="Segoe UI" panose="020B0502040204020203" pitchFamily="34" charset="0"/>
                      </a:endParaRPr>
                    </a:p>
                  </a:txBody>
                  <a:tcPr anchor="ctr">
                    <a:lnL w="6350" cap="flat" cmpd="sng" algn="ctr">
                      <a:solidFill>
                        <a:srgbClr val="156D4F"/>
                      </a:solidFill>
                      <a:prstDash val="solid"/>
                      <a:round/>
                      <a:headEnd type="none" w="med" len="med"/>
                      <a:tailEnd type="none" w="med" len="med"/>
                    </a:lnL>
                    <a:lnR w="6350" cap="flat" cmpd="sng" algn="ctr">
                      <a:solidFill>
                        <a:srgbClr val="156D4F"/>
                      </a:solidFill>
                      <a:prstDash val="solid"/>
                      <a:round/>
                      <a:headEnd type="none" w="med" len="med"/>
                      <a:tailEnd type="none" w="med" len="med"/>
                    </a:lnR>
                    <a:lnT w="6350" cap="flat" cmpd="sng" algn="ctr">
                      <a:solidFill>
                        <a:srgbClr val="156D4F"/>
                      </a:solidFill>
                      <a:prstDash val="solid"/>
                      <a:round/>
                      <a:headEnd type="none" w="med" len="med"/>
                      <a:tailEnd type="none" w="med" len="med"/>
                    </a:lnT>
                    <a:lnB w="6350" cap="flat" cmpd="sng" algn="ctr">
                      <a:solidFill>
                        <a:srgbClr val="156D4F"/>
                      </a:solidFill>
                      <a:prstDash val="solid"/>
                      <a:round/>
                      <a:headEnd type="none" w="med" len="med"/>
                      <a:tailEnd type="none" w="med" len="med"/>
                    </a:lnB>
                  </a:tcPr>
                </a:tc>
                <a:tc>
                  <a:txBody>
                    <a:bodyPr/>
                    <a:lstStyle/>
                    <a:p>
                      <a:pPr marL="0" indent="0">
                        <a:buNone/>
                      </a:pPr>
                      <a:r>
                        <a:rPr lang="en-US" sz="1150" dirty="0">
                          <a:solidFill>
                            <a:srgbClr val="156D4F"/>
                          </a:solidFill>
                          <a:latin typeface="Segoe UI" panose="020B0502040204020203" pitchFamily="34" charset="0"/>
                          <a:ea typeface="Segoe UI" panose="020B0502040204020203" pitchFamily="34" charset="-122"/>
                          <a:cs typeface="Segoe UI" panose="020B0502040204020203" pitchFamily="34" charset="-120"/>
                        </a:rPr>
                        <a:t>Resolves trade-offs between cost, carbon, and user goals.</a:t>
                      </a:r>
                      <a:endParaRPr lang="en-US" sz="1150" dirty="0">
                        <a:latin typeface="Segoe UI" panose="020B0502040204020203" pitchFamily="34" charset="0"/>
                        <a:ea typeface="Segoe UI" panose="020B0502040204020203" pitchFamily="34" charset="0"/>
                        <a:cs typeface="Segoe UI" panose="020B0502040204020203" pitchFamily="34" charset="0"/>
                      </a:endParaRPr>
                    </a:p>
                  </a:txBody>
                  <a:tcPr anchor="ctr">
                    <a:lnL w="6350" cap="flat" cmpd="sng" algn="ctr">
                      <a:solidFill>
                        <a:srgbClr val="156D4F"/>
                      </a:solidFill>
                      <a:prstDash val="solid"/>
                      <a:round/>
                      <a:headEnd type="none" w="med" len="med"/>
                      <a:tailEnd type="none" w="med" len="med"/>
                    </a:lnL>
                    <a:lnR w="6350" cap="flat" cmpd="sng" algn="ctr">
                      <a:solidFill>
                        <a:srgbClr val="156D4F"/>
                      </a:solidFill>
                      <a:prstDash val="solid"/>
                      <a:round/>
                      <a:headEnd type="none" w="med" len="med"/>
                      <a:tailEnd type="none" w="med" len="med"/>
                    </a:lnR>
                    <a:lnT w="6350" cap="flat" cmpd="sng" algn="ctr">
                      <a:solidFill>
                        <a:srgbClr val="156D4F"/>
                      </a:solidFill>
                      <a:prstDash val="solid"/>
                      <a:round/>
                      <a:headEnd type="none" w="med" len="med"/>
                      <a:tailEnd type="none" w="med" len="med"/>
                    </a:lnT>
                    <a:lnB w="6350" cap="flat" cmpd="sng" algn="ctr">
                      <a:solidFill>
                        <a:srgbClr val="156D4F"/>
                      </a:solidFill>
                      <a:prstDash val="solid"/>
                      <a:round/>
                      <a:headEnd type="none" w="med" len="med"/>
                      <a:tailEnd type="none" w="med" len="med"/>
                    </a:lnB>
                  </a:tcPr>
                </a:tc>
                <a:tc>
                  <a:txBody>
                    <a:bodyPr/>
                    <a:lstStyle/>
                    <a:p>
                      <a:pPr marL="0" indent="0">
                        <a:buNone/>
                      </a:pPr>
                      <a:r>
                        <a:rPr lang="en-US" sz="1150" dirty="0">
                          <a:solidFill>
                            <a:srgbClr val="156D4F"/>
                          </a:solidFill>
                          <a:latin typeface="Segoe UI" panose="020B0502040204020203" pitchFamily="34" charset="0"/>
                          <a:ea typeface="Segoe UI" panose="020B0502040204020203" pitchFamily="34" charset="-122"/>
                          <a:cs typeface="Segoe UI" panose="020B0502040204020203" pitchFamily="34" charset="-120"/>
                        </a:rPr>
                        <a:t>Optimized action plans.</a:t>
                      </a:r>
                      <a:endParaRPr lang="en-US" sz="1150" dirty="0">
                        <a:latin typeface="Segoe UI" panose="020B0502040204020203" pitchFamily="34" charset="0"/>
                        <a:ea typeface="Segoe UI" panose="020B0502040204020203" pitchFamily="34" charset="0"/>
                        <a:cs typeface="Segoe UI" panose="020B0502040204020203" pitchFamily="34" charset="0"/>
                      </a:endParaRPr>
                    </a:p>
                  </a:txBody>
                  <a:tcPr anchor="ctr">
                    <a:lnL w="6350" cap="flat" cmpd="sng" algn="ctr">
                      <a:solidFill>
                        <a:srgbClr val="156D4F"/>
                      </a:solidFill>
                      <a:prstDash val="solid"/>
                      <a:round/>
                      <a:headEnd type="none" w="med" len="med"/>
                      <a:tailEnd type="none" w="med" len="med"/>
                    </a:lnL>
                    <a:lnR w="6350" cap="flat" cmpd="sng" algn="ctr">
                      <a:solidFill>
                        <a:srgbClr val="156D4F"/>
                      </a:solidFill>
                      <a:prstDash val="solid"/>
                      <a:round/>
                      <a:headEnd type="none" w="med" len="med"/>
                      <a:tailEnd type="none" w="med" len="med"/>
                    </a:lnR>
                    <a:lnT w="6350" cap="flat" cmpd="sng" algn="ctr">
                      <a:solidFill>
                        <a:srgbClr val="156D4F"/>
                      </a:solidFill>
                      <a:prstDash val="solid"/>
                      <a:round/>
                      <a:headEnd type="none" w="med" len="med"/>
                      <a:tailEnd type="none" w="med" len="med"/>
                    </a:lnT>
                    <a:lnB w="6350" cap="flat" cmpd="sng" algn="ctr">
                      <a:solidFill>
                        <a:srgbClr val="156D4F"/>
                      </a:solidFill>
                      <a:prstDash val="solid"/>
                      <a:round/>
                      <a:headEnd type="none" w="med" len="med"/>
                      <a:tailEnd type="none" w="med" len="med"/>
                    </a:lnB>
                  </a:tcPr>
                </a:tc>
              </a:tr>
              <a:tr h="566928">
                <a:tc>
                  <a:txBody>
                    <a:bodyPr/>
                    <a:lstStyle/>
                    <a:p>
                      <a:pPr marL="0" indent="0">
                        <a:buNone/>
                      </a:pPr>
                      <a:r>
                        <a:rPr lang="en-US" sz="1150" dirty="0">
                          <a:solidFill>
                            <a:srgbClr val="156D4F"/>
                          </a:solidFill>
                          <a:latin typeface="Segoe UI" panose="020B0502040204020203" pitchFamily="34" charset="0"/>
                          <a:ea typeface="Segoe UI" panose="020B0502040204020203" pitchFamily="34" charset="-122"/>
                          <a:cs typeface="Segoe UI" panose="020B0502040204020203" pitchFamily="34" charset="-120"/>
                        </a:rPr>
                        <a:t>6. AI Explanation</a:t>
                      </a:r>
                      <a:endParaRPr lang="en-US" sz="1150" dirty="0">
                        <a:latin typeface="Segoe UI" panose="020B0502040204020203" pitchFamily="34" charset="0"/>
                        <a:ea typeface="Segoe UI" panose="020B0502040204020203" pitchFamily="34" charset="0"/>
                        <a:cs typeface="Segoe UI" panose="020B0502040204020203" pitchFamily="34" charset="0"/>
                      </a:endParaRPr>
                    </a:p>
                  </a:txBody>
                  <a:tcPr anchor="ctr">
                    <a:lnL w="6350" cap="flat" cmpd="sng" algn="ctr">
                      <a:solidFill>
                        <a:srgbClr val="156D4F"/>
                      </a:solidFill>
                      <a:prstDash val="solid"/>
                      <a:round/>
                      <a:headEnd type="none" w="med" len="med"/>
                      <a:tailEnd type="none" w="med" len="med"/>
                    </a:lnL>
                    <a:lnR w="6350" cap="flat" cmpd="sng" algn="ctr">
                      <a:solidFill>
                        <a:srgbClr val="156D4F"/>
                      </a:solidFill>
                      <a:prstDash val="solid"/>
                      <a:round/>
                      <a:headEnd type="none" w="med" len="med"/>
                      <a:tailEnd type="none" w="med" len="med"/>
                    </a:lnR>
                    <a:lnT w="6350" cap="flat" cmpd="sng" algn="ctr">
                      <a:solidFill>
                        <a:srgbClr val="156D4F"/>
                      </a:solidFill>
                      <a:prstDash val="solid"/>
                      <a:round/>
                      <a:headEnd type="none" w="med" len="med"/>
                      <a:tailEnd type="none" w="med" len="med"/>
                    </a:lnT>
                    <a:lnB w="6350" cap="flat" cmpd="sng" algn="ctr">
                      <a:solidFill>
                        <a:srgbClr val="156D4F"/>
                      </a:solidFill>
                      <a:prstDash val="solid"/>
                      <a:round/>
                      <a:headEnd type="none" w="med" len="med"/>
                      <a:tailEnd type="none" w="med" len="med"/>
                    </a:lnB>
                  </a:tcPr>
                </a:tc>
                <a:tc>
                  <a:txBody>
                    <a:bodyPr/>
                    <a:lstStyle/>
                    <a:p>
                      <a:pPr marL="0" indent="0">
                        <a:buNone/>
                      </a:pPr>
                      <a:r>
                        <a:rPr lang="en-US" sz="1150" dirty="0">
                          <a:solidFill>
                            <a:srgbClr val="156D4F"/>
                          </a:solidFill>
                          <a:latin typeface="Segoe UI" panose="020B0502040204020203" pitchFamily="34" charset="0"/>
                          <a:ea typeface="Segoe UI" panose="020B0502040204020203" pitchFamily="34" charset="-122"/>
                          <a:cs typeface="Segoe UI" panose="020B0502040204020203" pitchFamily="34" charset="-120"/>
                        </a:rPr>
                        <a:t>GenAI (Gemini / OpenAI)</a:t>
                      </a:r>
                      <a:endParaRPr lang="en-US" sz="1150" dirty="0">
                        <a:latin typeface="Segoe UI" panose="020B0502040204020203" pitchFamily="34" charset="0"/>
                        <a:ea typeface="Segoe UI" panose="020B0502040204020203" pitchFamily="34" charset="0"/>
                        <a:cs typeface="Segoe UI" panose="020B0502040204020203" pitchFamily="34" charset="0"/>
                      </a:endParaRPr>
                    </a:p>
                  </a:txBody>
                  <a:tcPr anchor="ctr">
                    <a:lnL w="6350" cap="flat" cmpd="sng" algn="ctr">
                      <a:solidFill>
                        <a:srgbClr val="156D4F"/>
                      </a:solidFill>
                      <a:prstDash val="solid"/>
                      <a:round/>
                      <a:headEnd type="none" w="med" len="med"/>
                      <a:tailEnd type="none" w="med" len="med"/>
                    </a:lnL>
                    <a:lnR w="6350" cap="flat" cmpd="sng" algn="ctr">
                      <a:solidFill>
                        <a:srgbClr val="156D4F"/>
                      </a:solidFill>
                      <a:prstDash val="solid"/>
                      <a:round/>
                      <a:headEnd type="none" w="med" len="med"/>
                      <a:tailEnd type="none" w="med" len="med"/>
                    </a:lnR>
                    <a:lnT w="6350" cap="flat" cmpd="sng" algn="ctr">
                      <a:solidFill>
                        <a:srgbClr val="156D4F"/>
                      </a:solidFill>
                      <a:prstDash val="solid"/>
                      <a:round/>
                      <a:headEnd type="none" w="med" len="med"/>
                      <a:tailEnd type="none" w="med" len="med"/>
                    </a:lnT>
                    <a:lnB w="6350" cap="flat" cmpd="sng" algn="ctr">
                      <a:solidFill>
                        <a:srgbClr val="156D4F"/>
                      </a:solidFill>
                      <a:prstDash val="solid"/>
                      <a:round/>
                      <a:headEnd type="none" w="med" len="med"/>
                      <a:tailEnd type="none" w="med" len="med"/>
                    </a:lnB>
                  </a:tcPr>
                </a:tc>
                <a:tc>
                  <a:txBody>
                    <a:bodyPr/>
                    <a:lstStyle/>
                    <a:p>
                      <a:pPr marL="0" indent="0">
                        <a:buNone/>
                      </a:pPr>
                      <a:r>
                        <a:rPr lang="en-US" sz="1150" dirty="0">
                          <a:solidFill>
                            <a:srgbClr val="156D4F"/>
                          </a:solidFill>
                          <a:latin typeface="Segoe UI" panose="020B0502040204020203" pitchFamily="34" charset="0"/>
                          <a:ea typeface="Segoe UI" panose="020B0502040204020203" pitchFamily="34" charset="-122"/>
                          <a:cs typeface="Segoe UI" panose="020B0502040204020203" pitchFamily="34" charset="-120"/>
                        </a:rPr>
                        <a:t>Explains recommendations and scores in clear English.</a:t>
                      </a:r>
                      <a:endParaRPr lang="en-US" sz="1150" dirty="0">
                        <a:latin typeface="Segoe UI" panose="020B0502040204020203" pitchFamily="34" charset="0"/>
                        <a:ea typeface="Segoe UI" panose="020B0502040204020203" pitchFamily="34" charset="0"/>
                        <a:cs typeface="Segoe UI" panose="020B0502040204020203" pitchFamily="34" charset="0"/>
                      </a:endParaRPr>
                    </a:p>
                  </a:txBody>
                  <a:tcPr anchor="ctr">
                    <a:lnL w="6350" cap="flat" cmpd="sng" algn="ctr">
                      <a:solidFill>
                        <a:srgbClr val="156D4F"/>
                      </a:solidFill>
                      <a:prstDash val="solid"/>
                      <a:round/>
                      <a:headEnd type="none" w="med" len="med"/>
                      <a:tailEnd type="none" w="med" len="med"/>
                    </a:lnL>
                    <a:lnR w="6350" cap="flat" cmpd="sng" algn="ctr">
                      <a:solidFill>
                        <a:srgbClr val="156D4F"/>
                      </a:solidFill>
                      <a:prstDash val="solid"/>
                      <a:round/>
                      <a:headEnd type="none" w="med" len="med"/>
                      <a:tailEnd type="none" w="med" len="med"/>
                    </a:lnR>
                    <a:lnT w="6350" cap="flat" cmpd="sng" algn="ctr">
                      <a:solidFill>
                        <a:srgbClr val="156D4F"/>
                      </a:solidFill>
                      <a:prstDash val="solid"/>
                      <a:round/>
                      <a:headEnd type="none" w="med" len="med"/>
                      <a:tailEnd type="none" w="med" len="med"/>
                    </a:lnT>
                    <a:lnB w="6350" cap="flat" cmpd="sng" algn="ctr">
                      <a:solidFill>
                        <a:srgbClr val="156D4F"/>
                      </a:solidFill>
                      <a:prstDash val="solid"/>
                      <a:round/>
                      <a:headEnd type="none" w="med" len="med"/>
                      <a:tailEnd type="none" w="med" len="med"/>
                    </a:lnB>
                  </a:tcPr>
                </a:tc>
                <a:tc>
                  <a:txBody>
                    <a:bodyPr/>
                    <a:lstStyle/>
                    <a:p>
                      <a:pPr marL="0" indent="0">
                        <a:buNone/>
                      </a:pPr>
                      <a:r>
                        <a:rPr lang="en-US" sz="1150" dirty="0">
                          <a:solidFill>
                            <a:srgbClr val="156D4F"/>
                          </a:solidFill>
                          <a:latin typeface="Segoe UI" panose="020B0502040204020203" pitchFamily="34" charset="0"/>
                          <a:ea typeface="Segoe UI" panose="020B0502040204020203" pitchFamily="34" charset="-122"/>
                          <a:cs typeface="Segoe UI" panose="020B0502040204020203" pitchFamily="34" charset="-120"/>
                        </a:rPr>
                        <a:t>Human-readable personalized advice.</a:t>
                      </a:r>
                      <a:endParaRPr lang="en-US" sz="1150" dirty="0">
                        <a:latin typeface="Segoe UI" panose="020B0502040204020203" pitchFamily="34" charset="0"/>
                        <a:ea typeface="Segoe UI" panose="020B0502040204020203" pitchFamily="34" charset="0"/>
                        <a:cs typeface="Segoe UI" panose="020B0502040204020203" pitchFamily="34" charset="0"/>
                      </a:endParaRPr>
                    </a:p>
                  </a:txBody>
                  <a:tcPr anchor="ctr">
                    <a:lnL w="6350" cap="flat" cmpd="sng" algn="ctr">
                      <a:solidFill>
                        <a:srgbClr val="156D4F"/>
                      </a:solidFill>
                      <a:prstDash val="solid"/>
                      <a:round/>
                      <a:headEnd type="none" w="med" len="med"/>
                      <a:tailEnd type="none" w="med" len="med"/>
                    </a:lnL>
                    <a:lnR w="6350" cap="flat" cmpd="sng" algn="ctr">
                      <a:solidFill>
                        <a:srgbClr val="156D4F"/>
                      </a:solidFill>
                      <a:prstDash val="solid"/>
                      <a:round/>
                      <a:headEnd type="none" w="med" len="med"/>
                      <a:tailEnd type="none" w="med" len="med"/>
                    </a:lnR>
                    <a:lnT w="6350" cap="flat" cmpd="sng" algn="ctr">
                      <a:solidFill>
                        <a:srgbClr val="156D4F"/>
                      </a:solidFill>
                      <a:prstDash val="solid"/>
                      <a:round/>
                      <a:headEnd type="none" w="med" len="med"/>
                      <a:tailEnd type="none" w="med" len="med"/>
                    </a:lnT>
                    <a:lnB w="6350" cap="flat" cmpd="sng" algn="ctr">
                      <a:solidFill>
                        <a:srgbClr val="156D4F"/>
                      </a:solidFill>
                      <a:prstDash val="solid"/>
                      <a:round/>
                      <a:headEnd type="none" w="med" len="med"/>
                      <a:tailEnd type="none" w="med" len="med"/>
                    </a:lnB>
                  </a:tcPr>
                </a:tc>
              </a:tr>
              <a:tr h="566928">
                <a:tc>
                  <a:txBody>
                    <a:bodyPr/>
                    <a:lstStyle/>
                    <a:p>
                      <a:pPr marL="0" indent="0">
                        <a:buNone/>
                      </a:pPr>
                      <a:r>
                        <a:rPr lang="en-US" sz="1150" dirty="0">
                          <a:solidFill>
                            <a:srgbClr val="156D4F"/>
                          </a:solidFill>
                          <a:latin typeface="Segoe UI" panose="020B0502040204020203" pitchFamily="34" charset="0"/>
                          <a:ea typeface="Segoe UI" panose="020B0502040204020203" pitchFamily="34" charset="-122"/>
                          <a:cs typeface="Segoe UI" panose="020B0502040204020203" pitchFamily="34" charset="-120"/>
                        </a:rPr>
                        <a:t>7. Verification Layer</a:t>
                      </a:r>
                      <a:endParaRPr lang="en-US" sz="1150" dirty="0">
                        <a:latin typeface="Segoe UI" panose="020B0502040204020203" pitchFamily="34" charset="0"/>
                        <a:ea typeface="Segoe UI" panose="020B0502040204020203" pitchFamily="34" charset="0"/>
                        <a:cs typeface="Segoe UI" panose="020B0502040204020203" pitchFamily="34" charset="0"/>
                      </a:endParaRPr>
                    </a:p>
                  </a:txBody>
                  <a:tcPr anchor="ctr">
                    <a:lnL w="6350" cap="flat" cmpd="sng" algn="ctr">
                      <a:solidFill>
                        <a:srgbClr val="156D4F"/>
                      </a:solidFill>
                      <a:prstDash val="solid"/>
                      <a:round/>
                      <a:headEnd type="none" w="med" len="med"/>
                      <a:tailEnd type="none" w="med" len="med"/>
                    </a:lnL>
                    <a:lnR w="6350" cap="flat" cmpd="sng" algn="ctr">
                      <a:solidFill>
                        <a:srgbClr val="156D4F"/>
                      </a:solidFill>
                      <a:prstDash val="solid"/>
                      <a:round/>
                      <a:headEnd type="none" w="med" len="med"/>
                      <a:tailEnd type="none" w="med" len="med"/>
                    </a:lnR>
                    <a:lnT w="6350" cap="flat" cmpd="sng" algn="ctr">
                      <a:solidFill>
                        <a:srgbClr val="156D4F"/>
                      </a:solidFill>
                      <a:prstDash val="solid"/>
                      <a:round/>
                      <a:headEnd type="none" w="med" len="med"/>
                      <a:tailEnd type="none" w="med" len="med"/>
                    </a:lnT>
                    <a:lnB w="6350" cap="flat" cmpd="sng" algn="ctr">
                      <a:solidFill>
                        <a:srgbClr val="156D4F"/>
                      </a:solidFill>
                      <a:prstDash val="solid"/>
                      <a:round/>
                      <a:headEnd type="none" w="med" len="med"/>
                      <a:tailEnd type="none" w="med" len="med"/>
                    </a:lnB>
                  </a:tcPr>
                </a:tc>
                <a:tc>
                  <a:txBody>
                    <a:bodyPr/>
                    <a:lstStyle/>
                    <a:p>
                      <a:pPr marL="0" indent="0">
                        <a:buNone/>
                      </a:pPr>
                      <a:r>
                        <a:rPr lang="en-US" sz="1150" dirty="0">
                          <a:solidFill>
                            <a:srgbClr val="156D4F"/>
                          </a:solidFill>
                          <a:latin typeface="Segoe UI" panose="020B0502040204020203" pitchFamily="34" charset="0"/>
                          <a:ea typeface="Segoe UI" panose="020B0502040204020203" pitchFamily="34" charset="-122"/>
                          <a:cs typeface="Segoe UI" panose="020B0502040204020203" pitchFamily="34" charset="-120"/>
                        </a:rPr>
                        <a:t>Evidence Audit Engine</a:t>
                      </a:r>
                      <a:endParaRPr lang="en-US" sz="1150" dirty="0">
                        <a:latin typeface="Segoe UI" panose="020B0502040204020203" pitchFamily="34" charset="0"/>
                        <a:ea typeface="Segoe UI" panose="020B0502040204020203" pitchFamily="34" charset="0"/>
                        <a:cs typeface="Segoe UI" panose="020B0502040204020203" pitchFamily="34" charset="0"/>
                      </a:endParaRPr>
                    </a:p>
                  </a:txBody>
                  <a:tcPr anchor="ctr">
                    <a:lnL w="6350" cap="flat" cmpd="sng" algn="ctr">
                      <a:solidFill>
                        <a:srgbClr val="156D4F"/>
                      </a:solidFill>
                      <a:prstDash val="solid"/>
                      <a:round/>
                      <a:headEnd type="none" w="med" len="med"/>
                      <a:tailEnd type="none" w="med" len="med"/>
                    </a:lnL>
                    <a:lnR w="6350" cap="flat" cmpd="sng" algn="ctr">
                      <a:solidFill>
                        <a:srgbClr val="156D4F"/>
                      </a:solidFill>
                      <a:prstDash val="solid"/>
                      <a:round/>
                      <a:headEnd type="none" w="med" len="med"/>
                      <a:tailEnd type="none" w="med" len="med"/>
                    </a:lnR>
                    <a:lnT w="6350" cap="flat" cmpd="sng" algn="ctr">
                      <a:solidFill>
                        <a:srgbClr val="156D4F"/>
                      </a:solidFill>
                      <a:prstDash val="solid"/>
                      <a:round/>
                      <a:headEnd type="none" w="med" len="med"/>
                      <a:tailEnd type="none" w="med" len="med"/>
                    </a:lnT>
                    <a:lnB w="6350" cap="flat" cmpd="sng" algn="ctr">
                      <a:solidFill>
                        <a:srgbClr val="156D4F"/>
                      </a:solidFill>
                      <a:prstDash val="solid"/>
                      <a:round/>
                      <a:headEnd type="none" w="med" len="med"/>
                      <a:tailEnd type="none" w="med" len="med"/>
                    </a:lnB>
                  </a:tcPr>
                </a:tc>
                <a:tc>
                  <a:txBody>
                    <a:bodyPr/>
                    <a:lstStyle/>
                    <a:p>
                      <a:pPr marL="0" indent="0">
                        <a:buNone/>
                      </a:pPr>
                      <a:r>
                        <a:rPr lang="en-US" sz="1150" dirty="0">
                          <a:solidFill>
                            <a:srgbClr val="156D4F"/>
                          </a:solidFill>
                          <a:latin typeface="Segoe UI" panose="020B0502040204020203" pitchFamily="34" charset="0"/>
                          <a:ea typeface="Segoe UI" panose="020B0502040204020203" pitchFamily="34" charset="-122"/>
                          <a:cs typeface="Segoe UI" panose="020B0502040204020203" pitchFamily="34" charset="-120"/>
                        </a:rPr>
                        <a:t>Validates eco-actions using images, geolocations, and QR.</a:t>
                      </a:r>
                      <a:endParaRPr lang="en-US" sz="1150" dirty="0">
                        <a:latin typeface="Segoe UI" panose="020B0502040204020203" pitchFamily="34" charset="0"/>
                        <a:ea typeface="Segoe UI" panose="020B0502040204020203" pitchFamily="34" charset="0"/>
                        <a:cs typeface="Segoe UI" panose="020B0502040204020203" pitchFamily="34" charset="0"/>
                      </a:endParaRPr>
                    </a:p>
                  </a:txBody>
                  <a:tcPr anchor="ctr">
                    <a:lnL w="6350" cap="flat" cmpd="sng" algn="ctr">
                      <a:solidFill>
                        <a:srgbClr val="156D4F"/>
                      </a:solidFill>
                      <a:prstDash val="solid"/>
                      <a:round/>
                      <a:headEnd type="none" w="med" len="med"/>
                      <a:tailEnd type="none" w="med" len="med"/>
                    </a:lnL>
                    <a:lnR w="6350" cap="flat" cmpd="sng" algn="ctr">
                      <a:solidFill>
                        <a:srgbClr val="156D4F"/>
                      </a:solidFill>
                      <a:prstDash val="solid"/>
                      <a:round/>
                      <a:headEnd type="none" w="med" len="med"/>
                      <a:tailEnd type="none" w="med" len="med"/>
                    </a:lnR>
                    <a:lnT w="6350" cap="flat" cmpd="sng" algn="ctr">
                      <a:solidFill>
                        <a:srgbClr val="156D4F"/>
                      </a:solidFill>
                      <a:prstDash val="solid"/>
                      <a:round/>
                      <a:headEnd type="none" w="med" len="med"/>
                      <a:tailEnd type="none" w="med" len="med"/>
                    </a:lnT>
                    <a:lnB w="6350" cap="flat" cmpd="sng" algn="ctr">
                      <a:solidFill>
                        <a:srgbClr val="156D4F"/>
                      </a:solidFill>
                      <a:prstDash val="solid"/>
                      <a:round/>
                      <a:headEnd type="none" w="med" len="med"/>
                      <a:tailEnd type="none" w="med" len="med"/>
                    </a:lnB>
                  </a:tcPr>
                </a:tc>
                <a:tc>
                  <a:txBody>
                    <a:bodyPr/>
                    <a:lstStyle/>
                    <a:p>
                      <a:pPr marL="0" indent="0">
                        <a:buNone/>
                      </a:pPr>
                      <a:r>
                        <a:rPr lang="en-US" sz="1150" dirty="0">
                          <a:solidFill>
                            <a:srgbClr val="156D4F"/>
                          </a:solidFill>
                          <a:latin typeface="Segoe UI" panose="020B0502040204020203" pitchFamily="34" charset="0"/>
                          <a:ea typeface="Segoe UI" panose="020B0502040204020203" pitchFamily="34" charset="-122"/>
                          <a:cs typeface="Segoe UI" panose="020B0502040204020203" pitchFamily="34" charset="-120"/>
                        </a:rPr>
                        <a:t>Verified sustainability badge updates.</a:t>
                      </a:r>
                      <a:endParaRPr lang="en-US" sz="1150" dirty="0">
                        <a:latin typeface="Segoe UI" panose="020B0502040204020203" pitchFamily="34" charset="0"/>
                        <a:ea typeface="Segoe UI" panose="020B0502040204020203" pitchFamily="34" charset="0"/>
                        <a:cs typeface="Segoe UI" panose="020B0502040204020203" pitchFamily="34" charset="0"/>
                      </a:endParaRPr>
                    </a:p>
                  </a:txBody>
                  <a:tcPr anchor="ctr">
                    <a:lnL w="6350" cap="flat" cmpd="sng" algn="ctr">
                      <a:solidFill>
                        <a:srgbClr val="156D4F"/>
                      </a:solidFill>
                      <a:prstDash val="solid"/>
                      <a:round/>
                      <a:headEnd type="none" w="med" len="med"/>
                      <a:tailEnd type="none" w="med" len="med"/>
                    </a:lnL>
                    <a:lnR w="6350" cap="flat" cmpd="sng" algn="ctr">
                      <a:solidFill>
                        <a:srgbClr val="156D4F"/>
                      </a:solidFill>
                      <a:prstDash val="solid"/>
                      <a:round/>
                      <a:headEnd type="none" w="med" len="med"/>
                      <a:tailEnd type="none" w="med" len="med"/>
                    </a:lnR>
                    <a:lnT w="6350" cap="flat" cmpd="sng" algn="ctr">
                      <a:solidFill>
                        <a:srgbClr val="156D4F"/>
                      </a:solidFill>
                      <a:prstDash val="solid"/>
                      <a:round/>
                      <a:headEnd type="none" w="med" len="med"/>
                      <a:tailEnd type="none" w="med" len="med"/>
                    </a:lnT>
                    <a:lnB w="6350" cap="flat" cmpd="sng" algn="ctr">
                      <a:solidFill>
                        <a:srgbClr val="156D4F"/>
                      </a:solidFill>
                      <a:prstDash val="solid"/>
                      <a:round/>
                      <a:headEnd type="none" w="med" len="med"/>
                      <a:tailEnd type="none" w="med" len="med"/>
                    </a:lnB>
                  </a:tcPr>
                </a:tc>
              </a:tr>
            </a:tbl>
          </a:graphicData>
        </a:graphic>
      </p:graphicFrame>
      <p:sp>
        <p:nvSpPr>
          <p:cNvPr id="6" name="Text 3"/>
          <p:cNvSpPr/>
          <p:nvPr/>
        </p:nvSpPr>
        <p:spPr>
          <a:xfrm>
            <a:off x="2532380" y="6273800"/>
            <a:ext cx="6851015" cy="320040"/>
          </a:xfrm>
          <a:prstGeom prst="rect">
            <a:avLst/>
          </a:prstGeom>
          <a:noFill/>
        </p:spPr>
        <p:txBody>
          <a:bodyPr wrap="square" lIns="0" tIns="0" rIns="0" bIns="0" rtlCol="0" anchor="ctr"/>
          <a:lstStyle/>
          <a:p>
            <a:pPr marL="0" indent="0" algn="just">
              <a:buNone/>
            </a:pPr>
            <a:r>
              <a:rPr lang="en-US" sz="1100" i="1" dirty="0">
                <a:solidFill>
                  <a:srgbClr val="364327"/>
                </a:solidFill>
                <a:latin typeface="Segoe UI" panose="020B0502040204020203" pitchFamily="34" charset="0"/>
                <a:ea typeface="Segoe UI" panose="020B0502040204020203" pitchFamily="34" charset="-122"/>
                <a:cs typeface="Segoe UI" panose="020B0502040204020203" pitchFamily="34" charset="-120"/>
              </a:rPr>
              <a:t>The sequential pipeline ensures that user actions are monitored, optimized, explained, and verified systematically.</a:t>
            </a:r>
            <a:endParaRPr lang="en-US" sz="1100" dirty="0"/>
          </a:p>
        </p:txBody>
      </p:sp>
      <p:sp>
        <p:nvSpPr>
          <p:cNvPr id="5" name="Shape 4"/>
          <p:cNvSpPr/>
          <p:nvPr/>
        </p:nvSpPr>
        <p:spPr>
          <a:xfrm>
            <a:off x="530352" y="6364224"/>
            <a:ext cx="237744" cy="237744"/>
          </a:xfrm>
          <a:prstGeom prst="ellipse">
            <a:avLst/>
          </a:prstGeom>
          <a:solidFill>
            <a:srgbClr val="156D4F"/>
          </a:solidFill>
        </p:spPr>
      </p:sp>
      <p:pic>
        <p:nvPicPr>
          <p:cNvPr id="8" name="Image 0" descr="./icons/arrow_left_white.png">
            <a:hlinkClick r:id="rId1" action="ppaction://hlinksldjump"/>
          </p:cNvPr>
          <p:cNvPicPr>
            <a:picLocks noChangeAspect="1"/>
          </p:cNvPicPr>
          <p:nvPr/>
        </p:nvPicPr>
        <p:blipFill>
          <a:blip r:embed="rId2"/>
          <a:stretch>
            <a:fillRect/>
          </a:stretch>
        </p:blipFill>
        <p:spPr>
          <a:xfrm>
            <a:off x="548640" y="6382512"/>
            <a:ext cx="201168" cy="201168"/>
          </a:xfrm>
          <a:prstGeom prst="rect">
            <a:avLst/>
          </a:prstGeom>
        </p:spPr>
      </p:pic>
      <p:sp>
        <p:nvSpPr>
          <p:cNvPr id="9" name="Shape 5">
            <a:hlinkClick r:id="rId1" action="ppaction://hlinksldjump"/>
          </p:cNvPr>
          <p:cNvSpPr/>
          <p:nvPr/>
        </p:nvSpPr>
        <p:spPr>
          <a:xfrm>
            <a:off x="530352" y="6355080"/>
            <a:ext cx="2377440" cy="365760"/>
          </a:xfrm>
          <a:prstGeom prst="rect">
            <a:avLst/>
          </a:prstGeom>
          <a:solidFill>
            <a:srgbClr val="364327">
              <a:alpha val="0"/>
            </a:srgbClr>
          </a:solidFill>
        </p:spPr>
      </p:sp>
      <p:sp>
        <p:nvSpPr>
          <p:cNvPr id="10" name="Text 6">
            <a:hlinkClick r:id="rId1" action="ppaction://hlinksldjump"/>
          </p:cNvPr>
          <p:cNvSpPr/>
          <p:nvPr/>
        </p:nvSpPr>
        <p:spPr>
          <a:xfrm>
            <a:off x="841248" y="6355080"/>
            <a:ext cx="2377440" cy="365760"/>
          </a:xfrm>
          <a:prstGeom prst="rect">
            <a:avLst/>
          </a:prstGeom>
          <a:noFill/>
        </p:spPr>
        <p:txBody>
          <a:bodyPr wrap="square" lIns="0" tIns="0" rIns="0" bIns="0" rtlCol="0" anchor="ctr"/>
          <a:lstStyle/>
          <a:p>
            <a:pPr marL="0" indent="0">
              <a:buNone/>
            </a:pPr>
            <a:r>
              <a:rPr lang="en-US" sz="1100" b="1" u="sng" dirty="0">
                <a:solidFill>
                  <a:srgbClr val="156D4F"/>
                </a:solidFill>
                <a:latin typeface="Segoe UI" panose="020B0502040204020203" pitchFamily="34" charset="0"/>
                <a:ea typeface="Segoe UI" panose="020B0502040204020203" pitchFamily="34" charset="-122"/>
                <a:cs typeface="Segoe UI" panose="020B0502040204020203" pitchFamily="34" charset="-120"/>
                <a:hlinkClick r:id="rId1" action="ppaction://hlinksldjump"/>
              </a:rPr>
              <a:t>BACK TO REVIEW BOARD</a:t>
            </a:r>
            <a:endParaRPr lang="en-US" sz="1100" dirty="0"/>
          </a:p>
        </p:txBody>
      </p:sp>
      <p:sp>
        <p:nvSpPr>
          <p:cNvPr id="11" name="Text 7"/>
          <p:cNvSpPr/>
          <p:nvPr/>
        </p:nvSpPr>
        <p:spPr>
          <a:xfrm>
            <a:off x="8595360" y="6382512"/>
            <a:ext cx="3017520" cy="274320"/>
          </a:xfrm>
          <a:prstGeom prst="rect">
            <a:avLst/>
          </a:prstGeom>
          <a:noFill/>
        </p:spPr>
        <p:txBody>
          <a:bodyPr wrap="square" lIns="0" tIns="0" rIns="0" bIns="0" rtlCol="0" anchor="ctr"/>
          <a:lstStyle/>
          <a:p>
            <a:pPr marL="0" indent="0" algn="r">
              <a:buNone/>
            </a:pPr>
            <a:r>
              <a:rPr lang="en-US" sz="1000" dirty="0">
                <a:solidFill>
                  <a:srgbClr val="364327"/>
                </a:solidFill>
                <a:latin typeface="Segoe UI" panose="020B0502040204020203" pitchFamily="34" charset="0"/>
                <a:ea typeface="Segoe UI" panose="020B0502040204020203" pitchFamily="34" charset="-122"/>
                <a:cs typeface="Segoe UI" panose="020B0502040204020203" pitchFamily="34" charset="-120"/>
              </a:rPr>
              <a:t>EcoSphere · Workflow Pipeline</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C7C396"/>
        </a:solidFill>
        <a:effectLst/>
      </p:bgPr>
    </p:bg>
    <p:spTree>
      <p:nvGrpSpPr>
        <p:cNvPr id="1" name=""/>
        <p:cNvGrpSpPr/>
        <p:nvPr/>
      </p:nvGrpSpPr>
      <p:grpSpPr>
        <a:xfrm>
          <a:off x="0" y="0"/>
          <a:ext cx="0" cy="0"/>
          <a:chOff x="0" y="0"/>
          <a:chExt cx="0" cy="0"/>
        </a:xfrm>
      </p:grpSpPr>
      <p:sp>
        <p:nvSpPr>
          <p:cNvPr id="2" name="Text 0"/>
          <p:cNvSpPr/>
          <p:nvPr/>
        </p:nvSpPr>
        <p:spPr>
          <a:xfrm>
            <a:off x="548640" y="384048"/>
            <a:ext cx="8229600" cy="274320"/>
          </a:xfrm>
          <a:prstGeom prst="rect">
            <a:avLst/>
          </a:prstGeom>
          <a:noFill/>
        </p:spPr>
        <p:txBody>
          <a:bodyPr wrap="square" lIns="0" tIns="0" rIns="0" bIns="0" rtlCol="0" anchor="ctr"/>
          <a:lstStyle/>
          <a:p>
            <a:pPr marL="0" indent="0">
              <a:buNone/>
            </a:pPr>
            <a:r>
              <a:rPr lang="en-US" sz="1200" b="1" kern="0" spc="200" dirty="0">
                <a:solidFill>
                  <a:srgbClr val="156D4F"/>
                </a:solidFill>
                <a:latin typeface="Segoe UI" panose="020B0502040204020203" pitchFamily="34" charset="0"/>
                <a:ea typeface="Segoe UI" panose="020B0502040204020203" pitchFamily="34" charset="-122"/>
                <a:cs typeface="Segoe UI" panose="020B0502040204020203" pitchFamily="34" charset="-120"/>
              </a:rPr>
              <a:t>SECTION 03 · CORE FEATURES</a:t>
            </a:r>
            <a:endParaRPr lang="en-US" sz="1200" dirty="0"/>
          </a:p>
        </p:txBody>
      </p:sp>
      <p:sp>
        <p:nvSpPr>
          <p:cNvPr id="3" name="Text 1"/>
          <p:cNvSpPr/>
          <p:nvPr/>
        </p:nvSpPr>
        <p:spPr>
          <a:xfrm>
            <a:off x="548640" y="640080"/>
            <a:ext cx="9601200" cy="640080"/>
          </a:xfrm>
          <a:prstGeom prst="rect">
            <a:avLst/>
          </a:prstGeom>
          <a:noFill/>
        </p:spPr>
        <p:txBody>
          <a:bodyPr wrap="square" lIns="0" tIns="0" rIns="0" bIns="0" rtlCol="0" anchor="ctr"/>
          <a:lstStyle/>
          <a:p>
            <a:pPr marL="0" indent="0">
              <a:buNone/>
            </a:pPr>
            <a:r>
              <a:rPr lang="en-US" sz="2800" b="1" dirty="0">
                <a:solidFill>
                  <a:srgbClr val="156D4F"/>
                </a:solidFill>
                <a:latin typeface="Georgia" panose="02040502050405020303" pitchFamily="34" charset="0"/>
                <a:ea typeface="Georgia" panose="02040502050405020303" pitchFamily="34" charset="-122"/>
                <a:cs typeface="Georgia" panose="02040502050405020303" pitchFamily="34" charset="-120"/>
              </a:rPr>
              <a:t>Dual-Engine Framework &amp; System Layer Model</a:t>
            </a:r>
            <a:endParaRPr lang="en-US" sz="2800" dirty="0"/>
          </a:p>
        </p:txBody>
      </p:sp>
      <p:sp>
        <p:nvSpPr>
          <p:cNvPr id="4" name="Shape 2"/>
          <p:cNvSpPr/>
          <p:nvPr/>
        </p:nvSpPr>
        <p:spPr>
          <a:xfrm>
            <a:off x="677545" y="1737360"/>
            <a:ext cx="5166360" cy="4297680"/>
          </a:xfrm>
          <a:prstGeom prst="roundRect">
            <a:avLst>
              <a:gd name="adj" fmla="val 2128"/>
            </a:avLst>
          </a:prstGeom>
          <a:solidFill>
            <a:srgbClr val="FFFFFF"/>
          </a:solidFill>
          <a:effectLst>
            <a:outerShdw blurRad="76200" dist="25400" dir="2700000" algn="bl" rotWithShape="0">
              <a:srgbClr val="000000">
                <a:alpha val="8000"/>
              </a:srgbClr>
            </a:outerShdw>
          </a:effectLst>
        </p:spPr>
      </p:sp>
      <p:sp>
        <p:nvSpPr>
          <p:cNvPr id="5" name="Shape 3"/>
          <p:cNvSpPr/>
          <p:nvPr/>
        </p:nvSpPr>
        <p:spPr>
          <a:xfrm>
            <a:off x="777240" y="1938528"/>
            <a:ext cx="502920" cy="502920"/>
          </a:xfrm>
          <a:prstGeom prst="ellipse">
            <a:avLst/>
          </a:prstGeom>
          <a:solidFill>
            <a:srgbClr val="156D4F"/>
          </a:solidFill>
          <a:effectLst>
            <a:outerShdw blurRad="76200" dist="25400" dir="2700000" algn="bl" rotWithShape="0">
              <a:srgbClr val="000000">
                <a:alpha val="8000"/>
              </a:srgbClr>
            </a:outerShdw>
          </a:effectLst>
        </p:spPr>
      </p:sp>
      <p:pic>
        <p:nvPicPr>
          <p:cNvPr id="6" name="Image 0" descr="./icons/robot_white.png"/>
          <p:cNvPicPr>
            <a:picLocks noChangeAspect="1"/>
          </p:cNvPicPr>
          <p:nvPr/>
        </p:nvPicPr>
        <p:blipFill>
          <a:blip r:embed="rId1"/>
          <a:stretch>
            <a:fillRect/>
          </a:stretch>
        </p:blipFill>
        <p:spPr>
          <a:xfrm>
            <a:off x="907999" y="2069287"/>
            <a:ext cx="241402" cy="241402"/>
          </a:xfrm>
          <a:prstGeom prst="rect">
            <a:avLst/>
          </a:prstGeom>
        </p:spPr>
      </p:pic>
      <p:sp>
        <p:nvSpPr>
          <p:cNvPr id="7" name="Text 4"/>
          <p:cNvSpPr/>
          <p:nvPr/>
        </p:nvSpPr>
        <p:spPr>
          <a:xfrm>
            <a:off x="1371600" y="1901952"/>
            <a:ext cx="4206240" cy="548640"/>
          </a:xfrm>
          <a:prstGeom prst="rect">
            <a:avLst/>
          </a:prstGeom>
          <a:noFill/>
        </p:spPr>
        <p:txBody>
          <a:bodyPr wrap="square" lIns="0" tIns="0" rIns="0" bIns="0" rtlCol="0" anchor="ctr"/>
          <a:lstStyle/>
          <a:p>
            <a:pPr marL="0" indent="0">
              <a:buNone/>
            </a:pPr>
            <a:r>
              <a:rPr lang="en-US" sz="1750" b="1" dirty="0">
                <a:solidFill>
                  <a:srgbClr val="156D4F"/>
                </a:solidFill>
                <a:latin typeface="Segoe UI" panose="020B0502040204020203" pitchFamily="34" charset="0"/>
                <a:ea typeface="Segoe UI" panose="020B0502040204020203" pitchFamily="34" charset="-122"/>
                <a:cs typeface="Segoe UI" panose="020B0502040204020203" pitchFamily="34" charset="-120"/>
              </a:rPr>
              <a:t>Dual-Engine Architecture</a:t>
            </a:r>
            <a:endParaRPr lang="en-US" sz="1750" dirty="0"/>
          </a:p>
        </p:txBody>
      </p:sp>
      <p:pic>
        <p:nvPicPr>
          <p:cNvPr id="8" name="Image 1" descr="./icons/check_dark.png"/>
          <p:cNvPicPr>
            <a:picLocks noChangeAspect="1"/>
          </p:cNvPicPr>
          <p:nvPr/>
        </p:nvPicPr>
        <p:blipFill>
          <a:blip r:embed="rId2"/>
          <a:stretch>
            <a:fillRect/>
          </a:stretch>
        </p:blipFill>
        <p:spPr>
          <a:xfrm>
            <a:off x="777240" y="2642616"/>
            <a:ext cx="164592" cy="164592"/>
          </a:xfrm>
          <a:prstGeom prst="rect">
            <a:avLst/>
          </a:prstGeom>
        </p:spPr>
      </p:pic>
      <p:sp>
        <p:nvSpPr>
          <p:cNvPr id="9" name="Text 5"/>
          <p:cNvSpPr/>
          <p:nvPr/>
        </p:nvSpPr>
        <p:spPr>
          <a:xfrm>
            <a:off x="1051560" y="2606040"/>
            <a:ext cx="4526280" cy="475488"/>
          </a:xfrm>
          <a:prstGeom prst="rect">
            <a:avLst/>
          </a:prstGeom>
          <a:noFill/>
        </p:spPr>
        <p:txBody>
          <a:bodyPr wrap="square" lIns="0" tIns="0" rIns="0" bIns="0" rtlCol="0" anchor="ctr"/>
          <a:lstStyle/>
          <a:p>
            <a:pPr marL="0" indent="0" algn="just">
              <a:lnSpc>
                <a:spcPct val="120000"/>
              </a:lnSpc>
              <a:buNone/>
            </a:pPr>
            <a:r>
              <a:rPr lang="en-US" sz="1250" dirty="0">
                <a:solidFill>
                  <a:srgbClr val="364327"/>
                </a:solidFill>
                <a:latin typeface="Segoe UI" panose="020B0502040204020203" pitchFamily="34" charset="0"/>
                <a:ea typeface="Segoe UI" panose="020B0502040204020203" pitchFamily="34" charset="-122"/>
                <a:cs typeface="Segoe UI" panose="020B0502040204020203" pitchFamily="34" charset="-120"/>
              </a:rPr>
              <a:t>Behavior Learning: Tracks habits and measures user responses to past advice.</a:t>
            </a:r>
            <a:endParaRPr lang="en-US" sz="1250" dirty="0"/>
          </a:p>
        </p:txBody>
      </p:sp>
      <p:pic>
        <p:nvPicPr>
          <p:cNvPr id="10" name="Image 2" descr="./icons/check_dark.png"/>
          <p:cNvPicPr>
            <a:picLocks noChangeAspect="1"/>
          </p:cNvPicPr>
          <p:nvPr/>
        </p:nvPicPr>
        <p:blipFill>
          <a:blip r:embed="rId2"/>
          <a:stretch>
            <a:fillRect/>
          </a:stretch>
        </p:blipFill>
        <p:spPr>
          <a:xfrm>
            <a:off x="777240" y="3191256"/>
            <a:ext cx="164592" cy="164592"/>
          </a:xfrm>
          <a:prstGeom prst="rect">
            <a:avLst/>
          </a:prstGeom>
        </p:spPr>
      </p:pic>
      <p:sp>
        <p:nvSpPr>
          <p:cNvPr id="11" name="Text 6"/>
          <p:cNvSpPr/>
          <p:nvPr/>
        </p:nvSpPr>
        <p:spPr>
          <a:xfrm>
            <a:off x="1051560" y="3154680"/>
            <a:ext cx="4526280" cy="475488"/>
          </a:xfrm>
          <a:prstGeom prst="rect">
            <a:avLst/>
          </a:prstGeom>
          <a:noFill/>
        </p:spPr>
        <p:txBody>
          <a:bodyPr wrap="square" lIns="0" tIns="0" rIns="0" bIns="0" rtlCol="0" anchor="ctr"/>
          <a:lstStyle/>
          <a:p>
            <a:pPr marL="0" indent="0" algn="just">
              <a:lnSpc>
                <a:spcPct val="120000"/>
              </a:lnSpc>
              <a:buNone/>
            </a:pPr>
            <a:r>
              <a:rPr lang="en-US" sz="1250" dirty="0">
                <a:solidFill>
                  <a:srgbClr val="364327"/>
                </a:solidFill>
                <a:latin typeface="Segoe UI" panose="020B0502040204020203" pitchFamily="34" charset="0"/>
                <a:ea typeface="Segoe UI" panose="020B0502040204020203" pitchFamily="34" charset="-122"/>
                <a:cs typeface="Segoe UI" panose="020B0502040204020203" pitchFamily="34" charset="-120"/>
              </a:rPr>
              <a:t>Impact Forecasting: XGBoost regression models predict future water, power, and carbon consumption.</a:t>
            </a:r>
            <a:endParaRPr lang="en-US" sz="1250" dirty="0"/>
          </a:p>
        </p:txBody>
      </p:sp>
      <p:pic>
        <p:nvPicPr>
          <p:cNvPr id="12" name="Image 3" descr="./icons/check_dark.png"/>
          <p:cNvPicPr>
            <a:picLocks noChangeAspect="1"/>
          </p:cNvPicPr>
          <p:nvPr/>
        </p:nvPicPr>
        <p:blipFill>
          <a:blip r:embed="rId2"/>
          <a:stretch>
            <a:fillRect/>
          </a:stretch>
        </p:blipFill>
        <p:spPr>
          <a:xfrm>
            <a:off x="777240" y="3739896"/>
            <a:ext cx="164592" cy="164592"/>
          </a:xfrm>
          <a:prstGeom prst="rect">
            <a:avLst/>
          </a:prstGeom>
        </p:spPr>
      </p:pic>
      <p:sp>
        <p:nvSpPr>
          <p:cNvPr id="13" name="Text 7"/>
          <p:cNvSpPr/>
          <p:nvPr/>
        </p:nvSpPr>
        <p:spPr>
          <a:xfrm>
            <a:off x="1051560" y="3703320"/>
            <a:ext cx="4526280" cy="475488"/>
          </a:xfrm>
          <a:prstGeom prst="rect">
            <a:avLst/>
          </a:prstGeom>
          <a:noFill/>
        </p:spPr>
        <p:txBody>
          <a:bodyPr wrap="square" lIns="0" tIns="0" rIns="0" bIns="0" rtlCol="0" anchor="ctr"/>
          <a:lstStyle/>
          <a:p>
            <a:pPr marL="0" indent="0" algn="just">
              <a:lnSpc>
                <a:spcPct val="120000"/>
              </a:lnSpc>
              <a:buNone/>
            </a:pPr>
            <a:r>
              <a:rPr lang="en-US" sz="1250" dirty="0">
                <a:solidFill>
                  <a:srgbClr val="364327"/>
                </a:solidFill>
                <a:latin typeface="Segoe UI" panose="020B0502040204020203" pitchFamily="34" charset="0"/>
                <a:ea typeface="Segoe UI" panose="020B0502040204020203" pitchFamily="34" charset="-122"/>
                <a:cs typeface="Segoe UI" panose="020B0502040204020203" pitchFamily="34" charset="-120"/>
              </a:rPr>
              <a:t>Cross-Domain Solver: Evaluates cost, carbon, energy, and waste using Google OR-Tools.</a:t>
            </a:r>
            <a:endParaRPr lang="en-US" sz="1250" dirty="0"/>
          </a:p>
        </p:txBody>
      </p:sp>
      <p:pic>
        <p:nvPicPr>
          <p:cNvPr id="14" name="Image 4" descr="./icons/check_dark.png"/>
          <p:cNvPicPr>
            <a:picLocks noChangeAspect="1"/>
          </p:cNvPicPr>
          <p:nvPr/>
        </p:nvPicPr>
        <p:blipFill>
          <a:blip r:embed="rId2"/>
          <a:stretch>
            <a:fillRect/>
          </a:stretch>
        </p:blipFill>
        <p:spPr>
          <a:xfrm>
            <a:off x="777240" y="4288536"/>
            <a:ext cx="164592" cy="164592"/>
          </a:xfrm>
          <a:prstGeom prst="rect">
            <a:avLst/>
          </a:prstGeom>
        </p:spPr>
      </p:pic>
      <p:sp>
        <p:nvSpPr>
          <p:cNvPr id="15" name="Text 8"/>
          <p:cNvSpPr/>
          <p:nvPr/>
        </p:nvSpPr>
        <p:spPr>
          <a:xfrm>
            <a:off x="1051560" y="4251960"/>
            <a:ext cx="4526280" cy="475488"/>
          </a:xfrm>
          <a:prstGeom prst="rect">
            <a:avLst/>
          </a:prstGeom>
          <a:noFill/>
        </p:spPr>
        <p:txBody>
          <a:bodyPr wrap="square" lIns="0" tIns="0" rIns="0" bIns="0" rtlCol="0" anchor="ctr"/>
          <a:lstStyle/>
          <a:p>
            <a:pPr marL="0" indent="0" algn="just">
              <a:lnSpc>
                <a:spcPct val="120000"/>
              </a:lnSpc>
              <a:buNone/>
            </a:pPr>
            <a:r>
              <a:rPr lang="en-US" sz="1250" dirty="0">
                <a:solidFill>
                  <a:srgbClr val="364327"/>
                </a:solidFill>
                <a:latin typeface="Segoe UI" panose="020B0502040204020203" pitchFamily="34" charset="0"/>
                <a:ea typeface="Segoe UI" panose="020B0502040204020203" pitchFamily="34" charset="-122"/>
                <a:cs typeface="Segoe UI" panose="020B0502040204020203" pitchFamily="34" charset="-120"/>
              </a:rPr>
              <a:t>Explainable AI: Translates raw scores and simulation numbers into clear descriptions.</a:t>
            </a:r>
            <a:endParaRPr lang="en-US" sz="1250" dirty="0"/>
          </a:p>
        </p:txBody>
      </p:sp>
      <p:pic>
        <p:nvPicPr>
          <p:cNvPr id="16" name="Image 5" descr="./icons/check_dark.png"/>
          <p:cNvPicPr>
            <a:picLocks noChangeAspect="1"/>
          </p:cNvPicPr>
          <p:nvPr/>
        </p:nvPicPr>
        <p:blipFill>
          <a:blip r:embed="rId2"/>
          <a:stretch>
            <a:fillRect/>
          </a:stretch>
        </p:blipFill>
        <p:spPr>
          <a:xfrm>
            <a:off x="777240" y="4837176"/>
            <a:ext cx="164592" cy="164592"/>
          </a:xfrm>
          <a:prstGeom prst="rect">
            <a:avLst/>
          </a:prstGeom>
        </p:spPr>
      </p:pic>
      <p:sp>
        <p:nvSpPr>
          <p:cNvPr id="17" name="Text 9"/>
          <p:cNvSpPr/>
          <p:nvPr/>
        </p:nvSpPr>
        <p:spPr>
          <a:xfrm>
            <a:off x="1051560" y="4800600"/>
            <a:ext cx="4526280" cy="475488"/>
          </a:xfrm>
          <a:prstGeom prst="rect">
            <a:avLst/>
          </a:prstGeom>
          <a:noFill/>
        </p:spPr>
        <p:txBody>
          <a:bodyPr wrap="square" lIns="0" tIns="0" rIns="0" bIns="0" rtlCol="0" anchor="ctr"/>
          <a:lstStyle/>
          <a:p>
            <a:pPr marL="0" indent="0" algn="just">
              <a:lnSpc>
                <a:spcPct val="120000"/>
              </a:lnSpc>
              <a:buNone/>
            </a:pPr>
            <a:r>
              <a:rPr lang="en-US" sz="1250" dirty="0">
                <a:solidFill>
                  <a:srgbClr val="364327"/>
                </a:solidFill>
                <a:latin typeface="Segoe UI" panose="020B0502040204020203" pitchFamily="34" charset="0"/>
                <a:ea typeface="Segoe UI" panose="020B0502040204020203" pitchFamily="34" charset="-122"/>
                <a:cs typeface="Segoe UI" panose="020B0502040204020203" pitchFamily="34" charset="-120"/>
              </a:rPr>
              <a:t>Adaptive Coaching: Tailors intervention style (beginner vs advanced) to user progress.</a:t>
            </a:r>
            <a:endParaRPr lang="en-US" sz="1250" dirty="0"/>
          </a:p>
        </p:txBody>
      </p:sp>
      <p:pic>
        <p:nvPicPr>
          <p:cNvPr id="18" name="Image 6" descr="./icons/check_dark.png"/>
          <p:cNvPicPr>
            <a:picLocks noChangeAspect="1"/>
          </p:cNvPicPr>
          <p:nvPr/>
        </p:nvPicPr>
        <p:blipFill>
          <a:blip r:embed="rId2"/>
          <a:stretch>
            <a:fillRect/>
          </a:stretch>
        </p:blipFill>
        <p:spPr>
          <a:xfrm>
            <a:off x="777240" y="5385816"/>
            <a:ext cx="164592" cy="164592"/>
          </a:xfrm>
          <a:prstGeom prst="rect">
            <a:avLst/>
          </a:prstGeom>
        </p:spPr>
      </p:pic>
      <p:sp>
        <p:nvSpPr>
          <p:cNvPr id="19" name="Text 10"/>
          <p:cNvSpPr/>
          <p:nvPr/>
        </p:nvSpPr>
        <p:spPr>
          <a:xfrm>
            <a:off x="1051560" y="5349240"/>
            <a:ext cx="4526280" cy="475488"/>
          </a:xfrm>
          <a:prstGeom prst="rect">
            <a:avLst/>
          </a:prstGeom>
          <a:noFill/>
        </p:spPr>
        <p:txBody>
          <a:bodyPr wrap="square" lIns="0" tIns="0" rIns="0" bIns="0" rtlCol="0" anchor="ctr"/>
          <a:lstStyle/>
          <a:p>
            <a:pPr marL="0" indent="0" algn="just">
              <a:lnSpc>
                <a:spcPct val="120000"/>
              </a:lnSpc>
              <a:buNone/>
            </a:pPr>
            <a:r>
              <a:rPr lang="en-US" sz="1250" dirty="0">
                <a:solidFill>
                  <a:srgbClr val="364327"/>
                </a:solidFill>
                <a:latin typeface="Segoe UI" panose="020B0502040204020203" pitchFamily="34" charset="0"/>
                <a:ea typeface="Segoe UI" panose="020B0502040204020203" pitchFamily="34" charset="-122"/>
                <a:cs typeface="Segoe UI" panose="020B0502040204020203" pitchFamily="34" charset="-120"/>
              </a:rPr>
              <a:t>Evidence Verification: Audits photos, geolocations, and QR codes to confirm achievements.</a:t>
            </a:r>
            <a:endParaRPr lang="en-US" sz="1250" dirty="0"/>
          </a:p>
        </p:txBody>
      </p:sp>
      <p:sp>
        <p:nvSpPr>
          <p:cNvPr id="20" name="Shape 11"/>
          <p:cNvSpPr/>
          <p:nvPr/>
        </p:nvSpPr>
        <p:spPr>
          <a:xfrm>
            <a:off x="6080760" y="1737360"/>
            <a:ext cx="5532120" cy="4297680"/>
          </a:xfrm>
          <a:prstGeom prst="roundRect">
            <a:avLst>
              <a:gd name="adj" fmla="val 2128"/>
            </a:avLst>
          </a:prstGeom>
          <a:solidFill>
            <a:srgbClr val="FFFFFF"/>
          </a:solidFill>
          <a:effectLst>
            <a:outerShdw blurRad="101600" dist="38100" dir="2700000" algn="bl" rotWithShape="0">
              <a:srgbClr val="000000">
                <a:alpha val="12000"/>
              </a:srgbClr>
            </a:outerShdw>
          </a:effectLst>
        </p:spPr>
      </p:sp>
      <p:sp>
        <p:nvSpPr>
          <p:cNvPr id="21" name="Shape 12"/>
          <p:cNvSpPr/>
          <p:nvPr/>
        </p:nvSpPr>
        <p:spPr>
          <a:xfrm>
            <a:off x="6172200" y="1938528"/>
            <a:ext cx="502920" cy="502920"/>
          </a:xfrm>
          <a:prstGeom prst="ellipse">
            <a:avLst/>
          </a:prstGeom>
          <a:solidFill>
            <a:srgbClr val="156D4F"/>
          </a:solidFill>
          <a:effectLst>
            <a:outerShdw blurRad="76200" dist="25400" dir="2700000" algn="bl" rotWithShape="0">
              <a:srgbClr val="000000">
                <a:alpha val="8000"/>
              </a:srgbClr>
            </a:outerShdw>
          </a:effectLst>
        </p:spPr>
      </p:sp>
      <p:pic>
        <p:nvPicPr>
          <p:cNvPr id="22" name="Image 7" descr="./icons/tags_white.png"/>
          <p:cNvPicPr>
            <a:picLocks noChangeAspect="1"/>
          </p:cNvPicPr>
          <p:nvPr/>
        </p:nvPicPr>
        <p:blipFill>
          <a:blip r:embed="rId3"/>
          <a:stretch>
            <a:fillRect/>
          </a:stretch>
        </p:blipFill>
        <p:spPr>
          <a:xfrm>
            <a:off x="6302959" y="2069287"/>
            <a:ext cx="241402" cy="241402"/>
          </a:xfrm>
          <a:prstGeom prst="rect">
            <a:avLst/>
          </a:prstGeom>
        </p:spPr>
      </p:pic>
      <p:sp>
        <p:nvSpPr>
          <p:cNvPr id="23" name="Text 13"/>
          <p:cNvSpPr/>
          <p:nvPr/>
        </p:nvSpPr>
        <p:spPr>
          <a:xfrm>
            <a:off x="6766560" y="1901952"/>
            <a:ext cx="4480560" cy="365760"/>
          </a:xfrm>
          <a:prstGeom prst="rect">
            <a:avLst/>
          </a:prstGeom>
          <a:noFill/>
        </p:spPr>
        <p:txBody>
          <a:bodyPr wrap="square" lIns="0" tIns="0" rIns="0" bIns="0" rtlCol="0" anchor="ctr"/>
          <a:lstStyle/>
          <a:p>
            <a:pPr marL="0" indent="0">
              <a:buNone/>
            </a:pPr>
            <a:r>
              <a:rPr lang="en-US" sz="1750" b="1" dirty="0">
                <a:solidFill>
                  <a:srgbClr val="156D4F"/>
                </a:solidFill>
                <a:latin typeface="Segoe UI" panose="020B0502040204020203" pitchFamily="34" charset="0"/>
                <a:ea typeface="Segoe UI" panose="020B0502040204020203" pitchFamily="34" charset="-122"/>
                <a:cs typeface="Segoe UI" panose="020B0502040204020203" pitchFamily="34" charset="-120"/>
              </a:rPr>
              <a:t>7-Layer System Model</a:t>
            </a:r>
            <a:endParaRPr lang="en-US" sz="1750" dirty="0"/>
          </a:p>
        </p:txBody>
      </p:sp>
      <p:sp>
        <p:nvSpPr>
          <p:cNvPr id="24" name="Text 14"/>
          <p:cNvSpPr/>
          <p:nvPr/>
        </p:nvSpPr>
        <p:spPr>
          <a:xfrm>
            <a:off x="6766560" y="2267712"/>
            <a:ext cx="4480560" cy="228600"/>
          </a:xfrm>
          <a:prstGeom prst="rect">
            <a:avLst/>
          </a:prstGeom>
          <a:noFill/>
        </p:spPr>
        <p:txBody>
          <a:bodyPr wrap="square" lIns="0" tIns="0" rIns="0" bIns="0" rtlCol="0" anchor="ctr"/>
          <a:lstStyle/>
          <a:p>
            <a:pPr marL="0" indent="0">
              <a:buNone/>
            </a:pPr>
            <a:r>
              <a:rPr lang="en-US" sz="1300" b="1" kern="0" spc="100" dirty="0">
                <a:solidFill>
                  <a:srgbClr val="57926E"/>
                </a:solidFill>
                <a:latin typeface="Segoe UI" panose="020B0502040204020203" pitchFamily="34" charset="0"/>
                <a:ea typeface="Segoe UI" panose="020B0502040204020203" pitchFamily="34" charset="-122"/>
                <a:cs typeface="Segoe UI" panose="020B0502040204020203" pitchFamily="34" charset="-120"/>
              </a:rPr>
              <a:t>DATA TO INTERVENTION PLATFORM MODEL</a:t>
            </a:r>
            <a:endParaRPr lang="en-US" sz="1300" dirty="0"/>
          </a:p>
        </p:txBody>
      </p:sp>
      <p:pic>
        <p:nvPicPr>
          <p:cNvPr id="25" name="Image 8" descr="./icons/check_dark.png"/>
          <p:cNvPicPr>
            <a:picLocks noChangeAspect="1"/>
          </p:cNvPicPr>
          <p:nvPr/>
        </p:nvPicPr>
        <p:blipFill>
          <a:blip r:embed="rId2"/>
          <a:stretch>
            <a:fillRect/>
          </a:stretch>
        </p:blipFill>
        <p:spPr>
          <a:xfrm>
            <a:off x="6172200" y="2770632"/>
            <a:ext cx="164592" cy="164592"/>
          </a:xfrm>
          <a:prstGeom prst="rect">
            <a:avLst/>
          </a:prstGeom>
        </p:spPr>
      </p:pic>
      <p:sp>
        <p:nvSpPr>
          <p:cNvPr id="26" name="Text 15"/>
          <p:cNvSpPr/>
          <p:nvPr/>
        </p:nvSpPr>
        <p:spPr>
          <a:xfrm>
            <a:off x="6446520" y="2743200"/>
            <a:ext cx="4846320" cy="438912"/>
          </a:xfrm>
          <a:prstGeom prst="rect">
            <a:avLst/>
          </a:prstGeom>
          <a:noFill/>
        </p:spPr>
        <p:txBody>
          <a:bodyPr wrap="square" lIns="0" tIns="0" rIns="0" bIns="0" rtlCol="0" anchor="ctr"/>
          <a:lstStyle/>
          <a:p>
            <a:pPr marL="0" indent="0" algn="just">
              <a:lnSpc>
                <a:spcPct val="118000"/>
              </a:lnSpc>
              <a:buNone/>
            </a:pPr>
            <a:r>
              <a:rPr lang="en-US" sz="1200" dirty="0">
                <a:solidFill>
                  <a:srgbClr val="364327"/>
                </a:solidFill>
                <a:latin typeface="Segoe UI" panose="020B0502040204020203" pitchFamily="34" charset="0"/>
                <a:ea typeface="Segoe UI" panose="020B0502040204020203" pitchFamily="34" charset="-122"/>
                <a:cs typeface="Segoe UI" panose="020B0502040204020203" pitchFamily="34" charset="-120"/>
              </a:rPr>
              <a:t>Layer 1: Logging &amp; Data — Coordinates multi-resource user logging and API imports.</a:t>
            </a:r>
            <a:endParaRPr lang="en-US" sz="1200" dirty="0"/>
          </a:p>
        </p:txBody>
      </p:sp>
      <p:pic>
        <p:nvPicPr>
          <p:cNvPr id="27" name="Image 9" descr="./icons/check_dark.png"/>
          <p:cNvPicPr>
            <a:picLocks noChangeAspect="1"/>
          </p:cNvPicPr>
          <p:nvPr/>
        </p:nvPicPr>
        <p:blipFill>
          <a:blip r:embed="rId2"/>
          <a:stretch>
            <a:fillRect/>
          </a:stretch>
        </p:blipFill>
        <p:spPr>
          <a:xfrm>
            <a:off x="6172200" y="3246120"/>
            <a:ext cx="164592" cy="164592"/>
          </a:xfrm>
          <a:prstGeom prst="rect">
            <a:avLst/>
          </a:prstGeom>
        </p:spPr>
      </p:pic>
      <p:sp>
        <p:nvSpPr>
          <p:cNvPr id="28" name="Text 16"/>
          <p:cNvSpPr/>
          <p:nvPr/>
        </p:nvSpPr>
        <p:spPr>
          <a:xfrm>
            <a:off x="6446520" y="3218688"/>
            <a:ext cx="4846320" cy="438912"/>
          </a:xfrm>
          <a:prstGeom prst="rect">
            <a:avLst/>
          </a:prstGeom>
          <a:noFill/>
        </p:spPr>
        <p:txBody>
          <a:bodyPr wrap="square" lIns="0" tIns="0" rIns="0" bIns="0" rtlCol="0" anchor="ctr"/>
          <a:lstStyle/>
          <a:p>
            <a:pPr marL="0" indent="0" algn="just">
              <a:lnSpc>
                <a:spcPct val="118000"/>
              </a:lnSpc>
              <a:buNone/>
            </a:pPr>
            <a:r>
              <a:rPr lang="en-US" sz="1200" dirty="0">
                <a:solidFill>
                  <a:srgbClr val="364327"/>
                </a:solidFill>
                <a:latin typeface="Segoe UI" panose="020B0502040204020203" pitchFamily="34" charset="0"/>
                <a:ea typeface="Segoe UI" panose="020B0502040204020203" pitchFamily="34" charset="-122"/>
                <a:cs typeface="Segoe UI" panose="020B0502040204020203" pitchFamily="34" charset="-120"/>
              </a:rPr>
              <a:t>Layer 2: Behavioral Analytics — Performs pattern mining, anomaly and risk detection.</a:t>
            </a:r>
            <a:endParaRPr lang="en-US" sz="1200" dirty="0"/>
          </a:p>
        </p:txBody>
      </p:sp>
      <p:pic>
        <p:nvPicPr>
          <p:cNvPr id="29" name="Image 10" descr="./icons/check_dark.png"/>
          <p:cNvPicPr>
            <a:picLocks noChangeAspect="1"/>
          </p:cNvPicPr>
          <p:nvPr/>
        </p:nvPicPr>
        <p:blipFill>
          <a:blip r:embed="rId2"/>
          <a:stretch>
            <a:fillRect/>
          </a:stretch>
        </p:blipFill>
        <p:spPr>
          <a:xfrm>
            <a:off x="6172200" y="3721608"/>
            <a:ext cx="164592" cy="164592"/>
          </a:xfrm>
          <a:prstGeom prst="rect">
            <a:avLst/>
          </a:prstGeom>
        </p:spPr>
      </p:pic>
      <p:sp>
        <p:nvSpPr>
          <p:cNvPr id="30" name="Text 17"/>
          <p:cNvSpPr/>
          <p:nvPr/>
        </p:nvSpPr>
        <p:spPr>
          <a:xfrm>
            <a:off x="6446520" y="3694176"/>
            <a:ext cx="4846320" cy="438912"/>
          </a:xfrm>
          <a:prstGeom prst="rect">
            <a:avLst/>
          </a:prstGeom>
          <a:noFill/>
        </p:spPr>
        <p:txBody>
          <a:bodyPr wrap="square" lIns="0" tIns="0" rIns="0" bIns="0" rtlCol="0" anchor="ctr"/>
          <a:lstStyle/>
          <a:p>
            <a:pPr marL="0" indent="0" algn="just">
              <a:lnSpc>
                <a:spcPct val="118000"/>
              </a:lnSpc>
              <a:buNone/>
            </a:pPr>
            <a:r>
              <a:rPr lang="en-US" sz="1200" dirty="0">
                <a:solidFill>
                  <a:srgbClr val="364327"/>
                </a:solidFill>
                <a:latin typeface="Segoe UI" panose="020B0502040204020203" pitchFamily="34" charset="0"/>
                <a:ea typeface="Segoe UI" panose="020B0502040204020203" pitchFamily="34" charset="-122"/>
                <a:cs typeface="Segoe UI" panose="020B0502040204020203" pitchFamily="34" charset="-120"/>
              </a:rPr>
              <a:t>Layer 3: Forecasting Engine — Operates time-series models for future footprint forecasting.</a:t>
            </a:r>
            <a:endParaRPr lang="en-US" sz="1200" dirty="0"/>
          </a:p>
        </p:txBody>
      </p:sp>
      <p:pic>
        <p:nvPicPr>
          <p:cNvPr id="31" name="Image 11" descr="./icons/check_dark.png"/>
          <p:cNvPicPr>
            <a:picLocks noChangeAspect="1"/>
          </p:cNvPicPr>
          <p:nvPr/>
        </p:nvPicPr>
        <p:blipFill>
          <a:blip r:embed="rId2"/>
          <a:stretch>
            <a:fillRect/>
          </a:stretch>
        </p:blipFill>
        <p:spPr>
          <a:xfrm>
            <a:off x="6172200" y="4197096"/>
            <a:ext cx="164592" cy="164592"/>
          </a:xfrm>
          <a:prstGeom prst="rect">
            <a:avLst/>
          </a:prstGeom>
        </p:spPr>
      </p:pic>
      <p:sp>
        <p:nvSpPr>
          <p:cNvPr id="32" name="Text 18"/>
          <p:cNvSpPr/>
          <p:nvPr/>
        </p:nvSpPr>
        <p:spPr>
          <a:xfrm>
            <a:off x="6446520" y="4169664"/>
            <a:ext cx="4846320" cy="438912"/>
          </a:xfrm>
          <a:prstGeom prst="rect">
            <a:avLst/>
          </a:prstGeom>
          <a:noFill/>
        </p:spPr>
        <p:txBody>
          <a:bodyPr wrap="square" lIns="0" tIns="0" rIns="0" bIns="0" rtlCol="0" anchor="ctr"/>
          <a:lstStyle/>
          <a:p>
            <a:pPr marL="0" indent="0" algn="just">
              <a:lnSpc>
                <a:spcPct val="118000"/>
              </a:lnSpc>
              <a:buNone/>
            </a:pPr>
            <a:r>
              <a:rPr lang="en-US" sz="1200" dirty="0">
                <a:solidFill>
                  <a:srgbClr val="364327"/>
                </a:solidFill>
                <a:latin typeface="Segoe UI" panose="020B0502040204020203" pitchFamily="34" charset="0"/>
                <a:ea typeface="Segoe UI" panose="020B0502040204020203" pitchFamily="34" charset="-122"/>
                <a:cs typeface="Segoe UI" panose="020B0502040204020203" pitchFamily="34" charset="-120"/>
              </a:rPr>
              <a:t>Layer 4: Optimization Solver — Executes Google OR-Tools multi-objective optimization.</a:t>
            </a:r>
            <a:endParaRPr lang="en-US" sz="1200" dirty="0"/>
          </a:p>
        </p:txBody>
      </p:sp>
      <p:pic>
        <p:nvPicPr>
          <p:cNvPr id="33" name="Image 12" descr="./icons/check_dark.png"/>
          <p:cNvPicPr>
            <a:picLocks noChangeAspect="1"/>
          </p:cNvPicPr>
          <p:nvPr/>
        </p:nvPicPr>
        <p:blipFill>
          <a:blip r:embed="rId2"/>
          <a:stretch>
            <a:fillRect/>
          </a:stretch>
        </p:blipFill>
        <p:spPr>
          <a:xfrm>
            <a:off x="6172200" y="4672584"/>
            <a:ext cx="164592" cy="164592"/>
          </a:xfrm>
          <a:prstGeom prst="rect">
            <a:avLst/>
          </a:prstGeom>
        </p:spPr>
      </p:pic>
      <p:sp>
        <p:nvSpPr>
          <p:cNvPr id="34" name="Text 19"/>
          <p:cNvSpPr/>
          <p:nvPr/>
        </p:nvSpPr>
        <p:spPr>
          <a:xfrm>
            <a:off x="6446520" y="4645152"/>
            <a:ext cx="4846320" cy="438912"/>
          </a:xfrm>
          <a:prstGeom prst="rect">
            <a:avLst/>
          </a:prstGeom>
          <a:noFill/>
        </p:spPr>
        <p:txBody>
          <a:bodyPr wrap="square" lIns="0" tIns="0" rIns="0" bIns="0" rtlCol="0" anchor="ctr"/>
          <a:lstStyle/>
          <a:p>
            <a:pPr marL="0" indent="0" algn="just">
              <a:lnSpc>
                <a:spcPct val="118000"/>
              </a:lnSpc>
              <a:buNone/>
            </a:pPr>
            <a:r>
              <a:rPr lang="en-US" sz="1200" dirty="0">
                <a:solidFill>
                  <a:srgbClr val="364327"/>
                </a:solidFill>
                <a:latin typeface="Segoe UI" panose="020B0502040204020203" pitchFamily="34" charset="0"/>
                <a:ea typeface="Segoe UI" panose="020B0502040204020203" pitchFamily="34" charset="-122"/>
                <a:cs typeface="Segoe UI" panose="020B0502040204020203" pitchFamily="34" charset="-120"/>
              </a:rPr>
              <a:t>Layer 5: Cognitive Reasoning — Manages Gemini/OpenAI prompts for natural-language advice.</a:t>
            </a:r>
            <a:endParaRPr lang="en-US" sz="1200" dirty="0"/>
          </a:p>
        </p:txBody>
      </p:sp>
      <p:pic>
        <p:nvPicPr>
          <p:cNvPr id="35" name="Image 13" descr="./icons/check_dark.png"/>
          <p:cNvPicPr>
            <a:picLocks noChangeAspect="1"/>
          </p:cNvPicPr>
          <p:nvPr/>
        </p:nvPicPr>
        <p:blipFill>
          <a:blip r:embed="rId2"/>
          <a:stretch>
            <a:fillRect/>
          </a:stretch>
        </p:blipFill>
        <p:spPr>
          <a:xfrm>
            <a:off x="6172200" y="5148072"/>
            <a:ext cx="164592" cy="164592"/>
          </a:xfrm>
          <a:prstGeom prst="rect">
            <a:avLst/>
          </a:prstGeom>
        </p:spPr>
      </p:pic>
      <p:sp>
        <p:nvSpPr>
          <p:cNvPr id="36" name="Text 20"/>
          <p:cNvSpPr/>
          <p:nvPr/>
        </p:nvSpPr>
        <p:spPr>
          <a:xfrm>
            <a:off x="6446520" y="5120640"/>
            <a:ext cx="4846320" cy="438912"/>
          </a:xfrm>
          <a:prstGeom prst="rect">
            <a:avLst/>
          </a:prstGeom>
          <a:noFill/>
        </p:spPr>
        <p:txBody>
          <a:bodyPr wrap="square" lIns="0" tIns="0" rIns="0" bIns="0" rtlCol="0" anchor="ctr"/>
          <a:lstStyle/>
          <a:p>
            <a:pPr marL="0" indent="0" algn="just">
              <a:lnSpc>
                <a:spcPct val="118000"/>
              </a:lnSpc>
              <a:buNone/>
            </a:pPr>
            <a:r>
              <a:rPr lang="en-US" sz="1200" dirty="0">
                <a:solidFill>
                  <a:srgbClr val="364327"/>
                </a:solidFill>
                <a:latin typeface="Segoe UI" panose="020B0502040204020203" pitchFamily="34" charset="0"/>
                <a:ea typeface="Segoe UI" panose="020B0502040204020203" pitchFamily="34" charset="-122"/>
                <a:cs typeface="Segoe UI" panose="020B0502040204020203" pitchFamily="34" charset="-120"/>
              </a:rPr>
              <a:t>Layer 6: Intervention &amp; Coaching — Drives adaptive recommendations and gamified challenges.</a:t>
            </a:r>
            <a:endParaRPr lang="en-US" sz="1200" dirty="0"/>
          </a:p>
        </p:txBody>
      </p:sp>
      <p:pic>
        <p:nvPicPr>
          <p:cNvPr id="37" name="Image 14" descr="./icons/check_dark.png"/>
          <p:cNvPicPr>
            <a:picLocks noChangeAspect="1"/>
          </p:cNvPicPr>
          <p:nvPr/>
        </p:nvPicPr>
        <p:blipFill>
          <a:blip r:embed="rId2"/>
          <a:stretch>
            <a:fillRect/>
          </a:stretch>
        </p:blipFill>
        <p:spPr>
          <a:xfrm>
            <a:off x="6172200" y="5623560"/>
            <a:ext cx="164592" cy="164592"/>
          </a:xfrm>
          <a:prstGeom prst="rect">
            <a:avLst/>
          </a:prstGeom>
        </p:spPr>
      </p:pic>
      <p:sp>
        <p:nvSpPr>
          <p:cNvPr id="38" name="Text 21"/>
          <p:cNvSpPr/>
          <p:nvPr/>
        </p:nvSpPr>
        <p:spPr>
          <a:xfrm>
            <a:off x="6446520" y="5596128"/>
            <a:ext cx="4846320" cy="438912"/>
          </a:xfrm>
          <a:prstGeom prst="rect">
            <a:avLst/>
          </a:prstGeom>
          <a:noFill/>
        </p:spPr>
        <p:txBody>
          <a:bodyPr wrap="square" lIns="0" tIns="0" rIns="0" bIns="0" rtlCol="0" anchor="ctr"/>
          <a:lstStyle/>
          <a:p>
            <a:pPr marL="0" indent="0" algn="just">
              <a:lnSpc>
                <a:spcPct val="118000"/>
              </a:lnSpc>
              <a:buNone/>
            </a:pPr>
            <a:r>
              <a:rPr lang="en-US" sz="1200" dirty="0">
                <a:solidFill>
                  <a:srgbClr val="364327"/>
                </a:solidFill>
                <a:latin typeface="Segoe UI" panose="020B0502040204020203" pitchFamily="34" charset="0"/>
                <a:ea typeface="Segoe UI" panose="020B0502040204020203" pitchFamily="34" charset="-122"/>
                <a:cs typeface="Segoe UI" panose="020B0502040204020203" pitchFamily="34" charset="-120"/>
              </a:rPr>
              <a:t>Layer 7: Verification &amp; Audit — Runs geolocation, QR, and hash chains for eco-action proofs.</a:t>
            </a:r>
            <a:endParaRPr lang="en-US" sz="1200" dirty="0"/>
          </a:p>
        </p:txBody>
      </p:sp>
      <p:sp>
        <p:nvSpPr>
          <p:cNvPr id="39" name="Shape 22"/>
          <p:cNvSpPr/>
          <p:nvPr/>
        </p:nvSpPr>
        <p:spPr>
          <a:xfrm>
            <a:off x="530352" y="6364224"/>
            <a:ext cx="237744" cy="237744"/>
          </a:xfrm>
          <a:prstGeom prst="ellipse">
            <a:avLst/>
          </a:prstGeom>
          <a:solidFill>
            <a:srgbClr val="156D4F"/>
          </a:solidFill>
        </p:spPr>
      </p:sp>
      <p:pic>
        <p:nvPicPr>
          <p:cNvPr id="40" name="Image 15" descr="./icons/arrow_left_white.png">
            <a:hlinkClick r:id="rId4" action="ppaction://hlinksldjump"/>
          </p:cNvPr>
          <p:cNvPicPr>
            <a:picLocks noChangeAspect="1"/>
          </p:cNvPicPr>
          <p:nvPr/>
        </p:nvPicPr>
        <p:blipFill>
          <a:blip r:embed="rId5"/>
          <a:stretch>
            <a:fillRect/>
          </a:stretch>
        </p:blipFill>
        <p:spPr>
          <a:xfrm>
            <a:off x="548640" y="6382512"/>
            <a:ext cx="201168" cy="201168"/>
          </a:xfrm>
          <a:prstGeom prst="rect">
            <a:avLst/>
          </a:prstGeom>
        </p:spPr>
      </p:pic>
      <p:sp>
        <p:nvSpPr>
          <p:cNvPr id="41" name="Shape 23">
            <a:hlinkClick r:id="rId4" action="ppaction://hlinksldjump"/>
          </p:cNvPr>
          <p:cNvSpPr/>
          <p:nvPr/>
        </p:nvSpPr>
        <p:spPr>
          <a:xfrm>
            <a:off x="530352" y="6355080"/>
            <a:ext cx="2377440" cy="365760"/>
          </a:xfrm>
          <a:prstGeom prst="rect">
            <a:avLst/>
          </a:prstGeom>
          <a:solidFill>
            <a:srgbClr val="364327">
              <a:alpha val="0"/>
            </a:srgbClr>
          </a:solidFill>
        </p:spPr>
      </p:sp>
      <p:sp>
        <p:nvSpPr>
          <p:cNvPr id="42" name="Text 24">
            <a:hlinkClick r:id="rId4" action="ppaction://hlinksldjump"/>
          </p:cNvPr>
          <p:cNvSpPr/>
          <p:nvPr/>
        </p:nvSpPr>
        <p:spPr>
          <a:xfrm>
            <a:off x="841248" y="6355080"/>
            <a:ext cx="2377440" cy="365760"/>
          </a:xfrm>
          <a:prstGeom prst="rect">
            <a:avLst/>
          </a:prstGeom>
          <a:noFill/>
        </p:spPr>
        <p:txBody>
          <a:bodyPr wrap="square" lIns="0" tIns="0" rIns="0" bIns="0" rtlCol="0" anchor="ctr"/>
          <a:lstStyle/>
          <a:p>
            <a:pPr marL="0" indent="0">
              <a:buNone/>
            </a:pPr>
            <a:r>
              <a:rPr lang="en-US" sz="1100" b="1" u="sng" dirty="0">
                <a:solidFill>
                  <a:srgbClr val="156D4F"/>
                </a:solidFill>
                <a:latin typeface="Segoe UI" panose="020B0502040204020203" pitchFamily="34" charset="0"/>
                <a:ea typeface="Segoe UI" panose="020B0502040204020203" pitchFamily="34" charset="-122"/>
                <a:cs typeface="Segoe UI" panose="020B0502040204020203" pitchFamily="34" charset="-120"/>
                <a:hlinkClick r:id="rId4" action="ppaction://hlinksldjump"/>
              </a:rPr>
              <a:t>BACK TO REVIEW BOARD</a:t>
            </a:r>
            <a:endParaRPr lang="en-US" sz="1100" dirty="0"/>
          </a:p>
        </p:txBody>
      </p:sp>
      <p:sp>
        <p:nvSpPr>
          <p:cNvPr id="43" name="Text 25"/>
          <p:cNvSpPr/>
          <p:nvPr/>
        </p:nvSpPr>
        <p:spPr>
          <a:xfrm>
            <a:off x="8595360" y="6382512"/>
            <a:ext cx="3017520" cy="274320"/>
          </a:xfrm>
          <a:prstGeom prst="rect">
            <a:avLst/>
          </a:prstGeom>
          <a:noFill/>
        </p:spPr>
        <p:txBody>
          <a:bodyPr wrap="square" lIns="0" tIns="0" rIns="0" bIns="0" rtlCol="0" anchor="ctr"/>
          <a:lstStyle/>
          <a:p>
            <a:pPr marL="0" indent="0" algn="r">
              <a:buNone/>
            </a:pPr>
            <a:r>
              <a:rPr lang="en-US" sz="1000" dirty="0">
                <a:solidFill>
                  <a:srgbClr val="364327"/>
                </a:solidFill>
                <a:latin typeface="Segoe UI" panose="020B0502040204020203" pitchFamily="34" charset="0"/>
                <a:ea typeface="Segoe UI" panose="020B0502040204020203" pitchFamily="34" charset="-122"/>
                <a:cs typeface="Segoe UI" panose="020B0502040204020203" pitchFamily="34" charset="-120"/>
              </a:rPr>
              <a:t>EcoSphere · Architecture</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C7C396"/>
        </a:solidFill>
        <a:effectLst/>
      </p:bgPr>
    </p:bg>
    <p:spTree>
      <p:nvGrpSpPr>
        <p:cNvPr id="1" name=""/>
        <p:cNvGrpSpPr/>
        <p:nvPr/>
      </p:nvGrpSpPr>
      <p:grpSpPr>
        <a:xfrm>
          <a:off x="0" y="0"/>
          <a:ext cx="0" cy="0"/>
          <a:chOff x="0" y="0"/>
          <a:chExt cx="0" cy="0"/>
        </a:xfrm>
      </p:grpSpPr>
      <p:sp>
        <p:nvSpPr>
          <p:cNvPr id="2" name="Text 0"/>
          <p:cNvSpPr/>
          <p:nvPr/>
        </p:nvSpPr>
        <p:spPr>
          <a:xfrm>
            <a:off x="548640" y="384048"/>
            <a:ext cx="8229600" cy="274320"/>
          </a:xfrm>
          <a:prstGeom prst="rect">
            <a:avLst/>
          </a:prstGeom>
          <a:noFill/>
        </p:spPr>
        <p:txBody>
          <a:bodyPr wrap="square" lIns="0" tIns="0" rIns="0" bIns="0" rtlCol="0" anchor="ctr"/>
          <a:lstStyle/>
          <a:p>
            <a:pPr marL="0" indent="0">
              <a:buNone/>
            </a:pPr>
            <a:r>
              <a:rPr lang="en-US" sz="1200" b="1" kern="0" spc="200" dirty="0">
                <a:solidFill>
                  <a:srgbClr val="156D4F"/>
                </a:solidFill>
                <a:latin typeface="Segoe UI" panose="020B0502040204020203" pitchFamily="34" charset="0"/>
                <a:ea typeface="Segoe UI" panose="020B0502040204020203" pitchFamily="34" charset="-122"/>
                <a:cs typeface="Segoe UI" panose="020B0502040204020203" pitchFamily="34" charset="-120"/>
              </a:rPr>
              <a:t>SECTION 04 · ARCHITECTURE &amp; TECH STACK</a:t>
            </a:r>
            <a:endParaRPr lang="en-US" sz="1200" dirty="0"/>
          </a:p>
        </p:txBody>
      </p:sp>
      <p:sp>
        <p:nvSpPr>
          <p:cNvPr id="3" name="Text 1"/>
          <p:cNvSpPr/>
          <p:nvPr/>
        </p:nvSpPr>
        <p:spPr>
          <a:xfrm>
            <a:off x="548640" y="640080"/>
            <a:ext cx="9601200" cy="640080"/>
          </a:xfrm>
          <a:prstGeom prst="rect">
            <a:avLst/>
          </a:prstGeom>
          <a:noFill/>
        </p:spPr>
        <p:txBody>
          <a:bodyPr wrap="square" lIns="0" tIns="0" rIns="0" bIns="0" rtlCol="0" anchor="ctr"/>
          <a:lstStyle/>
          <a:p>
            <a:pPr marL="0" indent="0">
              <a:buNone/>
            </a:pPr>
            <a:r>
              <a:rPr lang="en-US" sz="2800" b="1" dirty="0">
                <a:solidFill>
                  <a:srgbClr val="156D4F"/>
                </a:solidFill>
                <a:latin typeface="Georgia" panose="02040502050405020303" pitchFamily="34" charset="0"/>
                <a:ea typeface="Georgia" panose="02040502050405020303" pitchFamily="34" charset="-122"/>
                <a:cs typeface="Georgia" panose="02040502050405020303" pitchFamily="34" charset="-120"/>
              </a:rPr>
              <a:t>Layered Technical Stack of the EcoSphere Architecture</a:t>
            </a:r>
            <a:endParaRPr lang="en-US" sz="2800" dirty="0"/>
          </a:p>
        </p:txBody>
      </p:sp>
      <p:graphicFrame>
        <p:nvGraphicFramePr>
          <p:cNvPr id="9" name="Table 0"/>
          <p:cNvGraphicFramePr>
            <a:graphicFrameLocks noGrp="1"/>
          </p:cNvGraphicFramePr>
          <p:nvPr/>
        </p:nvGraphicFramePr>
        <p:xfrm>
          <a:off x="548640" y="1417320"/>
          <a:ext cx="6126480" cy="3328416"/>
        </p:xfrm>
        <a:graphic>
          <a:graphicData uri="http://schemas.openxmlformats.org/drawingml/2006/table">
            <a:tbl>
              <a:tblPr/>
              <a:tblGrid>
                <a:gridCol w="2011680"/>
                <a:gridCol w="4114800"/>
              </a:tblGrid>
              <a:tr h="475488">
                <a:tc>
                  <a:txBody>
                    <a:bodyPr/>
                    <a:lstStyle/>
                    <a:p>
                      <a:pPr marL="0" indent="0">
                        <a:buNone/>
                      </a:pPr>
                      <a:r>
                        <a:rPr lang="en-US" sz="1200" b="1" dirty="0">
                          <a:solidFill>
                            <a:srgbClr val="FFFFFF"/>
                          </a:solidFill>
                          <a:latin typeface="Segoe UI" panose="020B0502040204020203" pitchFamily="34" charset="0"/>
                          <a:ea typeface="Segoe UI" panose="020B0502040204020203" pitchFamily="34" charset="-122"/>
                          <a:cs typeface="Segoe UI" panose="020B0502040204020203" pitchFamily="34" charset="-120"/>
                        </a:rPr>
                        <a:t>Architectural Layer</a:t>
                      </a:r>
                      <a:endParaRPr lang="en-US" sz="1200" dirty="0">
                        <a:latin typeface="Segoe UI" panose="020B0502040204020203" pitchFamily="34" charset="0"/>
                        <a:ea typeface="Segoe UI" panose="020B0502040204020203" pitchFamily="34" charset="0"/>
                        <a:cs typeface="Segoe UI" panose="020B0502040204020203" pitchFamily="34" charset="0"/>
                      </a:endParaRPr>
                    </a:p>
                  </a:txBody>
                  <a:tcPr anchor="ctr">
                    <a:lnL w="6350" cap="flat" cmpd="sng" algn="ctr">
                      <a:solidFill>
                        <a:srgbClr val="156D4F"/>
                      </a:solidFill>
                      <a:prstDash val="solid"/>
                      <a:round/>
                      <a:headEnd type="none" w="med" len="med"/>
                      <a:tailEnd type="none" w="med" len="med"/>
                    </a:lnL>
                    <a:lnR w="6350" cap="flat" cmpd="sng" algn="ctr">
                      <a:solidFill>
                        <a:srgbClr val="156D4F"/>
                      </a:solidFill>
                      <a:prstDash val="solid"/>
                      <a:round/>
                      <a:headEnd type="none" w="med" len="med"/>
                      <a:tailEnd type="none" w="med" len="med"/>
                    </a:lnR>
                    <a:lnT w="6350" cap="flat" cmpd="sng" algn="ctr">
                      <a:solidFill>
                        <a:srgbClr val="156D4F"/>
                      </a:solidFill>
                      <a:prstDash val="solid"/>
                      <a:round/>
                      <a:headEnd type="none" w="med" len="med"/>
                      <a:tailEnd type="none" w="med" len="med"/>
                    </a:lnT>
                    <a:lnB w="6350" cap="flat" cmpd="sng" algn="ctr">
                      <a:solidFill>
                        <a:srgbClr val="156D4F"/>
                      </a:solidFill>
                      <a:prstDash val="solid"/>
                      <a:round/>
                      <a:headEnd type="none" w="med" len="med"/>
                      <a:tailEnd type="none" w="med" len="med"/>
                    </a:lnB>
                    <a:solidFill>
                      <a:srgbClr val="156D4F"/>
                    </a:solidFill>
                  </a:tcPr>
                </a:tc>
                <a:tc>
                  <a:txBody>
                    <a:bodyPr/>
                    <a:lstStyle/>
                    <a:p>
                      <a:pPr marL="0" indent="0">
                        <a:buNone/>
                      </a:pPr>
                      <a:r>
                        <a:rPr lang="en-US" sz="1200" b="1" dirty="0">
                          <a:solidFill>
                            <a:srgbClr val="FFFFFF"/>
                          </a:solidFill>
                          <a:latin typeface="Segoe UI" panose="020B0502040204020203" pitchFamily="34" charset="0"/>
                          <a:ea typeface="Segoe UI" panose="020B0502040204020203" pitchFamily="34" charset="-122"/>
                          <a:cs typeface="Segoe UI" panose="020B0502040204020203" pitchFamily="34" charset="-120"/>
                        </a:rPr>
                        <a:t>Technologies and Implementation Rationale</a:t>
                      </a:r>
                      <a:endParaRPr lang="en-US" sz="1200" dirty="0">
                        <a:latin typeface="Segoe UI" panose="020B0502040204020203" pitchFamily="34" charset="0"/>
                        <a:ea typeface="Segoe UI" panose="020B0502040204020203" pitchFamily="34" charset="0"/>
                        <a:cs typeface="Segoe UI" panose="020B0502040204020203" pitchFamily="34" charset="0"/>
                      </a:endParaRPr>
                    </a:p>
                  </a:txBody>
                  <a:tcPr anchor="ctr">
                    <a:lnL w="6350" cap="flat" cmpd="sng" algn="ctr">
                      <a:solidFill>
                        <a:srgbClr val="156D4F"/>
                      </a:solidFill>
                      <a:prstDash val="solid"/>
                      <a:round/>
                      <a:headEnd type="none" w="med" len="med"/>
                      <a:tailEnd type="none" w="med" len="med"/>
                    </a:lnL>
                    <a:lnR w="6350" cap="flat" cmpd="sng" algn="ctr">
                      <a:solidFill>
                        <a:srgbClr val="156D4F"/>
                      </a:solidFill>
                      <a:prstDash val="solid"/>
                      <a:round/>
                      <a:headEnd type="none" w="med" len="med"/>
                      <a:tailEnd type="none" w="med" len="med"/>
                    </a:lnR>
                    <a:lnT w="6350" cap="flat" cmpd="sng" algn="ctr">
                      <a:solidFill>
                        <a:srgbClr val="156D4F"/>
                      </a:solidFill>
                      <a:prstDash val="solid"/>
                      <a:round/>
                      <a:headEnd type="none" w="med" len="med"/>
                      <a:tailEnd type="none" w="med" len="med"/>
                    </a:lnT>
                    <a:lnB w="6350" cap="flat" cmpd="sng" algn="ctr">
                      <a:solidFill>
                        <a:srgbClr val="156D4F"/>
                      </a:solidFill>
                      <a:prstDash val="solid"/>
                      <a:round/>
                      <a:headEnd type="none" w="med" len="med"/>
                      <a:tailEnd type="none" w="med" len="med"/>
                    </a:lnB>
                    <a:solidFill>
                      <a:srgbClr val="156D4F"/>
                    </a:solidFill>
                  </a:tcPr>
                </a:tc>
              </a:tr>
              <a:tr h="475488">
                <a:tc>
                  <a:txBody>
                    <a:bodyPr/>
                    <a:lstStyle/>
                    <a:p>
                      <a:pPr marL="0" indent="0">
                        <a:buNone/>
                      </a:pPr>
                      <a:r>
                        <a:rPr lang="en-US" sz="1200" dirty="0">
                          <a:solidFill>
                            <a:srgbClr val="156D4F"/>
                          </a:solidFill>
                          <a:latin typeface="Segoe UI" panose="020B0502040204020203" pitchFamily="34" charset="0"/>
                          <a:ea typeface="Segoe UI" panose="020B0502040204020203" pitchFamily="34" charset="-122"/>
                          <a:cs typeface="Segoe UI" panose="020B0502040204020203" pitchFamily="34" charset="-120"/>
                        </a:rPr>
                        <a:t>Frontend Framework</a:t>
                      </a:r>
                      <a:endParaRPr lang="en-US" sz="1200" dirty="0">
                        <a:latin typeface="Segoe UI" panose="020B0502040204020203" pitchFamily="34" charset="0"/>
                        <a:ea typeface="Segoe UI" panose="020B0502040204020203" pitchFamily="34" charset="0"/>
                        <a:cs typeface="Segoe UI" panose="020B0502040204020203" pitchFamily="34" charset="0"/>
                      </a:endParaRPr>
                    </a:p>
                  </a:txBody>
                  <a:tcPr anchor="ctr">
                    <a:lnL w="6350" cap="flat" cmpd="sng" algn="ctr">
                      <a:solidFill>
                        <a:srgbClr val="156D4F"/>
                      </a:solidFill>
                      <a:prstDash val="solid"/>
                      <a:round/>
                      <a:headEnd type="none" w="med" len="med"/>
                      <a:tailEnd type="none" w="med" len="med"/>
                    </a:lnL>
                    <a:lnR w="6350" cap="flat" cmpd="sng" algn="ctr">
                      <a:solidFill>
                        <a:srgbClr val="156D4F"/>
                      </a:solidFill>
                      <a:prstDash val="solid"/>
                      <a:round/>
                      <a:headEnd type="none" w="med" len="med"/>
                      <a:tailEnd type="none" w="med" len="med"/>
                    </a:lnR>
                    <a:lnT w="6350" cap="flat" cmpd="sng" algn="ctr">
                      <a:solidFill>
                        <a:srgbClr val="156D4F"/>
                      </a:solidFill>
                      <a:prstDash val="solid"/>
                      <a:round/>
                      <a:headEnd type="none" w="med" len="med"/>
                      <a:tailEnd type="none" w="med" len="med"/>
                    </a:lnT>
                    <a:lnB w="6350" cap="flat" cmpd="sng" algn="ctr">
                      <a:solidFill>
                        <a:srgbClr val="156D4F"/>
                      </a:solidFill>
                      <a:prstDash val="solid"/>
                      <a:round/>
                      <a:headEnd type="none" w="med" len="med"/>
                      <a:tailEnd type="none" w="med" len="med"/>
                    </a:lnB>
                  </a:tcPr>
                </a:tc>
                <a:tc>
                  <a:txBody>
                    <a:bodyPr/>
                    <a:lstStyle/>
                    <a:p>
                      <a:pPr marL="0" indent="0">
                        <a:buNone/>
                      </a:pPr>
                      <a:r>
                        <a:rPr lang="en-US" sz="1200" dirty="0">
                          <a:solidFill>
                            <a:srgbClr val="156D4F"/>
                          </a:solidFill>
                          <a:latin typeface="Segoe UI" panose="020B0502040204020203" pitchFamily="34" charset="0"/>
                          <a:ea typeface="Segoe UI" panose="020B0502040204020203" pitchFamily="34" charset="-122"/>
                          <a:cs typeface="Segoe UI" panose="020B0502040204020203" pitchFamily="34" charset="-120"/>
                        </a:rPr>
                        <a:t>React.js + TypeScript, styling with Tailwind CSS and Material UI dashboards.</a:t>
                      </a:r>
                      <a:endParaRPr lang="en-US" sz="1200" dirty="0">
                        <a:latin typeface="Segoe UI" panose="020B0502040204020203" pitchFamily="34" charset="0"/>
                        <a:ea typeface="Segoe UI" panose="020B0502040204020203" pitchFamily="34" charset="0"/>
                        <a:cs typeface="Segoe UI" panose="020B0502040204020203" pitchFamily="34" charset="0"/>
                      </a:endParaRPr>
                    </a:p>
                  </a:txBody>
                  <a:tcPr anchor="ctr">
                    <a:lnL w="6350" cap="flat" cmpd="sng" algn="ctr">
                      <a:solidFill>
                        <a:srgbClr val="156D4F"/>
                      </a:solidFill>
                      <a:prstDash val="solid"/>
                      <a:round/>
                      <a:headEnd type="none" w="med" len="med"/>
                      <a:tailEnd type="none" w="med" len="med"/>
                    </a:lnL>
                    <a:lnR w="6350" cap="flat" cmpd="sng" algn="ctr">
                      <a:solidFill>
                        <a:srgbClr val="156D4F"/>
                      </a:solidFill>
                      <a:prstDash val="solid"/>
                      <a:round/>
                      <a:headEnd type="none" w="med" len="med"/>
                      <a:tailEnd type="none" w="med" len="med"/>
                    </a:lnR>
                    <a:lnT w="6350" cap="flat" cmpd="sng" algn="ctr">
                      <a:solidFill>
                        <a:srgbClr val="156D4F"/>
                      </a:solidFill>
                      <a:prstDash val="solid"/>
                      <a:round/>
                      <a:headEnd type="none" w="med" len="med"/>
                      <a:tailEnd type="none" w="med" len="med"/>
                    </a:lnT>
                    <a:lnB w="6350" cap="flat" cmpd="sng" algn="ctr">
                      <a:solidFill>
                        <a:srgbClr val="156D4F"/>
                      </a:solidFill>
                      <a:prstDash val="solid"/>
                      <a:round/>
                      <a:headEnd type="none" w="med" len="med"/>
                      <a:tailEnd type="none" w="med" len="med"/>
                    </a:lnB>
                  </a:tcPr>
                </a:tc>
              </a:tr>
              <a:tr h="475488">
                <a:tc>
                  <a:txBody>
                    <a:bodyPr/>
                    <a:lstStyle/>
                    <a:p>
                      <a:pPr marL="0" indent="0">
                        <a:buNone/>
                      </a:pPr>
                      <a:r>
                        <a:rPr lang="en-US" sz="1200" dirty="0">
                          <a:solidFill>
                            <a:srgbClr val="156D4F"/>
                          </a:solidFill>
                          <a:latin typeface="Segoe UI" panose="020B0502040204020203" pitchFamily="34" charset="0"/>
                          <a:ea typeface="Segoe UI" panose="020B0502040204020203" pitchFamily="34" charset="-122"/>
                          <a:cs typeface="Segoe UI" panose="020B0502040204020203" pitchFamily="34" charset="-120"/>
                        </a:rPr>
                        <a:t>Backend Gateway</a:t>
                      </a:r>
                      <a:endParaRPr lang="en-US" sz="1200" dirty="0">
                        <a:latin typeface="Segoe UI" panose="020B0502040204020203" pitchFamily="34" charset="0"/>
                        <a:ea typeface="Segoe UI" panose="020B0502040204020203" pitchFamily="34" charset="0"/>
                        <a:cs typeface="Segoe UI" panose="020B0502040204020203" pitchFamily="34" charset="0"/>
                      </a:endParaRPr>
                    </a:p>
                  </a:txBody>
                  <a:tcPr anchor="ctr">
                    <a:lnL w="6350" cap="flat" cmpd="sng" algn="ctr">
                      <a:solidFill>
                        <a:srgbClr val="156D4F"/>
                      </a:solidFill>
                      <a:prstDash val="solid"/>
                      <a:round/>
                      <a:headEnd type="none" w="med" len="med"/>
                      <a:tailEnd type="none" w="med" len="med"/>
                    </a:lnL>
                    <a:lnR w="6350" cap="flat" cmpd="sng" algn="ctr">
                      <a:solidFill>
                        <a:srgbClr val="156D4F"/>
                      </a:solidFill>
                      <a:prstDash val="solid"/>
                      <a:round/>
                      <a:headEnd type="none" w="med" len="med"/>
                      <a:tailEnd type="none" w="med" len="med"/>
                    </a:lnR>
                    <a:lnT w="6350" cap="flat" cmpd="sng" algn="ctr">
                      <a:solidFill>
                        <a:srgbClr val="156D4F"/>
                      </a:solidFill>
                      <a:prstDash val="solid"/>
                      <a:round/>
                      <a:headEnd type="none" w="med" len="med"/>
                      <a:tailEnd type="none" w="med" len="med"/>
                    </a:lnT>
                    <a:lnB w="6350" cap="flat" cmpd="sng" algn="ctr">
                      <a:solidFill>
                        <a:srgbClr val="156D4F"/>
                      </a:solidFill>
                      <a:prstDash val="solid"/>
                      <a:round/>
                      <a:headEnd type="none" w="med" len="med"/>
                      <a:tailEnd type="none" w="med" len="med"/>
                    </a:lnB>
                  </a:tcPr>
                </a:tc>
                <a:tc>
                  <a:txBody>
                    <a:bodyPr/>
                    <a:lstStyle/>
                    <a:p>
                      <a:pPr marL="0" indent="0">
                        <a:buNone/>
                      </a:pPr>
                      <a:r>
                        <a:rPr lang="en-US" sz="1200" dirty="0">
                          <a:solidFill>
                            <a:srgbClr val="156D4F"/>
                          </a:solidFill>
                          <a:latin typeface="Segoe UI" panose="020B0502040204020203" pitchFamily="34" charset="0"/>
                          <a:ea typeface="Segoe UI" panose="020B0502040204020203" pitchFamily="34" charset="-122"/>
                          <a:cs typeface="Segoe UI" panose="020B0502040204020203" pitchFamily="34" charset="-120"/>
                        </a:rPr>
                        <a:t>Spring Boot 3, Spring Security with JWT tokens, and Hibernate for database ORM.</a:t>
                      </a:r>
                      <a:endParaRPr lang="en-US" sz="1200" dirty="0">
                        <a:latin typeface="Segoe UI" panose="020B0502040204020203" pitchFamily="34" charset="0"/>
                        <a:ea typeface="Segoe UI" panose="020B0502040204020203" pitchFamily="34" charset="0"/>
                        <a:cs typeface="Segoe UI" panose="020B0502040204020203" pitchFamily="34" charset="0"/>
                      </a:endParaRPr>
                    </a:p>
                  </a:txBody>
                  <a:tcPr anchor="ctr">
                    <a:lnL w="6350" cap="flat" cmpd="sng" algn="ctr">
                      <a:solidFill>
                        <a:srgbClr val="156D4F"/>
                      </a:solidFill>
                      <a:prstDash val="solid"/>
                      <a:round/>
                      <a:headEnd type="none" w="med" len="med"/>
                      <a:tailEnd type="none" w="med" len="med"/>
                    </a:lnL>
                    <a:lnR w="6350" cap="flat" cmpd="sng" algn="ctr">
                      <a:solidFill>
                        <a:srgbClr val="156D4F"/>
                      </a:solidFill>
                      <a:prstDash val="solid"/>
                      <a:round/>
                      <a:headEnd type="none" w="med" len="med"/>
                      <a:tailEnd type="none" w="med" len="med"/>
                    </a:lnR>
                    <a:lnT w="6350" cap="flat" cmpd="sng" algn="ctr">
                      <a:solidFill>
                        <a:srgbClr val="156D4F"/>
                      </a:solidFill>
                      <a:prstDash val="solid"/>
                      <a:round/>
                      <a:headEnd type="none" w="med" len="med"/>
                      <a:tailEnd type="none" w="med" len="med"/>
                    </a:lnT>
                    <a:lnB w="6350" cap="flat" cmpd="sng" algn="ctr">
                      <a:solidFill>
                        <a:srgbClr val="156D4F"/>
                      </a:solidFill>
                      <a:prstDash val="solid"/>
                      <a:round/>
                      <a:headEnd type="none" w="med" len="med"/>
                      <a:tailEnd type="none" w="med" len="med"/>
                    </a:lnB>
                  </a:tcPr>
                </a:tc>
              </a:tr>
              <a:tr h="475488">
                <a:tc>
                  <a:txBody>
                    <a:bodyPr/>
                    <a:lstStyle/>
                    <a:p>
                      <a:pPr marL="0" indent="0">
                        <a:buNone/>
                      </a:pPr>
                      <a:r>
                        <a:rPr lang="en-US" sz="1200" dirty="0">
                          <a:solidFill>
                            <a:srgbClr val="156D4F"/>
                          </a:solidFill>
                          <a:latin typeface="Segoe UI" panose="020B0502040204020203" pitchFamily="34" charset="0"/>
                          <a:ea typeface="Segoe UI" panose="020B0502040204020203" pitchFamily="34" charset="-122"/>
                          <a:cs typeface="Segoe UI" panose="020B0502040204020203" pitchFamily="34" charset="-120"/>
                        </a:rPr>
                        <a:t>Data &amp; Caching</a:t>
                      </a:r>
                      <a:endParaRPr lang="en-US" sz="1200" dirty="0">
                        <a:latin typeface="Segoe UI" panose="020B0502040204020203" pitchFamily="34" charset="0"/>
                        <a:ea typeface="Segoe UI" panose="020B0502040204020203" pitchFamily="34" charset="0"/>
                        <a:cs typeface="Segoe UI" panose="020B0502040204020203" pitchFamily="34" charset="0"/>
                      </a:endParaRPr>
                    </a:p>
                  </a:txBody>
                  <a:tcPr anchor="ctr">
                    <a:lnL w="6350" cap="flat" cmpd="sng" algn="ctr">
                      <a:solidFill>
                        <a:srgbClr val="156D4F"/>
                      </a:solidFill>
                      <a:prstDash val="solid"/>
                      <a:round/>
                      <a:headEnd type="none" w="med" len="med"/>
                      <a:tailEnd type="none" w="med" len="med"/>
                    </a:lnL>
                    <a:lnR w="6350" cap="flat" cmpd="sng" algn="ctr">
                      <a:solidFill>
                        <a:srgbClr val="156D4F"/>
                      </a:solidFill>
                      <a:prstDash val="solid"/>
                      <a:round/>
                      <a:headEnd type="none" w="med" len="med"/>
                      <a:tailEnd type="none" w="med" len="med"/>
                    </a:lnR>
                    <a:lnT w="6350" cap="flat" cmpd="sng" algn="ctr">
                      <a:solidFill>
                        <a:srgbClr val="156D4F"/>
                      </a:solidFill>
                      <a:prstDash val="solid"/>
                      <a:round/>
                      <a:headEnd type="none" w="med" len="med"/>
                      <a:tailEnd type="none" w="med" len="med"/>
                    </a:lnT>
                    <a:lnB w="6350" cap="flat" cmpd="sng" algn="ctr">
                      <a:solidFill>
                        <a:srgbClr val="156D4F"/>
                      </a:solidFill>
                      <a:prstDash val="solid"/>
                      <a:round/>
                      <a:headEnd type="none" w="med" len="med"/>
                      <a:tailEnd type="none" w="med" len="med"/>
                    </a:lnB>
                  </a:tcPr>
                </a:tc>
                <a:tc>
                  <a:txBody>
                    <a:bodyPr/>
                    <a:lstStyle/>
                    <a:p>
                      <a:pPr marL="0" indent="0">
                        <a:buNone/>
                      </a:pPr>
                      <a:r>
                        <a:rPr lang="en-US" sz="1200" dirty="0">
                          <a:solidFill>
                            <a:srgbClr val="156D4F"/>
                          </a:solidFill>
                          <a:latin typeface="Segoe UI" panose="020B0502040204020203" pitchFamily="34" charset="0"/>
                          <a:ea typeface="Segoe UI" panose="020B0502040204020203" pitchFamily="34" charset="-122"/>
                          <a:cs typeface="Segoe UI" panose="020B0502040204020203" pitchFamily="34" charset="-120"/>
                        </a:rPr>
                        <a:t>PostgreSQL (with PostGIS for geo-queries), Redis cache, and MinIO/S3 for evidence images.</a:t>
                      </a:r>
                      <a:endParaRPr lang="en-US" sz="1200" dirty="0">
                        <a:latin typeface="Segoe UI" panose="020B0502040204020203" pitchFamily="34" charset="0"/>
                        <a:ea typeface="Segoe UI" panose="020B0502040204020203" pitchFamily="34" charset="0"/>
                        <a:cs typeface="Segoe UI" panose="020B0502040204020203" pitchFamily="34" charset="0"/>
                      </a:endParaRPr>
                    </a:p>
                  </a:txBody>
                  <a:tcPr anchor="ctr">
                    <a:lnL w="6350" cap="flat" cmpd="sng" algn="ctr">
                      <a:solidFill>
                        <a:srgbClr val="156D4F"/>
                      </a:solidFill>
                      <a:prstDash val="solid"/>
                      <a:round/>
                      <a:headEnd type="none" w="med" len="med"/>
                      <a:tailEnd type="none" w="med" len="med"/>
                    </a:lnL>
                    <a:lnR w="6350" cap="flat" cmpd="sng" algn="ctr">
                      <a:solidFill>
                        <a:srgbClr val="156D4F"/>
                      </a:solidFill>
                      <a:prstDash val="solid"/>
                      <a:round/>
                      <a:headEnd type="none" w="med" len="med"/>
                      <a:tailEnd type="none" w="med" len="med"/>
                    </a:lnR>
                    <a:lnT w="6350" cap="flat" cmpd="sng" algn="ctr">
                      <a:solidFill>
                        <a:srgbClr val="156D4F"/>
                      </a:solidFill>
                      <a:prstDash val="solid"/>
                      <a:round/>
                      <a:headEnd type="none" w="med" len="med"/>
                      <a:tailEnd type="none" w="med" len="med"/>
                    </a:lnT>
                    <a:lnB w="6350" cap="flat" cmpd="sng" algn="ctr">
                      <a:solidFill>
                        <a:srgbClr val="156D4F"/>
                      </a:solidFill>
                      <a:prstDash val="solid"/>
                      <a:round/>
                      <a:headEnd type="none" w="med" len="med"/>
                      <a:tailEnd type="none" w="med" len="med"/>
                    </a:lnB>
                  </a:tcPr>
                </a:tc>
              </a:tr>
              <a:tr h="475488">
                <a:tc>
                  <a:txBody>
                    <a:bodyPr/>
                    <a:lstStyle/>
                    <a:p>
                      <a:pPr marL="0" indent="0">
                        <a:buNone/>
                      </a:pPr>
                      <a:r>
                        <a:rPr lang="en-US" sz="1200" dirty="0">
                          <a:solidFill>
                            <a:srgbClr val="156D4F"/>
                          </a:solidFill>
                          <a:latin typeface="Segoe UI" panose="020B0502040204020203" pitchFamily="34" charset="0"/>
                          <a:ea typeface="Segoe UI" panose="020B0502040204020203" pitchFamily="34" charset="-122"/>
                          <a:cs typeface="Segoe UI" panose="020B0502040204020203" pitchFamily="34" charset="-120"/>
                        </a:rPr>
                        <a:t>Machine Learning</a:t>
                      </a:r>
                      <a:endParaRPr lang="en-US" sz="1200" dirty="0">
                        <a:latin typeface="Segoe UI" panose="020B0502040204020203" pitchFamily="34" charset="0"/>
                        <a:ea typeface="Segoe UI" panose="020B0502040204020203" pitchFamily="34" charset="0"/>
                        <a:cs typeface="Segoe UI" panose="020B0502040204020203" pitchFamily="34" charset="0"/>
                      </a:endParaRPr>
                    </a:p>
                  </a:txBody>
                  <a:tcPr anchor="ctr">
                    <a:lnL w="6350" cap="flat" cmpd="sng" algn="ctr">
                      <a:solidFill>
                        <a:srgbClr val="156D4F"/>
                      </a:solidFill>
                      <a:prstDash val="solid"/>
                      <a:round/>
                      <a:headEnd type="none" w="med" len="med"/>
                      <a:tailEnd type="none" w="med" len="med"/>
                    </a:lnL>
                    <a:lnR w="6350" cap="flat" cmpd="sng" algn="ctr">
                      <a:solidFill>
                        <a:srgbClr val="156D4F"/>
                      </a:solidFill>
                      <a:prstDash val="solid"/>
                      <a:round/>
                      <a:headEnd type="none" w="med" len="med"/>
                      <a:tailEnd type="none" w="med" len="med"/>
                    </a:lnR>
                    <a:lnT w="6350" cap="flat" cmpd="sng" algn="ctr">
                      <a:solidFill>
                        <a:srgbClr val="156D4F"/>
                      </a:solidFill>
                      <a:prstDash val="solid"/>
                      <a:round/>
                      <a:headEnd type="none" w="med" len="med"/>
                      <a:tailEnd type="none" w="med" len="med"/>
                    </a:lnT>
                    <a:lnB w="6350" cap="flat" cmpd="sng" algn="ctr">
                      <a:solidFill>
                        <a:srgbClr val="156D4F"/>
                      </a:solidFill>
                      <a:prstDash val="solid"/>
                      <a:round/>
                      <a:headEnd type="none" w="med" len="med"/>
                      <a:tailEnd type="none" w="med" len="med"/>
                    </a:lnB>
                  </a:tcPr>
                </a:tc>
                <a:tc>
                  <a:txBody>
                    <a:bodyPr/>
                    <a:lstStyle/>
                    <a:p>
                      <a:pPr marL="0" indent="0">
                        <a:buNone/>
                      </a:pPr>
                      <a:r>
                        <a:rPr lang="en-US" sz="1200" dirty="0">
                          <a:solidFill>
                            <a:srgbClr val="156D4F"/>
                          </a:solidFill>
                          <a:latin typeface="Segoe UI" panose="020B0502040204020203" pitchFamily="34" charset="0"/>
                          <a:ea typeface="Segoe UI" panose="020B0502040204020203" pitchFamily="34" charset="-122"/>
                          <a:cs typeface="Segoe UI" panose="020B0502040204020203" pitchFamily="34" charset="-120"/>
                        </a:rPr>
                        <a:t>FastAPI (Python 3.11), scikit-learn, XGBoost, pandas, NumPy forecasting.</a:t>
                      </a:r>
                      <a:endParaRPr lang="en-US" sz="1200" dirty="0">
                        <a:latin typeface="Segoe UI" panose="020B0502040204020203" pitchFamily="34" charset="0"/>
                        <a:ea typeface="Segoe UI" panose="020B0502040204020203" pitchFamily="34" charset="0"/>
                        <a:cs typeface="Segoe UI" panose="020B0502040204020203" pitchFamily="34" charset="0"/>
                      </a:endParaRPr>
                    </a:p>
                  </a:txBody>
                  <a:tcPr anchor="ctr">
                    <a:lnL w="6350" cap="flat" cmpd="sng" algn="ctr">
                      <a:solidFill>
                        <a:srgbClr val="156D4F"/>
                      </a:solidFill>
                      <a:prstDash val="solid"/>
                      <a:round/>
                      <a:headEnd type="none" w="med" len="med"/>
                      <a:tailEnd type="none" w="med" len="med"/>
                    </a:lnL>
                    <a:lnR w="6350" cap="flat" cmpd="sng" algn="ctr">
                      <a:solidFill>
                        <a:srgbClr val="156D4F"/>
                      </a:solidFill>
                      <a:prstDash val="solid"/>
                      <a:round/>
                      <a:headEnd type="none" w="med" len="med"/>
                      <a:tailEnd type="none" w="med" len="med"/>
                    </a:lnR>
                    <a:lnT w="6350" cap="flat" cmpd="sng" algn="ctr">
                      <a:solidFill>
                        <a:srgbClr val="156D4F"/>
                      </a:solidFill>
                      <a:prstDash val="solid"/>
                      <a:round/>
                      <a:headEnd type="none" w="med" len="med"/>
                      <a:tailEnd type="none" w="med" len="med"/>
                    </a:lnT>
                    <a:lnB w="6350" cap="flat" cmpd="sng" algn="ctr">
                      <a:solidFill>
                        <a:srgbClr val="156D4F"/>
                      </a:solidFill>
                      <a:prstDash val="solid"/>
                      <a:round/>
                      <a:headEnd type="none" w="med" len="med"/>
                      <a:tailEnd type="none" w="med" len="med"/>
                    </a:lnB>
                  </a:tcPr>
                </a:tc>
              </a:tr>
              <a:tr h="475488">
                <a:tc>
                  <a:txBody>
                    <a:bodyPr/>
                    <a:lstStyle/>
                    <a:p>
                      <a:pPr marL="0" indent="0">
                        <a:buNone/>
                      </a:pPr>
                      <a:r>
                        <a:rPr lang="en-US" sz="1200" dirty="0">
                          <a:solidFill>
                            <a:srgbClr val="156D4F"/>
                          </a:solidFill>
                          <a:latin typeface="Segoe UI" panose="020B0502040204020203" pitchFamily="34" charset="0"/>
                          <a:ea typeface="Segoe UI" panose="020B0502040204020203" pitchFamily="34" charset="-122"/>
                          <a:cs typeface="Segoe UI" panose="020B0502040204020203" pitchFamily="34" charset="-120"/>
                        </a:rPr>
                        <a:t>Optimization Solver</a:t>
                      </a:r>
                      <a:endParaRPr lang="en-US" sz="1200" dirty="0">
                        <a:latin typeface="Segoe UI" panose="020B0502040204020203" pitchFamily="34" charset="0"/>
                        <a:ea typeface="Segoe UI" panose="020B0502040204020203" pitchFamily="34" charset="0"/>
                        <a:cs typeface="Segoe UI" panose="020B0502040204020203" pitchFamily="34" charset="0"/>
                      </a:endParaRPr>
                    </a:p>
                  </a:txBody>
                  <a:tcPr anchor="ctr">
                    <a:lnL w="6350" cap="flat" cmpd="sng" algn="ctr">
                      <a:solidFill>
                        <a:srgbClr val="156D4F"/>
                      </a:solidFill>
                      <a:prstDash val="solid"/>
                      <a:round/>
                      <a:headEnd type="none" w="med" len="med"/>
                      <a:tailEnd type="none" w="med" len="med"/>
                    </a:lnL>
                    <a:lnR w="6350" cap="flat" cmpd="sng" algn="ctr">
                      <a:solidFill>
                        <a:srgbClr val="156D4F"/>
                      </a:solidFill>
                      <a:prstDash val="solid"/>
                      <a:round/>
                      <a:headEnd type="none" w="med" len="med"/>
                      <a:tailEnd type="none" w="med" len="med"/>
                    </a:lnR>
                    <a:lnT w="6350" cap="flat" cmpd="sng" algn="ctr">
                      <a:solidFill>
                        <a:srgbClr val="156D4F"/>
                      </a:solidFill>
                      <a:prstDash val="solid"/>
                      <a:round/>
                      <a:headEnd type="none" w="med" len="med"/>
                      <a:tailEnd type="none" w="med" len="med"/>
                    </a:lnT>
                    <a:lnB w="6350" cap="flat" cmpd="sng" algn="ctr">
                      <a:solidFill>
                        <a:srgbClr val="156D4F"/>
                      </a:solidFill>
                      <a:prstDash val="solid"/>
                      <a:round/>
                      <a:headEnd type="none" w="med" len="med"/>
                      <a:tailEnd type="none" w="med" len="med"/>
                    </a:lnB>
                  </a:tcPr>
                </a:tc>
                <a:tc>
                  <a:txBody>
                    <a:bodyPr/>
                    <a:lstStyle/>
                    <a:p>
                      <a:pPr marL="0" indent="0">
                        <a:buNone/>
                      </a:pPr>
                      <a:r>
                        <a:rPr lang="en-US" sz="1200" dirty="0">
                          <a:solidFill>
                            <a:srgbClr val="156D4F"/>
                          </a:solidFill>
                          <a:latin typeface="Segoe UI" panose="020B0502040204020203" pitchFamily="34" charset="0"/>
                          <a:ea typeface="Segoe UI" panose="020B0502040204020203" pitchFamily="34" charset="-122"/>
                          <a:cs typeface="Segoe UI" panose="020B0502040204020203" pitchFamily="34" charset="-120"/>
                        </a:rPr>
                        <a:t>Google OR-Tools for multi-objective resource (carbon/cost) constraint solving.</a:t>
                      </a:r>
                      <a:endParaRPr lang="en-US" sz="1200" dirty="0">
                        <a:latin typeface="Segoe UI" panose="020B0502040204020203" pitchFamily="34" charset="0"/>
                        <a:ea typeface="Segoe UI" panose="020B0502040204020203" pitchFamily="34" charset="0"/>
                        <a:cs typeface="Segoe UI" panose="020B0502040204020203" pitchFamily="34" charset="0"/>
                      </a:endParaRPr>
                    </a:p>
                  </a:txBody>
                  <a:tcPr anchor="ctr">
                    <a:lnL w="6350" cap="flat" cmpd="sng" algn="ctr">
                      <a:solidFill>
                        <a:srgbClr val="156D4F"/>
                      </a:solidFill>
                      <a:prstDash val="solid"/>
                      <a:round/>
                      <a:headEnd type="none" w="med" len="med"/>
                      <a:tailEnd type="none" w="med" len="med"/>
                    </a:lnL>
                    <a:lnR w="6350" cap="flat" cmpd="sng" algn="ctr">
                      <a:solidFill>
                        <a:srgbClr val="156D4F"/>
                      </a:solidFill>
                      <a:prstDash val="solid"/>
                      <a:round/>
                      <a:headEnd type="none" w="med" len="med"/>
                      <a:tailEnd type="none" w="med" len="med"/>
                    </a:lnR>
                    <a:lnT w="6350" cap="flat" cmpd="sng" algn="ctr">
                      <a:solidFill>
                        <a:srgbClr val="156D4F"/>
                      </a:solidFill>
                      <a:prstDash val="solid"/>
                      <a:round/>
                      <a:headEnd type="none" w="med" len="med"/>
                      <a:tailEnd type="none" w="med" len="med"/>
                    </a:lnT>
                    <a:lnB w="6350" cap="flat" cmpd="sng" algn="ctr">
                      <a:solidFill>
                        <a:srgbClr val="156D4F"/>
                      </a:solidFill>
                      <a:prstDash val="solid"/>
                      <a:round/>
                      <a:headEnd type="none" w="med" len="med"/>
                      <a:tailEnd type="none" w="med" len="med"/>
                    </a:lnB>
                  </a:tcPr>
                </a:tc>
              </a:tr>
              <a:tr h="475488">
                <a:tc>
                  <a:txBody>
                    <a:bodyPr/>
                    <a:lstStyle/>
                    <a:p>
                      <a:pPr marL="0" indent="0">
                        <a:buNone/>
                      </a:pPr>
                      <a:r>
                        <a:rPr lang="en-US" sz="1200" dirty="0">
                          <a:solidFill>
                            <a:srgbClr val="156D4F"/>
                          </a:solidFill>
                          <a:latin typeface="Segoe UI" panose="020B0502040204020203" pitchFamily="34" charset="0"/>
                          <a:ea typeface="Segoe UI" panose="020B0502040204020203" pitchFamily="34" charset="-122"/>
                          <a:cs typeface="Segoe UI" panose="020B0502040204020203" pitchFamily="34" charset="-120"/>
                        </a:rPr>
                        <a:t>External integrations</a:t>
                      </a:r>
                      <a:endParaRPr lang="en-US" sz="1200" dirty="0">
                        <a:latin typeface="Segoe UI" panose="020B0502040204020203" pitchFamily="34" charset="0"/>
                        <a:ea typeface="Segoe UI" panose="020B0502040204020203" pitchFamily="34" charset="0"/>
                        <a:cs typeface="Segoe UI" panose="020B0502040204020203" pitchFamily="34" charset="0"/>
                      </a:endParaRPr>
                    </a:p>
                  </a:txBody>
                  <a:tcPr anchor="ctr">
                    <a:lnL w="6350" cap="flat" cmpd="sng" algn="ctr">
                      <a:solidFill>
                        <a:srgbClr val="156D4F"/>
                      </a:solidFill>
                      <a:prstDash val="solid"/>
                      <a:round/>
                      <a:headEnd type="none" w="med" len="med"/>
                      <a:tailEnd type="none" w="med" len="med"/>
                    </a:lnL>
                    <a:lnR w="6350" cap="flat" cmpd="sng" algn="ctr">
                      <a:solidFill>
                        <a:srgbClr val="156D4F"/>
                      </a:solidFill>
                      <a:prstDash val="solid"/>
                      <a:round/>
                      <a:headEnd type="none" w="med" len="med"/>
                      <a:tailEnd type="none" w="med" len="med"/>
                    </a:lnR>
                    <a:lnT w="6350" cap="flat" cmpd="sng" algn="ctr">
                      <a:solidFill>
                        <a:srgbClr val="156D4F"/>
                      </a:solidFill>
                      <a:prstDash val="solid"/>
                      <a:round/>
                      <a:headEnd type="none" w="med" len="med"/>
                      <a:tailEnd type="none" w="med" len="med"/>
                    </a:lnT>
                    <a:lnB w="6350" cap="flat" cmpd="sng" algn="ctr">
                      <a:solidFill>
                        <a:srgbClr val="156D4F"/>
                      </a:solidFill>
                      <a:prstDash val="solid"/>
                      <a:round/>
                      <a:headEnd type="none" w="med" len="med"/>
                      <a:tailEnd type="none" w="med" len="med"/>
                    </a:lnB>
                  </a:tcPr>
                </a:tc>
                <a:tc>
                  <a:txBody>
                    <a:bodyPr/>
                    <a:lstStyle/>
                    <a:p>
                      <a:pPr marL="0" indent="0">
                        <a:buNone/>
                      </a:pPr>
                      <a:r>
                        <a:rPr lang="en-US" sz="1200" dirty="0">
                          <a:solidFill>
                            <a:srgbClr val="156D4F"/>
                          </a:solidFill>
                          <a:latin typeface="Segoe UI" panose="020B0502040204020203" pitchFamily="34" charset="0"/>
                          <a:ea typeface="Segoe UI" panose="020B0502040204020203" pitchFamily="34" charset="-122"/>
                          <a:cs typeface="Segoe UI" panose="020B0502040204020203" pitchFamily="34" charset="-120"/>
                        </a:rPr>
                        <a:t>Leaflet.js + OpenStreetMap, OpenWeather API, AQICN Air Quality, Nominatim geocoder.</a:t>
                      </a:r>
                      <a:endParaRPr lang="en-US" sz="1200" dirty="0">
                        <a:latin typeface="Segoe UI" panose="020B0502040204020203" pitchFamily="34" charset="0"/>
                        <a:ea typeface="Segoe UI" panose="020B0502040204020203" pitchFamily="34" charset="0"/>
                        <a:cs typeface="Segoe UI" panose="020B0502040204020203" pitchFamily="34" charset="0"/>
                      </a:endParaRPr>
                    </a:p>
                  </a:txBody>
                  <a:tcPr anchor="ctr">
                    <a:lnL w="6350" cap="flat" cmpd="sng" algn="ctr">
                      <a:solidFill>
                        <a:srgbClr val="156D4F"/>
                      </a:solidFill>
                      <a:prstDash val="solid"/>
                      <a:round/>
                      <a:headEnd type="none" w="med" len="med"/>
                      <a:tailEnd type="none" w="med" len="med"/>
                    </a:lnL>
                    <a:lnR w="6350" cap="flat" cmpd="sng" algn="ctr">
                      <a:solidFill>
                        <a:srgbClr val="156D4F"/>
                      </a:solidFill>
                      <a:prstDash val="solid"/>
                      <a:round/>
                      <a:headEnd type="none" w="med" len="med"/>
                      <a:tailEnd type="none" w="med" len="med"/>
                    </a:lnR>
                    <a:lnT w="6350" cap="flat" cmpd="sng" algn="ctr">
                      <a:solidFill>
                        <a:srgbClr val="156D4F"/>
                      </a:solidFill>
                      <a:prstDash val="solid"/>
                      <a:round/>
                      <a:headEnd type="none" w="med" len="med"/>
                      <a:tailEnd type="none" w="med" len="med"/>
                    </a:lnT>
                    <a:lnB w="6350" cap="flat" cmpd="sng" algn="ctr">
                      <a:solidFill>
                        <a:srgbClr val="156D4F"/>
                      </a:solidFill>
                      <a:prstDash val="solid"/>
                      <a:round/>
                      <a:headEnd type="none" w="med" len="med"/>
                      <a:tailEnd type="none" w="med" len="med"/>
                    </a:lnB>
                  </a:tcPr>
                </a:tc>
              </a:tr>
            </a:tbl>
          </a:graphicData>
        </a:graphic>
      </p:graphicFrame>
      <p:sp>
        <p:nvSpPr>
          <p:cNvPr id="5" name="Shape 2"/>
          <p:cNvSpPr/>
          <p:nvPr/>
        </p:nvSpPr>
        <p:spPr>
          <a:xfrm>
            <a:off x="6949440" y="1417320"/>
            <a:ext cx="4709160" cy="4352925"/>
          </a:xfrm>
          <a:prstGeom prst="roundRect">
            <a:avLst>
              <a:gd name="adj" fmla="val 1942"/>
            </a:avLst>
          </a:prstGeom>
          <a:solidFill>
            <a:srgbClr val="FFFFFF"/>
          </a:solidFill>
          <a:effectLst>
            <a:outerShdw blurRad="101600" dist="38100" dir="2700000" algn="bl" rotWithShape="0">
              <a:srgbClr val="000000">
                <a:alpha val="12000"/>
              </a:srgbClr>
            </a:outerShdw>
          </a:effectLst>
        </p:spPr>
      </p:sp>
      <p:sp>
        <p:nvSpPr>
          <p:cNvPr id="6" name="Text 3"/>
          <p:cNvSpPr/>
          <p:nvPr/>
        </p:nvSpPr>
        <p:spPr>
          <a:xfrm>
            <a:off x="7223760" y="1600200"/>
            <a:ext cx="4206240" cy="274320"/>
          </a:xfrm>
          <a:prstGeom prst="rect">
            <a:avLst/>
          </a:prstGeom>
          <a:noFill/>
        </p:spPr>
        <p:txBody>
          <a:bodyPr wrap="square" lIns="0" tIns="0" rIns="0" bIns="0" rtlCol="0" anchor="ctr"/>
          <a:lstStyle/>
          <a:p>
            <a:pPr marL="0" indent="0">
              <a:buNone/>
            </a:pPr>
            <a:r>
              <a:rPr lang="en-US" sz="1500" b="1" kern="0" spc="150" dirty="0">
                <a:solidFill>
                  <a:srgbClr val="156D4F"/>
                </a:solidFill>
                <a:latin typeface="Segoe UI" panose="020B0502040204020203" pitchFamily="34" charset="0"/>
                <a:ea typeface="Segoe UI" panose="020B0502040204020203" pitchFamily="34" charset="-122"/>
                <a:cs typeface="Segoe UI" panose="020B0502040204020203" pitchFamily="34" charset="-120"/>
              </a:rPr>
              <a:t>INTELLIGENT DECISION LOOP</a:t>
            </a:r>
            <a:endParaRPr lang="en-US" sz="1500" dirty="0"/>
          </a:p>
        </p:txBody>
      </p:sp>
      <p:sp>
        <p:nvSpPr>
          <p:cNvPr id="7" name="Shape 4"/>
          <p:cNvSpPr/>
          <p:nvPr/>
        </p:nvSpPr>
        <p:spPr>
          <a:xfrm>
            <a:off x="7223760" y="1965960"/>
            <a:ext cx="4160520" cy="365760"/>
          </a:xfrm>
          <a:prstGeom prst="roundRect">
            <a:avLst>
              <a:gd name="adj" fmla="val 17500"/>
            </a:avLst>
          </a:prstGeom>
          <a:solidFill>
            <a:srgbClr val="FFFFFF"/>
          </a:solidFill>
          <a:ln w="12700">
            <a:solidFill>
              <a:srgbClr val="57926E"/>
            </a:solidFill>
            <a:prstDash val="solid"/>
          </a:ln>
        </p:spPr>
      </p:sp>
      <p:sp>
        <p:nvSpPr>
          <p:cNvPr id="8" name="Text 5"/>
          <p:cNvSpPr/>
          <p:nvPr/>
        </p:nvSpPr>
        <p:spPr>
          <a:xfrm>
            <a:off x="7360920" y="1965960"/>
            <a:ext cx="3886200" cy="365760"/>
          </a:xfrm>
          <a:prstGeom prst="rect">
            <a:avLst/>
          </a:prstGeom>
          <a:noFill/>
        </p:spPr>
        <p:txBody>
          <a:bodyPr wrap="square" lIns="0" tIns="0" rIns="0" bIns="0" rtlCol="0" anchor="ctr"/>
          <a:lstStyle/>
          <a:p>
            <a:pPr marL="0" indent="0">
              <a:buNone/>
            </a:pPr>
            <a:r>
              <a:rPr lang="en-US" sz="1150" b="1" dirty="0">
                <a:solidFill>
                  <a:srgbClr val="156D4F"/>
                </a:solidFill>
                <a:latin typeface="Segoe UI" panose="020B0502040204020203" pitchFamily="34" charset="0"/>
                <a:ea typeface="Segoe UI" panose="020B0502040204020203" pitchFamily="34" charset="-122"/>
                <a:cs typeface="Segoe UI" panose="020B0502040204020203" pitchFamily="34" charset="-120"/>
              </a:rPr>
              <a:t>1. User Logs Activities &amp; System Syncs Environmental APIs</a:t>
            </a:r>
            <a:endParaRPr lang="en-US" sz="1150" dirty="0"/>
          </a:p>
        </p:txBody>
      </p:sp>
      <p:sp>
        <p:nvSpPr>
          <p:cNvPr id="4" name="Shape 6"/>
          <p:cNvSpPr/>
          <p:nvPr/>
        </p:nvSpPr>
        <p:spPr>
          <a:xfrm>
            <a:off x="7223760" y="2404872"/>
            <a:ext cx="4160520" cy="365760"/>
          </a:xfrm>
          <a:prstGeom prst="roundRect">
            <a:avLst>
              <a:gd name="adj" fmla="val 17500"/>
            </a:avLst>
          </a:prstGeom>
          <a:solidFill>
            <a:srgbClr val="FFFFFF"/>
          </a:solidFill>
          <a:ln w="12700">
            <a:solidFill>
              <a:srgbClr val="57926E"/>
            </a:solidFill>
            <a:prstDash val="solid"/>
          </a:ln>
        </p:spPr>
      </p:sp>
      <p:sp>
        <p:nvSpPr>
          <p:cNvPr id="10" name="Text 7"/>
          <p:cNvSpPr/>
          <p:nvPr/>
        </p:nvSpPr>
        <p:spPr>
          <a:xfrm>
            <a:off x="7360920" y="2404872"/>
            <a:ext cx="3886200" cy="365760"/>
          </a:xfrm>
          <a:prstGeom prst="rect">
            <a:avLst/>
          </a:prstGeom>
          <a:noFill/>
        </p:spPr>
        <p:txBody>
          <a:bodyPr wrap="square" lIns="0" tIns="0" rIns="0" bIns="0" rtlCol="0" anchor="ctr"/>
          <a:lstStyle/>
          <a:p>
            <a:pPr marL="0" indent="0">
              <a:buNone/>
            </a:pPr>
            <a:r>
              <a:rPr lang="en-US" sz="1150" b="1" dirty="0">
                <a:solidFill>
                  <a:srgbClr val="156D4F"/>
                </a:solidFill>
                <a:latin typeface="Segoe UI" panose="020B0502040204020203" pitchFamily="34" charset="0"/>
                <a:ea typeface="Segoe UI" panose="020B0502040204020203" pitchFamily="34" charset="-122"/>
                <a:cs typeface="Segoe UI" panose="020B0502040204020203" pitchFamily="34" charset="-120"/>
              </a:rPr>
              <a:t>2. Behavioral Engine Calculates Patterns &amp; Trends</a:t>
            </a:r>
            <a:endParaRPr lang="en-US" sz="1150" dirty="0"/>
          </a:p>
        </p:txBody>
      </p:sp>
      <p:sp>
        <p:nvSpPr>
          <p:cNvPr id="11" name="Shape 8"/>
          <p:cNvSpPr/>
          <p:nvPr/>
        </p:nvSpPr>
        <p:spPr>
          <a:xfrm>
            <a:off x="7223760" y="2843784"/>
            <a:ext cx="4160520" cy="365760"/>
          </a:xfrm>
          <a:prstGeom prst="roundRect">
            <a:avLst>
              <a:gd name="adj" fmla="val 17500"/>
            </a:avLst>
          </a:prstGeom>
          <a:solidFill>
            <a:srgbClr val="FFFFFF"/>
          </a:solidFill>
          <a:ln w="12700">
            <a:solidFill>
              <a:srgbClr val="57926E"/>
            </a:solidFill>
            <a:prstDash val="solid"/>
          </a:ln>
        </p:spPr>
      </p:sp>
      <p:sp>
        <p:nvSpPr>
          <p:cNvPr id="12" name="Text 9"/>
          <p:cNvSpPr/>
          <p:nvPr/>
        </p:nvSpPr>
        <p:spPr>
          <a:xfrm>
            <a:off x="7360920" y="2843784"/>
            <a:ext cx="3886200" cy="365760"/>
          </a:xfrm>
          <a:prstGeom prst="rect">
            <a:avLst/>
          </a:prstGeom>
          <a:noFill/>
        </p:spPr>
        <p:txBody>
          <a:bodyPr wrap="square" lIns="0" tIns="0" rIns="0" bIns="0" rtlCol="0" anchor="ctr"/>
          <a:lstStyle/>
          <a:p>
            <a:pPr marL="0" indent="0">
              <a:buNone/>
            </a:pPr>
            <a:r>
              <a:rPr lang="en-US" sz="1150" b="1" dirty="0">
                <a:solidFill>
                  <a:srgbClr val="156D4F"/>
                </a:solidFill>
                <a:latin typeface="Segoe UI" panose="020B0502040204020203" pitchFamily="34" charset="0"/>
                <a:ea typeface="Segoe UI" panose="020B0502040204020203" pitchFamily="34" charset="-122"/>
                <a:cs typeface="Segoe UI" panose="020B0502040204020203" pitchFamily="34" charset="-120"/>
              </a:rPr>
              <a:t>3. XGBoost Forecasts Carbon &amp; Resource Trajectory</a:t>
            </a:r>
            <a:endParaRPr lang="en-US" sz="1150" dirty="0"/>
          </a:p>
        </p:txBody>
      </p:sp>
      <p:sp>
        <p:nvSpPr>
          <p:cNvPr id="13" name="Shape 10"/>
          <p:cNvSpPr/>
          <p:nvPr/>
        </p:nvSpPr>
        <p:spPr>
          <a:xfrm>
            <a:off x="7223760" y="3282696"/>
            <a:ext cx="4160520" cy="365760"/>
          </a:xfrm>
          <a:prstGeom prst="roundRect">
            <a:avLst>
              <a:gd name="adj" fmla="val 17500"/>
            </a:avLst>
          </a:prstGeom>
          <a:solidFill>
            <a:srgbClr val="FFFFFF"/>
          </a:solidFill>
          <a:ln w="12700">
            <a:solidFill>
              <a:srgbClr val="57926E"/>
            </a:solidFill>
            <a:prstDash val="solid"/>
          </a:ln>
        </p:spPr>
      </p:sp>
      <p:sp>
        <p:nvSpPr>
          <p:cNvPr id="14" name="Text 11"/>
          <p:cNvSpPr/>
          <p:nvPr/>
        </p:nvSpPr>
        <p:spPr>
          <a:xfrm>
            <a:off x="7360920" y="3282696"/>
            <a:ext cx="3886200" cy="365760"/>
          </a:xfrm>
          <a:prstGeom prst="rect">
            <a:avLst/>
          </a:prstGeom>
          <a:noFill/>
        </p:spPr>
        <p:txBody>
          <a:bodyPr wrap="square" lIns="0" tIns="0" rIns="0" bIns="0" rtlCol="0" anchor="ctr"/>
          <a:lstStyle/>
          <a:p>
            <a:pPr marL="0" indent="0">
              <a:buNone/>
            </a:pPr>
            <a:r>
              <a:rPr lang="en-US" sz="1150" b="1" dirty="0">
                <a:solidFill>
                  <a:srgbClr val="156D4F"/>
                </a:solidFill>
                <a:latin typeface="Segoe UI" panose="020B0502040204020203" pitchFamily="34" charset="0"/>
                <a:ea typeface="Segoe UI" panose="020B0502040204020203" pitchFamily="34" charset="-122"/>
                <a:cs typeface="Segoe UI" panose="020B0502040204020203" pitchFamily="34" charset="-120"/>
              </a:rPr>
              <a:t>4. Digital Twin Simulates Scenario Impact vs Cost</a:t>
            </a:r>
            <a:endParaRPr lang="en-US" sz="1150" dirty="0"/>
          </a:p>
        </p:txBody>
      </p:sp>
      <p:sp>
        <p:nvSpPr>
          <p:cNvPr id="15" name="Shape 12"/>
          <p:cNvSpPr/>
          <p:nvPr/>
        </p:nvSpPr>
        <p:spPr>
          <a:xfrm>
            <a:off x="7223760" y="3721608"/>
            <a:ext cx="4160520" cy="365760"/>
          </a:xfrm>
          <a:prstGeom prst="roundRect">
            <a:avLst>
              <a:gd name="adj" fmla="val 17500"/>
            </a:avLst>
          </a:prstGeom>
          <a:solidFill>
            <a:srgbClr val="FFFFFF"/>
          </a:solidFill>
          <a:ln w="12700">
            <a:solidFill>
              <a:srgbClr val="57926E"/>
            </a:solidFill>
            <a:prstDash val="solid"/>
          </a:ln>
        </p:spPr>
      </p:sp>
      <p:sp>
        <p:nvSpPr>
          <p:cNvPr id="16" name="Text 13"/>
          <p:cNvSpPr/>
          <p:nvPr/>
        </p:nvSpPr>
        <p:spPr>
          <a:xfrm>
            <a:off x="7360920" y="3721608"/>
            <a:ext cx="3886200" cy="365760"/>
          </a:xfrm>
          <a:prstGeom prst="rect">
            <a:avLst/>
          </a:prstGeom>
          <a:noFill/>
        </p:spPr>
        <p:txBody>
          <a:bodyPr wrap="square" lIns="0" tIns="0" rIns="0" bIns="0" rtlCol="0" anchor="ctr"/>
          <a:lstStyle/>
          <a:p>
            <a:pPr marL="0" indent="0">
              <a:buNone/>
            </a:pPr>
            <a:r>
              <a:rPr lang="en-US" sz="1150" b="1" dirty="0">
                <a:solidFill>
                  <a:srgbClr val="156D4F"/>
                </a:solidFill>
                <a:latin typeface="Segoe UI" panose="020B0502040204020203" pitchFamily="34" charset="0"/>
                <a:ea typeface="Segoe UI" panose="020B0502040204020203" pitchFamily="34" charset="-122"/>
                <a:cs typeface="Segoe UI" panose="020B0502040204020203" pitchFamily="34" charset="-120"/>
              </a:rPr>
              <a:t>5. Google OR-Tools Optimizes Multi-Objective Choices</a:t>
            </a:r>
            <a:endParaRPr lang="en-US" sz="1150" dirty="0"/>
          </a:p>
        </p:txBody>
      </p:sp>
      <p:sp>
        <p:nvSpPr>
          <p:cNvPr id="17" name="Shape 14"/>
          <p:cNvSpPr/>
          <p:nvPr/>
        </p:nvSpPr>
        <p:spPr>
          <a:xfrm>
            <a:off x="7223760" y="4160520"/>
            <a:ext cx="4160520" cy="365760"/>
          </a:xfrm>
          <a:prstGeom prst="roundRect">
            <a:avLst>
              <a:gd name="adj" fmla="val 17500"/>
            </a:avLst>
          </a:prstGeom>
          <a:solidFill>
            <a:srgbClr val="C7C396"/>
          </a:solidFill>
          <a:ln w="12700">
            <a:solidFill>
              <a:srgbClr val="57926E"/>
            </a:solidFill>
            <a:prstDash val="solid"/>
          </a:ln>
        </p:spPr>
      </p:sp>
      <p:sp>
        <p:nvSpPr>
          <p:cNvPr id="18" name="Text 15"/>
          <p:cNvSpPr/>
          <p:nvPr/>
        </p:nvSpPr>
        <p:spPr>
          <a:xfrm>
            <a:off x="7360920" y="4160520"/>
            <a:ext cx="3886200" cy="365760"/>
          </a:xfrm>
          <a:prstGeom prst="rect">
            <a:avLst/>
          </a:prstGeom>
          <a:noFill/>
        </p:spPr>
        <p:txBody>
          <a:bodyPr wrap="square" lIns="0" tIns="0" rIns="0" bIns="0" rtlCol="0" anchor="ctr"/>
          <a:lstStyle/>
          <a:p>
            <a:pPr marL="0" indent="0">
              <a:buNone/>
            </a:pPr>
            <a:r>
              <a:rPr lang="en-US" sz="1150" b="1" dirty="0">
                <a:solidFill>
                  <a:srgbClr val="156D4F"/>
                </a:solidFill>
                <a:latin typeface="Segoe UI" panose="020B0502040204020203" pitchFamily="34" charset="0"/>
                <a:ea typeface="Segoe UI" panose="020B0502040204020203" pitchFamily="34" charset="-122"/>
                <a:cs typeface="Segoe UI" panose="020B0502040204020203" pitchFamily="34" charset="-120"/>
              </a:rPr>
              <a:t>6. GenAI Assistant Explains Choices and Issues Coaching</a:t>
            </a:r>
            <a:endParaRPr lang="en-US" sz="1150" dirty="0"/>
          </a:p>
        </p:txBody>
      </p:sp>
      <p:pic>
        <p:nvPicPr>
          <p:cNvPr id="19" name="Image 0" descr="./icons/check_dark.png"/>
          <p:cNvPicPr>
            <a:picLocks noChangeAspect="1"/>
          </p:cNvPicPr>
          <p:nvPr/>
        </p:nvPicPr>
        <p:blipFill>
          <a:blip r:embed="rId1"/>
          <a:stretch>
            <a:fillRect/>
          </a:stretch>
        </p:blipFill>
        <p:spPr>
          <a:xfrm>
            <a:off x="7223760" y="4700016"/>
            <a:ext cx="146304" cy="146304"/>
          </a:xfrm>
          <a:prstGeom prst="rect">
            <a:avLst/>
          </a:prstGeom>
        </p:spPr>
      </p:pic>
      <p:sp>
        <p:nvSpPr>
          <p:cNvPr id="20" name="Text 16"/>
          <p:cNvSpPr/>
          <p:nvPr/>
        </p:nvSpPr>
        <p:spPr>
          <a:xfrm>
            <a:off x="7452360" y="4672584"/>
            <a:ext cx="3931920" cy="228600"/>
          </a:xfrm>
          <a:prstGeom prst="rect">
            <a:avLst/>
          </a:prstGeom>
          <a:noFill/>
        </p:spPr>
        <p:txBody>
          <a:bodyPr wrap="square" lIns="0" tIns="0" rIns="0" bIns="0" rtlCol="0" anchor="ctr"/>
          <a:lstStyle/>
          <a:p>
            <a:pPr marL="0" indent="0">
              <a:buNone/>
            </a:pPr>
            <a:r>
              <a:rPr lang="en-US" sz="1200" dirty="0">
                <a:solidFill>
                  <a:srgbClr val="364327"/>
                </a:solidFill>
                <a:latin typeface="Segoe UI" panose="020B0502040204020203" pitchFamily="34" charset="0"/>
                <a:ea typeface="Segoe UI" panose="020B0502040204020203" pitchFamily="34" charset="-122"/>
                <a:cs typeface="Segoe UI" panose="020B0502040204020203" pitchFamily="34" charset="-120"/>
              </a:rPr>
              <a:t>PostGIS Coordinates Tree Planting Spots</a:t>
            </a:r>
            <a:endParaRPr lang="en-US" sz="1200" dirty="0"/>
          </a:p>
        </p:txBody>
      </p:sp>
      <p:pic>
        <p:nvPicPr>
          <p:cNvPr id="21" name="Image 1" descr="./icons/check_dark.png"/>
          <p:cNvPicPr>
            <a:picLocks noChangeAspect="1"/>
          </p:cNvPicPr>
          <p:nvPr/>
        </p:nvPicPr>
        <p:blipFill>
          <a:blip r:embed="rId1"/>
          <a:stretch>
            <a:fillRect/>
          </a:stretch>
        </p:blipFill>
        <p:spPr>
          <a:xfrm>
            <a:off x="7223760" y="4974336"/>
            <a:ext cx="146304" cy="146304"/>
          </a:xfrm>
          <a:prstGeom prst="rect">
            <a:avLst/>
          </a:prstGeom>
        </p:spPr>
      </p:pic>
      <p:sp>
        <p:nvSpPr>
          <p:cNvPr id="22" name="Text 17"/>
          <p:cNvSpPr/>
          <p:nvPr/>
        </p:nvSpPr>
        <p:spPr>
          <a:xfrm>
            <a:off x="7452360" y="4946904"/>
            <a:ext cx="3931920" cy="228600"/>
          </a:xfrm>
          <a:prstGeom prst="rect">
            <a:avLst/>
          </a:prstGeom>
          <a:noFill/>
        </p:spPr>
        <p:txBody>
          <a:bodyPr wrap="square" lIns="0" tIns="0" rIns="0" bIns="0" rtlCol="0" anchor="ctr"/>
          <a:lstStyle/>
          <a:p>
            <a:pPr marL="0" indent="0">
              <a:buNone/>
            </a:pPr>
            <a:r>
              <a:rPr lang="en-US" sz="1200" dirty="0">
                <a:solidFill>
                  <a:srgbClr val="364327"/>
                </a:solidFill>
                <a:latin typeface="Segoe UI" panose="020B0502040204020203" pitchFamily="34" charset="0"/>
                <a:ea typeface="Segoe UI" panose="020B0502040204020203" pitchFamily="34" charset="-122"/>
                <a:cs typeface="Segoe UI" panose="020B0502040204020203" pitchFamily="34" charset="-120"/>
              </a:rPr>
              <a:t>XGBoost Foresees Future Emissions</a:t>
            </a:r>
            <a:endParaRPr lang="en-US" sz="1200" dirty="0"/>
          </a:p>
        </p:txBody>
      </p:sp>
      <p:pic>
        <p:nvPicPr>
          <p:cNvPr id="23" name="Image 2" descr="./icons/check_dark.png"/>
          <p:cNvPicPr>
            <a:picLocks noChangeAspect="1"/>
          </p:cNvPicPr>
          <p:nvPr/>
        </p:nvPicPr>
        <p:blipFill>
          <a:blip r:embed="rId1"/>
          <a:stretch>
            <a:fillRect/>
          </a:stretch>
        </p:blipFill>
        <p:spPr>
          <a:xfrm>
            <a:off x="7223760" y="5248656"/>
            <a:ext cx="146304" cy="146304"/>
          </a:xfrm>
          <a:prstGeom prst="rect">
            <a:avLst/>
          </a:prstGeom>
        </p:spPr>
      </p:pic>
      <p:sp>
        <p:nvSpPr>
          <p:cNvPr id="24" name="Text 18"/>
          <p:cNvSpPr/>
          <p:nvPr/>
        </p:nvSpPr>
        <p:spPr>
          <a:xfrm>
            <a:off x="7452360" y="5221224"/>
            <a:ext cx="3931920" cy="228600"/>
          </a:xfrm>
          <a:prstGeom prst="rect">
            <a:avLst/>
          </a:prstGeom>
          <a:noFill/>
        </p:spPr>
        <p:txBody>
          <a:bodyPr wrap="square" lIns="0" tIns="0" rIns="0" bIns="0" rtlCol="0" anchor="ctr"/>
          <a:lstStyle/>
          <a:p>
            <a:pPr marL="0" indent="0">
              <a:buNone/>
            </a:pPr>
            <a:r>
              <a:rPr lang="en-US" sz="1200" dirty="0">
                <a:solidFill>
                  <a:srgbClr val="364327"/>
                </a:solidFill>
                <a:latin typeface="Segoe UI" panose="020B0502040204020203" pitchFamily="34" charset="0"/>
                <a:ea typeface="Segoe UI" panose="020B0502040204020203" pitchFamily="34" charset="-122"/>
                <a:cs typeface="Segoe UI" panose="020B0502040204020203" pitchFamily="34" charset="-120"/>
              </a:rPr>
              <a:t>Google OR-Tools Handles Conflicting Goals</a:t>
            </a:r>
            <a:endParaRPr lang="en-US" sz="1200" dirty="0"/>
          </a:p>
        </p:txBody>
      </p:sp>
      <p:pic>
        <p:nvPicPr>
          <p:cNvPr id="25" name="Image 3" descr="./icons/check_dark.png"/>
          <p:cNvPicPr>
            <a:picLocks noChangeAspect="1"/>
          </p:cNvPicPr>
          <p:nvPr/>
        </p:nvPicPr>
        <p:blipFill>
          <a:blip r:embed="rId1"/>
          <a:stretch>
            <a:fillRect/>
          </a:stretch>
        </p:blipFill>
        <p:spPr>
          <a:xfrm>
            <a:off x="7223760" y="5522976"/>
            <a:ext cx="146304" cy="146304"/>
          </a:xfrm>
          <a:prstGeom prst="rect">
            <a:avLst/>
          </a:prstGeom>
        </p:spPr>
      </p:pic>
      <p:sp>
        <p:nvSpPr>
          <p:cNvPr id="26" name="Text 19"/>
          <p:cNvSpPr/>
          <p:nvPr/>
        </p:nvSpPr>
        <p:spPr>
          <a:xfrm>
            <a:off x="7452360" y="5495544"/>
            <a:ext cx="3931920" cy="228600"/>
          </a:xfrm>
          <a:prstGeom prst="rect">
            <a:avLst/>
          </a:prstGeom>
          <a:noFill/>
        </p:spPr>
        <p:txBody>
          <a:bodyPr wrap="square" lIns="0" tIns="0" rIns="0" bIns="0" rtlCol="0" anchor="ctr"/>
          <a:lstStyle/>
          <a:p>
            <a:pPr marL="0" indent="0">
              <a:buNone/>
            </a:pPr>
            <a:r>
              <a:rPr lang="en-US" sz="1200" dirty="0">
                <a:solidFill>
                  <a:srgbClr val="364327"/>
                </a:solidFill>
                <a:latin typeface="Segoe UI" panose="020B0502040204020203" pitchFamily="34" charset="0"/>
                <a:ea typeface="Segoe UI" panose="020B0502040204020203" pitchFamily="34" charset="-122"/>
                <a:cs typeface="Segoe UI" panose="020B0502040204020203" pitchFamily="34" charset="-120"/>
              </a:rPr>
              <a:t>Gemini API Demystifies Recommendation Logic</a:t>
            </a:r>
            <a:endParaRPr lang="en-US" sz="1200" dirty="0"/>
          </a:p>
        </p:txBody>
      </p:sp>
      <p:sp>
        <p:nvSpPr>
          <p:cNvPr id="27" name="Shape 20">
            <a:hlinkClick r:id="rId2" action="ppaction://hlinksldjump"/>
          </p:cNvPr>
          <p:cNvSpPr/>
          <p:nvPr/>
        </p:nvSpPr>
        <p:spPr>
          <a:xfrm>
            <a:off x="548640" y="4892040"/>
            <a:ext cx="6126480" cy="502920"/>
          </a:xfrm>
          <a:prstGeom prst="roundRect">
            <a:avLst>
              <a:gd name="adj" fmla="val 18182"/>
            </a:avLst>
          </a:prstGeom>
          <a:solidFill>
            <a:srgbClr val="FFFFFF"/>
          </a:solidFill>
          <a:ln w="19050">
            <a:solidFill>
              <a:srgbClr val="57926E"/>
            </a:solidFill>
            <a:prstDash val="solid"/>
          </a:ln>
          <a:effectLst>
            <a:outerShdw blurRad="76200" dist="25400" dir="2700000" algn="bl" rotWithShape="0">
              <a:srgbClr val="000000">
                <a:alpha val="8000"/>
              </a:srgbClr>
            </a:outerShdw>
          </a:effectLst>
        </p:spPr>
      </p:sp>
      <p:pic>
        <p:nvPicPr>
          <p:cNvPr id="28" name="Image 4" descr="./icons/layer_white.png">
            <a:hlinkClick r:id="rId2" action="ppaction://hlinksldjump"/>
          </p:cNvPr>
          <p:cNvPicPr>
            <a:picLocks noChangeAspect="1"/>
          </p:cNvPicPr>
          <p:nvPr/>
        </p:nvPicPr>
        <p:blipFill>
          <a:blip r:embed="rId3"/>
          <a:stretch>
            <a:fillRect/>
          </a:stretch>
        </p:blipFill>
        <p:spPr>
          <a:xfrm>
            <a:off x="777240" y="5010912"/>
            <a:ext cx="274320" cy="274320"/>
          </a:xfrm>
          <a:prstGeom prst="rect">
            <a:avLst/>
          </a:prstGeom>
        </p:spPr>
      </p:pic>
      <p:sp>
        <p:nvSpPr>
          <p:cNvPr id="29" name="Text 21">
            <a:hlinkClick r:id="rId2" action="ppaction://hlinksldjump"/>
          </p:cNvPr>
          <p:cNvSpPr/>
          <p:nvPr/>
        </p:nvSpPr>
        <p:spPr>
          <a:xfrm>
            <a:off x="1188720" y="4892040"/>
            <a:ext cx="5303520" cy="502920"/>
          </a:xfrm>
          <a:prstGeom prst="rect">
            <a:avLst/>
          </a:prstGeom>
          <a:noFill/>
        </p:spPr>
        <p:txBody>
          <a:bodyPr wrap="square" lIns="0" tIns="0" rIns="0" bIns="0" rtlCol="0" anchor="ctr"/>
          <a:lstStyle/>
          <a:p>
            <a:pPr marL="0" indent="0">
              <a:buNone/>
            </a:pPr>
            <a:r>
              <a:rPr lang="en-US" sz="1200" b="1" u="sng" dirty="0">
                <a:solidFill>
                  <a:srgbClr val="156D4F"/>
                </a:solidFill>
                <a:latin typeface="Segoe UI" panose="020B0502040204020203" pitchFamily="34" charset="0"/>
                <a:ea typeface="Segoe UI" panose="020B0502040204020203" pitchFamily="34" charset="-122"/>
                <a:cs typeface="Segoe UI" panose="020B0502040204020203" pitchFamily="34" charset="-120"/>
                <a:hlinkClick r:id="rId2" action="ppaction://hlinksldjump"/>
              </a:rPr>
              <a:t>VIEW SYSTEM ARCHITECTURE DIAGRAM  →</a:t>
            </a:r>
            <a:endParaRPr lang="en-US" sz="1200" dirty="0"/>
          </a:p>
        </p:txBody>
      </p:sp>
      <p:sp>
        <p:nvSpPr>
          <p:cNvPr id="30" name="Shape 22"/>
          <p:cNvSpPr/>
          <p:nvPr/>
        </p:nvSpPr>
        <p:spPr>
          <a:xfrm>
            <a:off x="530352" y="6364224"/>
            <a:ext cx="237744" cy="237744"/>
          </a:xfrm>
          <a:prstGeom prst="ellipse">
            <a:avLst/>
          </a:prstGeom>
          <a:solidFill>
            <a:srgbClr val="156D4F"/>
          </a:solidFill>
        </p:spPr>
      </p:sp>
      <p:pic>
        <p:nvPicPr>
          <p:cNvPr id="31" name="Image 5" descr="./icons/arrow_left_white.png">
            <a:hlinkClick r:id="rId4" action="ppaction://hlinksldjump"/>
          </p:cNvPr>
          <p:cNvPicPr>
            <a:picLocks noChangeAspect="1"/>
          </p:cNvPicPr>
          <p:nvPr/>
        </p:nvPicPr>
        <p:blipFill>
          <a:blip r:embed="rId5"/>
          <a:stretch>
            <a:fillRect/>
          </a:stretch>
        </p:blipFill>
        <p:spPr>
          <a:xfrm>
            <a:off x="548640" y="6382512"/>
            <a:ext cx="201168" cy="201168"/>
          </a:xfrm>
          <a:prstGeom prst="rect">
            <a:avLst/>
          </a:prstGeom>
        </p:spPr>
      </p:pic>
      <p:sp>
        <p:nvSpPr>
          <p:cNvPr id="32" name="Shape 23">
            <a:hlinkClick r:id="rId4" action="ppaction://hlinksldjump"/>
          </p:cNvPr>
          <p:cNvSpPr/>
          <p:nvPr/>
        </p:nvSpPr>
        <p:spPr>
          <a:xfrm>
            <a:off x="530352" y="6355080"/>
            <a:ext cx="2377440" cy="365760"/>
          </a:xfrm>
          <a:prstGeom prst="rect">
            <a:avLst/>
          </a:prstGeom>
          <a:solidFill>
            <a:srgbClr val="364327">
              <a:alpha val="0"/>
            </a:srgbClr>
          </a:solidFill>
        </p:spPr>
      </p:sp>
      <p:sp>
        <p:nvSpPr>
          <p:cNvPr id="33" name="Text 24">
            <a:hlinkClick r:id="rId4" action="ppaction://hlinksldjump"/>
          </p:cNvPr>
          <p:cNvSpPr/>
          <p:nvPr/>
        </p:nvSpPr>
        <p:spPr>
          <a:xfrm>
            <a:off x="841248" y="6355080"/>
            <a:ext cx="2377440" cy="365760"/>
          </a:xfrm>
          <a:prstGeom prst="rect">
            <a:avLst/>
          </a:prstGeom>
          <a:noFill/>
        </p:spPr>
        <p:txBody>
          <a:bodyPr wrap="square" lIns="0" tIns="0" rIns="0" bIns="0" rtlCol="0" anchor="ctr"/>
          <a:lstStyle/>
          <a:p>
            <a:pPr marL="0" indent="0">
              <a:buNone/>
            </a:pPr>
            <a:r>
              <a:rPr lang="en-US" sz="1100" b="1" u="sng" dirty="0">
                <a:solidFill>
                  <a:srgbClr val="156D4F"/>
                </a:solidFill>
                <a:latin typeface="Segoe UI" panose="020B0502040204020203" pitchFamily="34" charset="0"/>
                <a:ea typeface="Segoe UI" panose="020B0502040204020203" pitchFamily="34" charset="-122"/>
                <a:cs typeface="Segoe UI" panose="020B0502040204020203" pitchFamily="34" charset="-120"/>
                <a:hlinkClick r:id="rId4" action="ppaction://hlinksldjump"/>
              </a:rPr>
              <a:t>BACK TO REVIEW BOARD</a:t>
            </a:r>
            <a:endParaRPr lang="en-US" sz="1100" dirty="0"/>
          </a:p>
        </p:txBody>
      </p:sp>
      <p:sp>
        <p:nvSpPr>
          <p:cNvPr id="34" name="Text 25"/>
          <p:cNvSpPr/>
          <p:nvPr/>
        </p:nvSpPr>
        <p:spPr>
          <a:xfrm>
            <a:off x="8595360" y="6382512"/>
            <a:ext cx="3017520" cy="274320"/>
          </a:xfrm>
          <a:prstGeom prst="rect">
            <a:avLst/>
          </a:prstGeom>
          <a:noFill/>
        </p:spPr>
        <p:txBody>
          <a:bodyPr wrap="square" lIns="0" tIns="0" rIns="0" bIns="0" rtlCol="0" anchor="ctr"/>
          <a:lstStyle/>
          <a:p>
            <a:pPr marL="0" indent="0" algn="r">
              <a:buNone/>
            </a:pPr>
            <a:r>
              <a:rPr lang="en-US" sz="1000" dirty="0">
                <a:solidFill>
                  <a:srgbClr val="364327"/>
                </a:solidFill>
                <a:latin typeface="Segoe UI" panose="020B0502040204020203" pitchFamily="34" charset="0"/>
                <a:ea typeface="Segoe UI" panose="020B0502040204020203" pitchFamily="34" charset="-122"/>
                <a:cs typeface="Segoe UI" panose="020B0502040204020203" pitchFamily="34" charset="-120"/>
              </a:rPr>
              <a:t>EcoSphere · Layered Stack</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C7C396"/>
        </a:solidFill>
        <a:effectLst/>
      </p:bgPr>
    </p:bg>
    <p:spTree>
      <p:nvGrpSpPr>
        <p:cNvPr id="1" name=""/>
        <p:cNvGrpSpPr/>
        <p:nvPr/>
      </p:nvGrpSpPr>
      <p:grpSpPr>
        <a:xfrm>
          <a:off x="0" y="0"/>
          <a:ext cx="0" cy="0"/>
          <a:chOff x="0" y="0"/>
          <a:chExt cx="0" cy="0"/>
        </a:xfrm>
      </p:grpSpPr>
      <p:sp>
        <p:nvSpPr>
          <p:cNvPr id="2" name="Text 0"/>
          <p:cNvSpPr/>
          <p:nvPr/>
        </p:nvSpPr>
        <p:spPr>
          <a:xfrm>
            <a:off x="548640" y="384048"/>
            <a:ext cx="8229600" cy="274320"/>
          </a:xfrm>
          <a:prstGeom prst="rect">
            <a:avLst/>
          </a:prstGeom>
          <a:noFill/>
        </p:spPr>
        <p:txBody>
          <a:bodyPr wrap="square" lIns="0" tIns="0" rIns="0" bIns="0" rtlCol="0" anchor="ctr"/>
          <a:lstStyle/>
          <a:p>
            <a:pPr marL="0" indent="0">
              <a:buNone/>
            </a:pPr>
            <a:r>
              <a:rPr lang="en-US" sz="1200" b="1" kern="0" spc="200" dirty="0">
                <a:solidFill>
                  <a:srgbClr val="156D4F"/>
                </a:solidFill>
                <a:latin typeface="Segoe UI" panose="020B0502040204020203" pitchFamily="34" charset="0"/>
                <a:ea typeface="Segoe UI" panose="020B0502040204020203" pitchFamily="34" charset="-122"/>
                <a:cs typeface="Segoe UI" panose="020B0502040204020203" pitchFamily="34" charset="-120"/>
              </a:rPr>
              <a:t>SECTION 04 · ARCHITECTURE &amp; TECH STACK</a:t>
            </a:r>
            <a:endParaRPr lang="en-US" sz="1200" dirty="0"/>
          </a:p>
        </p:txBody>
      </p:sp>
      <p:sp>
        <p:nvSpPr>
          <p:cNvPr id="3" name="Text 1"/>
          <p:cNvSpPr/>
          <p:nvPr/>
        </p:nvSpPr>
        <p:spPr>
          <a:xfrm>
            <a:off x="548640" y="640080"/>
            <a:ext cx="9601200" cy="640080"/>
          </a:xfrm>
          <a:prstGeom prst="rect">
            <a:avLst/>
          </a:prstGeom>
          <a:noFill/>
        </p:spPr>
        <p:txBody>
          <a:bodyPr wrap="square" lIns="0" tIns="0" rIns="0" bIns="0" rtlCol="0" anchor="ctr"/>
          <a:lstStyle/>
          <a:p>
            <a:pPr marL="0" indent="0">
              <a:buNone/>
            </a:pPr>
            <a:r>
              <a:rPr lang="en-US" sz="2800" b="1" dirty="0">
                <a:solidFill>
                  <a:srgbClr val="156D4F"/>
                </a:solidFill>
                <a:latin typeface="Georgia" panose="02040502050405020303" pitchFamily="34" charset="0"/>
                <a:ea typeface="Georgia" panose="02040502050405020303" pitchFamily="34" charset="-122"/>
                <a:cs typeface="Georgia" panose="02040502050405020303" pitchFamily="34" charset="-120"/>
              </a:rPr>
              <a:t>Enterprise System Architecture Blueprint</a:t>
            </a:r>
            <a:endParaRPr lang="en-US" sz="2800" dirty="0"/>
          </a:p>
        </p:txBody>
      </p:sp>
      <p:sp>
        <p:nvSpPr>
          <p:cNvPr id="4" name="Text 2"/>
          <p:cNvSpPr/>
          <p:nvPr/>
        </p:nvSpPr>
        <p:spPr>
          <a:xfrm>
            <a:off x="548640" y="1280160"/>
            <a:ext cx="11091672" cy="320040"/>
          </a:xfrm>
          <a:prstGeom prst="rect">
            <a:avLst/>
          </a:prstGeom>
          <a:noFill/>
        </p:spPr>
        <p:txBody>
          <a:bodyPr wrap="square" lIns="0" tIns="0" rIns="0" bIns="0" rtlCol="0" anchor="ctr"/>
          <a:lstStyle/>
          <a:p>
            <a:pPr marL="0" indent="0" algn="just">
              <a:buNone/>
            </a:pPr>
            <a:r>
              <a:rPr lang="en-US" sz="1250" dirty="0">
                <a:solidFill>
                  <a:srgbClr val="156D4F"/>
                </a:solidFill>
                <a:latin typeface="Segoe UI" panose="020B0502040204020203" pitchFamily="34" charset="0"/>
                <a:ea typeface="Segoe UI" panose="020B0502040204020203" pitchFamily="34" charset="-122"/>
                <a:cs typeface="Segoe UI" panose="020B0502040204020203" pitchFamily="34" charset="-120"/>
              </a:rPr>
              <a:t>Comprehensive system mapping of the EcoSphere framework showcasing the flow from client layer, through backend API, environmental intelligence, solvers, and data persistence layers.</a:t>
            </a:r>
            <a:endParaRPr lang="en-US" sz="1250" dirty="0"/>
          </a:p>
        </p:txBody>
      </p:sp>
      <p:sp>
        <p:nvSpPr>
          <p:cNvPr id="5" name="Shape 3"/>
          <p:cNvSpPr/>
          <p:nvPr/>
        </p:nvSpPr>
        <p:spPr>
          <a:xfrm>
            <a:off x="548640" y="1691640"/>
            <a:ext cx="11091672" cy="4526280"/>
          </a:xfrm>
          <a:prstGeom prst="roundRect">
            <a:avLst>
              <a:gd name="adj" fmla="val 1010"/>
            </a:avLst>
          </a:prstGeom>
          <a:solidFill>
            <a:srgbClr val="FFFFFF"/>
          </a:solidFill>
          <a:ln w="12700">
            <a:solidFill>
              <a:srgbClr val="57926E"/>
            </a:solidFill>
            <a:prstDash val="solid"/>
          </a:ln>
          <a:effectLst>
            <a:outerShdw blurRad="101600" dist="38100" dir="2700000" algn="bl" rotWithShape="0">
              <a:srgbClr val="000000">
                <a:alpha val="12000"/>
              </a:srgbClr>
            </a:outerShdw>
          </a:effectLst>
        </p:spPr>
      </p:sp>
      <p:pic>
        <p:nvPicPr>
          <p:cNvPr id="6" name="Image 0" descr="./icons/architecture_diagram.png"/>
          <p:cNvPicPr>
            <a:picLocks noChangeAspect="1"/>
          </p:cNvPicPr>
          <p:nvPr/>
        </p:nvPicPr>
        <p:blipFill>
          <a:blip r:embed="rId1"/>
          <a:stretch>
            <a:fillRect/>
          </a:stretch>
        </p:blipFill>
        <p:spPr>
          <a:xfrm>
            <a:off x="548640" y="1691640"/>
            <a:ext cx="11091672" cy="4526280"/>
          </a:xfrm>
          <a:prstGeom prst="rect">
            <a:avLst/>
          </a:prstGeom>
        </p:spPr>
      </p:pic>
      <p:sp>
        <p:nvSpPr>
          <p:cNvPr id="7" name="Shape 4"/>
          <p:cNvSpPr/>
          <p:nvPr/>
        </p:nvSpPr>
        <p:spPr>
          <a:xfrm>
            <a:off x="530352" y="6364224"/>
            <a:ext cx="237744" cy="237744"/>
          </a:xfrm>
          <a:prstGeom prst="ellipse">
            <a:avLst/>
          </a:prstGeom>
          <a:solidFill>
            <a:srgbClr val="156D4F"/>
          </a:solidFill>
        </p:spPr>
      </p:sp>
      <p:pic>
        <p:nvPicPr>
          <p:cNvPr id="8" name="Image 1" descr="./icons/arrow_left_white.png">
            <a:hlinkClick r:id="rId2" action="ppaction://hlinksldjump"/>
          </p:cNvPr>
          <p:cNvPicPr>
            <a:picLocks noChangeAspect="1"/>
          </p:cNvPicPr>
          <p:nvPr/>
        </p:nvPicPr>
        <p:blipFill>
          <a:blip r:embed="rId3"/>
          <a:stretch>
            <a:fillRect/>
          </a:stretch>
        </p:blipFill>
        <p:spPr>
          <a:xfrm>
            <a:off x="548640" y="6382512"/>
            <a:ext cx="201168" cy="201168"/>
          </a:xfrm>
          <a:prstGeom prst="rect">
            <a:avLst/>
          </a:prstGeom>
        </p:spPr>
      </p:pic>
      <p:sp>
        <p:nvSpPr>
          <p:cNvPr id="9" name="Shape 5">
            <a:hlinkClick r:id="rId2" action="ppaction://hlinksldjump"/>
          </p:cNvPr>
          <p:cNvSpPr/>
          <p:nvPr/>
        </p:nvSpPr>
        <p:spPr>
          <a:xfrm>
            <a:off x="530352" y="6355080"/>
            <a:ext cx="2377440" cy="365760"/>
          </a:xfrm>
          <a:prstGeom prst="rect">
            <a:avLst/>
          </a:prstGeom>
          <a:solidFill>
            <a:srgbClr val="364327">
              <a:alpha val="0"/>
            </a:srgbClr>
          </a:solidFill>
        </p:spPr>
      </p:sp>
      <p:sp>
        <p:nvSpPr>
          <p:cNvPr id="10" name="Text 6">
            <a:hlinkClick r:id="rId2" action="ppaction://hlinksldjump"/>
          </p:cNvPr>
          <p:cNvSpPr/>
          <p:nvPr/>
        </p:nvSpPr>
        <p:spPr>
          <a:xfrm>
            <a:off x="841248" y="6355080"/>
            <a:ext cx="2377440" cy="365760"/>
          </a:xfrm>
          <a:prstGeom prst="rect">
            <a:avLst/>
          </a:prstGeom>
          <a:noFill/>
        </p:spPr>
        <p:txBody>
          <a:bodyPr wrap="square" lIns="0" tIns="0" rIns="0" bIns="0" rtlCol="0" anchor="ctr"/>
          <a:lstStyle/>
          <a:p>
            <a:pPr marL="0" indent="0">
              <a:buNone/>
            </a:pPr>
            <a:r>
              <a:rPr lang="en-US" sz="1100" b="1" u="sng" dirty="0">
                <a:solidFill>
                  <a:srgbClr val="156D4F"/>
                </a:solidFill>
                <a:latin typeface="Segoe UI" panose="020B0502040204020203" pitchFamily="34" charset="0"/>
                <a:ea typeface="Segoe UI" panose="020B0502040204020203" pitchFamily="34" charset="-122"/>
                <a:cs typeface="Segoe UI" panose="020B0502040204020203" pitchFamily="34" charset="-120"/>
                <a:hlinkClick r:id="rId2" action="ppaction://hlinksldjump"/>
              </a:rPr>
              <a:t>BACK TO REVIEW BOARD</a:t>
            </a:r>
            <a:endParaRPr lang="en-US" sz="1100" dirty="0"/>
          </a:p>
        </p:txBody>
      </p:sp>
      <p:sp>
        <p:nvSpPr>
          <p:cNvPr id="11" name="Text 7"/>
          <p:cNvSpPr/>
          <p:nvPr/>
        </p:nvSpPr>
        <p:spPr>
          <a:xfrm>
            <a:off x="8595360" y="6382512"/>
            <a:ext cx="3017520" cy="274320"/>
          </a:xfrm>
          <a:prstGeom prst="rect">
            <a:avLst/>
          </a:prstGeom>
          <a:noFill/>
        </p:spPr>
        <p:txBody>
          <a:bodyPr wrap="square" lIns="0" tIns="0" rIns="0" bIns="0" rtlCol="0" anchor="ctr"/>
          <a:lstStyle/>
          <a:p>
            <a:pPr marL="0" indent="0" algn="r">
              <a:buNone/>
            </a:pPr>
            <a:r>
              <a:rPr lang="en-US" sz="1000" dirty="0">
                <a:solidFill>
                  <a:srgbClr val="364327"/>
                </a:solidFill>
                <a:latin typeface="Segoe UI" panose="020B0502040204020203" pitchFamily="34" charset="0"/>
                <a:ea typeface="Segoe UI" panose="020B0502040204020203" pitchFamily="34" charset="-122"/>
                <a:cs typeface="Segoe UI" panose="020B0502040204020203" pitchFamily="34" charset="-120"/>
              </a:rPr>
              <a:t>EcoSphere · Architecture Diagram</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C7C396"/>
        </a:solidFill>
        <a:effectLst/>
      </p:bgPr>
    </p:bg>
    <p:spTree>
      <p:nvGrpSpPr>
        <p:cNvPr id="1" name=""/>
        <p:cNvGrpSpPr/>
        <p:nvPr/>
      </p:nvGrpSpPr>
      <p:grpSpPr>
        <a:xfrm>
          <a:off x="0" y="0"/>
          <a:ext cx="0" cy="0"/>
          <a:chOff x="0" y="0"/>
          <a:chExt cx="0" cy="0"/>
        </a:xfrm>
      </p:grpSpPr>
      <p:sp>
        <p:nvSpPr>
          <p:cNvPr id="2" name="Text 0"/>
          <p:cNvSpPr/>
          <p:nvPr/>
        </p:nvSpPr>
        <p:spPr>
          <a:xfrm>
            <a:off x="548640" y="384048"/>
            <a:ext cx="8229600" cy="274320"/>
          </a:xfrm>
          <a:prstGeom prst="rect">
            <a:avLst/>
          </a:prstGeom>
          <a:noFill/>
        </p:spPr>
        <p:txBody>
          <a:bodyPr wrap="square" lIns="0" tIns="0" rIns="0" bIns="0" rtlCol="0" anchor="ctr"/>
          <a:lstStyle/>
          <a:p>
            <a:pPr marL="0" indent="0">
              <a:buNone/>
            </a:pPr>
            <a:r>
              <a:rPr lang="en-US" sz="1200" b="1" kern="0" spc="200" dirty="0">
                <a:solidFill>
                  <a:srgbClr val="156D4F"/>
                </a:solidFill>
                <a:latin typeface="Segoe UI" panose="020B0502040204020203" pitchFamily="34" charset="0"/>
                <a:ea typeface="Segoe UI" panose="020B0502040204020203" pitchFamily="34" charset="-122"/>
                <a:cs typeface="Segoe UI" panose="020B0502040204020203" pitchFamily="34" charset="-120"/>
              </a:rPr>
              <a:t>SECTION 04A · INTERFACE &amp; DESIGN</a:t>
            </a:r>
            <a:endParaRPr lang="en-US" sz="1200" dirty="0"/>
          </a:p>
        </p:txBody>
      </p:sp>
      <p:sp>
        <p:nvSpPr>
          <p:cNvPr id="3" name="Text 1"/>
          <p:cNvSpPr/>
          <p:nvPr/>
        </p:nvSpPr>
        <p:spPr>
          <a:xfrm>
            <a:off x="548640" y="640080"/>
            <a:ext cx="9601200" cy="640080"/>
          </a:xfrm>
          <a:prstGeom prst="rect">
            <a:avLst/>
          </a:prstGeom>
          <a:noFill/>
        </p:spPr>
        <p:txBody>
          <a:bodyPr wrap="square" lIns="0" tIns="0" rIns="0" bIns="0" rtlCol="0" anchor="ctr"/>
          <a:lstStyle/>
          <a:p>
            <a:pPr marL="0" indent="0">
              <a:buNone/>
            </a:pPr>
            <a:r>
              <a:rPr lang="en-US" sz="2800" b="1" dirty="0">
                <a:solidFill>
                  <a:srgbClr val="156D4F"/>
                </a:solidFill>
                <a:latin typeface="Georgia" panose="02040502050405020303" pitchFamily="34" charset="0"/>
                <a:ea typeface="Georgia" panose="02040502050405020303" pitchFamily="34" charset="-122"/>
                <a:cs typeface="Georgia" panose="02040502050405020303" pitchFamily="34" charset="-120"/>
              </a:rPr>
              <a:t>React Web Application &amp; Dashboard Portals</a:t>
            </a:r>
            <a:endParaRPr lang="en-US" sz="2800" dirty="0"/>
          </a:p>
        </p:txBody>
      </p:sp>
      <p:sp>
        <p:nvSpPr>
          <p:cNvPr id="4" name="Shape 2"/>
          <p:cNvSpPr/>
          <p:nvPr/>
        </p:nvSpPr>
        <p:spPr>
          <a:xfrm>
            <a:off x="548640" y="1737360"/>
            <a:ext cx="5166360" cy="4297680"/>
          </a:xfrm>
          <a:prstGeom prst="roundRect">
            <a:avLst>
              <a:gd name="adj" fmla="val 2128"/>
            </a:avLst>
          </a:prstGeom>
          <a:solidFill>
            <a:srgbClr val="FFFFFF"/>
          </a:solidFill>
          <a:effectLst>
            <a:outerShdw blurRad="76200" dist="25400" dir="2700000" algn="bl" rotWithShape="0">
              <a:srgbClr val="000000">
                <a:alpha val="8000"/>
              </a:srgbClr>
            </a:outerShdw>
          </a:effectLst>
        </p:spPr>
      </p:sp>
      <p:sp>
        <p:nvSpPr>
          <p:cNvPr id="5" name="Shape 3"/>
          <p:cNvSpPr/>
          <p:nvPr/>
        </p:nvSpPr>
        <p:spPr>
          <a:xfrm>
            <a:off x="777240" y="1938528"/>
            <a:ext cx="502920" cy="502920"/>
          </a:xfrm>
          <a:prstGeom prst="ellipse">
            <a:avLst/>
          </a:prstGeom>
          <a:solidFill>
            <a:srgbClr val="C7C396"/>
          </a:solidFill>
          <a:effectLst>
            <a:outerShdw blurRad="76200" dist="25400" dir="2700000" algn="bl" rotWithShape="0">
              <a:srgbClr val="000000">
                <a:alpha val="8000"/>
              </a:srgbClr>
            </a:outerShdw>
          </a:effectLst>
        </p:spPr>
      </p:sp>
      <p:pic>
        <p:nvPicPr>
          <p:cNvPr id="6" name="Image 0" descr="./icons/gateway_dark.png"/>
          <p:cNvPicPr>
            <a:picLocks noChangeAspect="1"/>
          </p:cNvPicPr>
          <p:nvPr/>
        </p:nvPicPr>
        <p:blipFill>
          <a:blip r:embed="rId1"/>
          <a:stretch>
            <a:fillRect/>
          </a:stretch>
        </p:blipFill>
        <p:spPr>
          <a:xfrm>
            <a:off x="907999" y="2069287"/>
            <a:ext cx="241402" cy="241402"/>
          </a:xfrm>
          <a:prstGeom prst="rect">
            <a:avLst/>
          </a:prstGeom>
        </p:spPr>
      </p:pic>
      <p:sp>
        <p:nvSpPr>
          <p:cNvPr id="7" name="Text 4"/>
          <p:cNvSpPr/>
          <p:nvPr/>
        </p:nvSpPr>
        <p:spPr>
          <a:xfrm>
            <a:off x="1371600" y="1901952"/>
            <a:ext cx="4206240" cy="548640"/>
          </a:xfrm>
          <a:prstGeom prst="rect">
            <a:avLst/>
          </a:prstGeom>
          <a:noFill/>
        </p:spPr>
        <p:txBody>
          <a:bodyPr wrap="square" lIns="0" tIns="0" rIns="0" bIns="0" rtlCol="0" anchor="ctr"/>
          <a:lstStyle/>
          <a:p>
            <a:pPr marL="0" indent="0">
              <a:buNone/>
            </a:pPr>
            <a:r>
              <a:rPr lang="en-US" sz="1750" b="1" dirty="0">
                <a:solidFill>
                  <a:srgbClr val="156D4F"/>
                </a:solidFill>
                <a:latin typeface="Segoe UI" panose="020B0502040204020203" pitchFamily="34" charset="0"/>
                <a:ea typeface="Segoe UI" panose="020B0502040204020203" pitchFamily="34" charset="-122"/>
                <a:cs typeface="Segoe UI" panose="020B0502040204020203" pitchFamily="34" charset="-120"/>
              </a:rPr>
              <a:t>React.js Frontend Client</a:t>
            </a:r>
            <a:endParaRPr lang="en-US" sz="1750" dirty="0"/>
          </a:p>
        </p:txBody>
      </p:sp>
      <p:pic>
        <p:nvPicPr>
          <p:cNvPr id="8" name="Image 1" descr="./icons/check_dark.png"/>
          <p:cNvPicPr>
            <a:picLocks noChangeAspect="1"/>
          </p:cNvPicPr>
          <p:nvPr/>
        </p:nvPicPr>
        <p:blipFill>
          <a:blip r:embed="rId2"/>
          <a:stretch>
            <a:fillRect/>
          </a:stretch>
        </p:blipFill>
        <p:spPr>
          <a:xfrm>
            <a:off x="777240" y="2642616"/>
            <a:ext cx="164592" cy="164592"/>
          </a:xfrm>
          <a:prstGeom prst="rect">
            <a:avLst/>
          </a:prstGeom>
        </p:spPr>
      </p:pic>
      <p:sp>
        <p:nvSpPr>
          <p:cNvPr id="9" name="Text 5"/>
          <p:cNvSpPr/>
          <p:nvPr/>
        </p:nvSpPr>
        <p:spPr>
          <a:xfrm>
            <a:off x="1051560" y="2606040"/>
            <a:ext cx="4526280" cy="548640"/>
          </a:xfrm>
          <a:prstGeom prst="rect">
            <a:avLst/>
          </a:prstGeom>
          <a:noFill/>
        </p:spPr>
        <p:txBody>
          <a:bodyPr wrap="square" lIns="0" tIns="0" rIns="0" bIns="0" rtlCol="0" anchor="ctr"/>
          <a:lstStyle/>
          <a:p>
            <a:pPr marL="0" indent="0" algn="just">
              <a:lnSpc>
                <a:spcPct val="120000"/>
              </a:lnSpc>
              <a:buNone/>
            </a:pPr>
            <a:r>
              <a:rPr lang="en-US" sz="1250" dirty="0">
                <a:solidFill>
                  <a:srgbClr val="364327"/>
                </a:solidFill>
                <a:latin typeface="Segoe UI" panose="020B0502040204020203" pitchFamily="34" charset="0"/>
                <a:ea typeface="Segoe UI" panose="020B0502040204020203" pitchFamily="34" charset="-122"/>
                <a:cs typeface="Segoe UI" panose="020B0502040204020203" pitchFamily="34" charset="-120"/>
              </a:rPr>
              <a:t>Interactive Dashboards: Renders carbon metrics, water and electricity charts using Apache ECharts.</a:t>
            </a:r>
            <a:endParaRPr lang="en-US" sz="1250" dirty="0"/>
          </a:p>
        </p:txBody>
      </p:sp>
      <p:pic>
        <p:nvPicPr>
          <p:cNvPr id="10" name="Image 2" descr="./icons/check_dark.png"/>
          <p:cNvPicPr>
            <a:picLocks noChangeAspect="1"/>
          </p:cNvPicPr>
          <p:nvPr/>
        </p:nvPicPr>
        <p:blipFill>
          <a:blip r:embed="rId2"/>
          <a:stretch>
            <a:fillRect/>
          </a:stretch>
        </p:blipFill>
        <p:spPr>
          <a:xfrm>
            <a:off x="777240" y="3282696"/>
            <a:ext cx="164592" cy="164592"/>
          </a:xfrm>
          <a:prstGeom prst="rect">
            <a:avLst/>
          </a:prstGeom>
        </p:spPr>
      </p:pic>
      <p:sp>
        <p:nvSpPr>
          <p:cNvPr id="11" name="Text 6"/>
          <p:cNvSpPr/>
          <p:nvPr/>
        </p:nvSpPr>
        <p:spPr>
          <a:xfrm>
            <a:off x="1051560" y="3246120"/>
            <a:ext cx="4526280" cy="548640"/>
          </a:xfrm>
          <a:prstGeom prst="rect">
            <a:avLst/>
          </a:prstGeom>
          <a:noFill/>
        </p:spPr>
        <p:txBody>
          <a:bodyPr wrap="square" lIns="0" tIns="0" rIns="0" bIns="0" rtlCol="0" anchor="ctr"/>
          <a:lstStyle/>
          <a:p>
            <a:pPr marL="0" indent="0" algn="just">
              <a:lnSpc>
                <a:spcPct val="120000"/>
              </a:lnSpc>
              <a:buNone/>
            </a:pPr>
            <a:r>
              <a:rPr lang="en-US" sz="1250" dirty="0">
                <a:solidFill>
                  <a:srgbClr val="364327"/>
                </a:solidFill>
                <a:latin typeface="Segoe UI" panose="020B0502040204020203" pitchFamily="34" charset="0"/>
                <a:ea typeface="Segoe UI" panose="020B0502040204020203" pitchFamily="34" charset="-122"/>
                <a:cs typeface="Segoe UI" panose="020B0502040204020203" pitchFamily="34" charset="-120"/>
              </a:rPr>
              <a:t>Map Visualization: Integrates Leaflet.js and OpenStreetMap for tree planting and recycling tracking.</a:t>
            </a:r>
            <a:endParaRPr lang="en-US" sz="1250" dirty="0"/>
          </a:p>
        </p:txBody>
      </p:sp>
      <p:pic>
        <p:nvPicPr>
          <p:cNvPr id="12" name="Image 3" descr="./icons/check_dark.png"/>
          <p:cNvPicPr>
            <a:picLocks noChangeAspect="1"/>
          </p:cNvPicPr>
          <p:nvPr/>
        </p:nvPicPr>
        <p:blipFill>
          <a:blip r:embed="rId2"/>
          <a:stretch>
            <a:fillRect/>
          </a:stretch>
        </p:blipFill>
        <p:spPr>
          <a:xfrm>
            <a:off x="777240" y="3922776"/>
            <a:ext cx="164592" cy="164592"/>
          </a:xfrm>
          <a:prstGeom prst="rect">
            <a:avLst/>
          </a:prstGeom>
        </p:spPr>
      </p:pic>
      <p:sp>
        <p:nvSpPr>
          <p:cNvPr id="13" name="Text 7"/>
          <p:cNvSpPr/>
          <p:nvPr/>
        </p:nvSpPr>
        <p:spPr>
          <a:xfrm>
            <a:off x="1051560" y="3886200"/>
            <a:ext cx="4526280" cy="548640"/>
          </a:xfrm>
          <a:prstGeom prst="rect">
            <a:avLst/>
          </a:prstGeom>
          <a:noFill/>
        </p:spPr>
        <p:txBody>
          <a:bodyPr wrap="square" lIns="0" tIns="0" rIns="0" bIns="0" rtlCol="0" anchor="ctr"/>
          <a:lstStyle/>
          <a:p>
            <a:pPr marL="0" indent="0" algn="just">
              <a:lnSpc>
                <a:spcPct val="120000"/>
              </a:lnSpc>
              <a:buNone/>
            </a:pPr>
            <a:r>
              <a:rPr lang="en-US" sz="1250" dirty="0">
                <a:solidFill>
                  <a:srgbClr val="364327"/>
                </a:solidFill>
                <a:latin typeface="Segoe UI" panose="020B0502040204020203" pitchFamily="34" charset="0"/>
                <a:ea typeface="Segoe UI" panose="020B0502040204020203" pitchFamily="34" charset="-122"/>
                <a:cs typeface="Segoe UI" panose="020B0502040204020203" pitchFamily="34" charset="-120"/>
              </a:rPr>
              <a:t>Multi-Resource Forms: Streamlined logging for water, electricity, transportation, waste, and fuel.</a:t>
            </a:r>
            <a:endParaRPr lang="en-US" sz="1250" dirty="0"/>
          </a:p>
        </p:txBody>
      </p:sp>
      <p:pic>
        <p:nvPicPr>
          <p:cNvPr id="14" name="Image 4" descr="./icons/check_dark.png"/>
          <p:cNvPicPr>
            <a:picLocks noChangeAspect="1"/>
          </p:cNvPicPr>
          <p:nvPr/>
        </p:nvPicPr>
        <p:blipFill>
          <a:blip r:embed="rId2"/>
          <a:stretch>
            <a:fillRect/>
          </a:stretch>
        </p:blipFill>
        <p:spPr>
          <a:xfrm>
            <a:off x="777240" y="4562856"/>
            <a:ext cx="164592" cy="164592"/>
          </a:xfrm>
          <a:prstGeom prst="rect">
            <a:avLst/>
          </a:prstGeom>
        </p:spPr>
      </p:pic>
      <p:sp>
        <p:nvSpPr>
          <p:cNvPr id="15" name="Text 8"/>
          <p:cNvSpPr/>
          <p:nvPr/>
        </p:nvSpPr>
        <p:spPr>
          <a:xfrm>
            <a:off x="1051560" y="4526280"/>
            <a:ext cx="4526280" cy="548640"/>
          </a:xfrm>
          <a:prstGeom prst="rect">
            <a:avLst/>
          </a:prstGeom>
          <a:noFill/>
        </p:spPr>
        <p:txBody>
          <a:bodyPr wrap="square" lIns="0" tIns="0" rIns="0" bIns="0" rtlCol="0" anchor="ctr"/>
          <a:lstStyle/>
          <a:p>
            <a:pPr marL="0" indent="0" algn="just">
              <a:lnSpc>
                <a:spcPct val="120000"/>
              </a:lnSpc>
              <a:buNone/>
            </a:pPr>
            <a:r>
              <a:rPr lang="en-US" sz="1250" dirty="0">
                <a:solidFill>
                  <a:srgbClr val="364327"/>
                </a:solidFill>
                <a:latin typeface="Segoe UI" panose="020B0502040204020203" pitchFamily="34" charset="0"/>
                <a:ea typeface="Segoe UI" panose="020B0502040204020203" pitchFamily="34" charset="-122"/>
                <a:cs typeface="Segoe UI" panose="020B0502040204020203" pitchFamily="34" charset="-120"/>
              </a:rPr>
              <a:t>AI Assistant Chat: Instant interface to ask questions and request decision explanations.</a:t>
            </a:r>
            <a:endParaRPr lang="en-US" sz="1250" dirty="0"/>
          </a:p>
        </p:txBody>
      </p:sp>
      <p:pic>
        <p:nvPicPr>
          <p:cNvPr id="16" name="Image 5" descr="./icons/check_dark.png"/>
          <p:cNvPicPr>
            <a:picLocks noChangeAspect="1"/>
          </p:cNvPicPr>
          <p:nvPr/>
        </p:nvPicPr>
        <p:blipFill>
          <a:blip r:embed="rId2"/>
          <a:stretch>
            <a:fillRect/>
          </a:stretch>
        </p:blipFill>
        <p:spPr>
          <a:xfrm>
            <a:off x="777240" y="5202936"/>
            <a:ext cx="164592" cy="164592"/>
          </a:xfrm>
          <a:prstGeom prst="rect">
            <a:avLst/>
          </a:prstGeom>
        </p:spPr>
      </p:pic>
      <p:sp>
        <p:nvSpPr>
          <p:cNvPr id="17" name="Text 9"/>
          <p:cNvSpPr/>
          <p:nvPr/>
        </p:nvSpPr>
        <p:spPr>
          <a:xfrm>
            <a:off x="1051560" y="5166360"/>
            <a:ext cx="4526280" cy="548640"/>
          </a:xfrm>
          <a:prstGeom prst="rect">
            <a:avLst/>
          </a:prstGeom>
          <a:noFill/>
        </p:spPr>
        <p:txBody>
          <a:bodyPr wrap="square" lIns="0" tIns="0" rIns="0" bIns="0" rtlCol="0" anchor="ctr"/>
          <a:lstStyle/>
          <a:p>
            <a:pPr marL="0" indent="0" algn="just">
              <a:lnSpc>
                <a:spcPct val="120000"/>
              </a:lnSpc>
              <a:buNone/>
            </a:pPr>
            <a:r>
              <a:rPr lang="en-US" sz="1250" dirty="0">
                <a:solidFill>
                  <a:srgbClr val="364327"/>
                </a:solidFill>
                <a:latin typeface="Segoe UI" panose="020B0502040204020203" pitchFamily="34" charset="0"/>
                <a:ea typeface="Segoe UI" panose="020B0502040204020203" pitchFamily="34" charset="-122"/>
                <a:cs typeface="Segoe UI" panose="020B0502040204020203" pitchFamily="34" charset="-120"/>
              </a:rPr>
              <a:t>Achievement Gallery: Displays verified eco-challenges, badges, and verified progress.</a:t>
            </a:r>
            <a:endParaRPr lang="en-US" sz="1250" dirty="0"/>
          </a:p>
        </p:txBody>
      </p:sp>
      <p:sp>
        <p:nvSpPr>
          <p:cNvPr id="18" name="Shape 10"/>
          <p:cNvSpPr/>
          <p:nvPr/>
        </p:nvSpPr>
        <p:spPr>
          <a:xfrm>
            <a:off x="5943600" y="1737360"/>
            <a:ext cx="5532120" cy="4297680"/>
          </a:xfrm>
          <a:prstGeom prst="roundRect">
            <a:avLst>
              <a:gd name="adj" fmla="val 2128"/>
            </a:avLst>
          </a:prstGeom>
          <a:solidFill>
            <a:srgbClr val="FFFFFF"/>
          </a:solidFill>
          <a:effectLst>
            <a:outerShdw blurRad="101600" dist="38100" dir="2700000" algn="bl" rotWithShape="0">
              <a:srgbClr val="000000">
                <a:alpha val="12000"/>
              </a:srgbClr>
            </a:outerShdw>
          </a:effectLst>
        </p:spPr>
      </p:sp>
      <p:sp>
        <p:nvSpPr>
          <p:cNvPr id="19" name="Shape 11"/>
          <p:cNvSpPr/>
          <p:nvPr/>
        </p:nvSpPr>
        <p:spPr>
          <a:xfrm>
            <a:off x="6172200" y="1938528"/>
            <a:ext cx="502920" cy="502920"/>
          </a:xfrm>
          <a:prstGeom prst="ellipse">
            <a:avLst/>
          </a:prstGeom>
          <a:solidFill>
            <a:srgbClr val="156D4F"/>
          </a:solidFill>
          <a:effectLst>
            <a:outerShdw blurRad="76200" dist="25400" dir="2700000" algn="bl" rotWithShape="0">
              <a:srgbClr val="000000">
                <a:alpha val="8000"/>
              </a:srgbClr>
            </a:outerShdw>
          </a:effectLst>
        </p:spPr>
      </p:sp>
      <p:pic>
        <p:nvPicPr>
          <p:cNvPr id="20" name="Image 6" descr="./icons/server_white.png"/>
          <p:cNvPicPr>
            <a:picLocks noChangeAspect="1"/>
          </p:cNvPicPr>
          <p:nvPr/>
        </p:nvPicPr>
        <p:blipFill>
          <a:blip r:embed="rId3"/>
          <a:stretch>
            <a:fillRect/>
          </a:stretch>
        </p:blipFill>
        <p:spPr>
          <a:xfrm>
            <a:off x="6302959" y="2069287"/>
            <a:ext cx="241402" cy="241402"/>
          </a:xfrm>
          <a:prstGeom prst="rect">
            <a:avLst/>
          </a:prstGeom>
        </p:spPr>
      </p:pic>
      <p:sp>
        <p:nvSpPr>
          <p:cNvPr id="21" name="Text 12"/>
          <p:cNvSpPr/>
          <p:nvPr/>
        </p:nvSpPr>
        <p:spPr>
          <a:xfrm>
            <a:off x="6766560" y="1901952"/>
            <a:ext cx="4480560" cy="365760"/>
          </a:xfrm>
          <a:prstGeom prst="rect">
            <a:avLst/>
          </a:prstGeom>
          <a:noFill/>
        </p:spPr>
        <p:txBody>
          <a:bodyPr wrap="square" lIns="0" tIns="0" rIns="0" bIns="0" rtlCol="0" anchor="ctr"/>
          <a:lstStyle/>
          <a:p>
            <a:pPr marL="0" indent="0">
              <a:buNone/>
            </a:pPr>
            <a:r>
              <a:rPr lang="en-US" sz="1750" b="1" dirty="0">
                <a:solidFill>
                  <a:srgbClr val="156D4F"/>
                </a:solidFill>
                <a:latin typeface="Segoe UI" panose="020B0502040204020203" pitchFamily="34" charset="0"/>
                <a:ea typeface="Segoe UI" panose="020B0502040204020203" pitchFamily="34" charset="-122"/>
                <a:cs typeface="Segoe UI" panose="020B0502040204020203" pitchFamily="34" charset="-120"/>
              </a:rPr>
              <a:t>Next.js Admin &amp; Web Portal</a:t>
            </a:r>
            <a:endParaRPr lang="en-US" sz="1750" dirty="0"/>
          </a:p>
        </p:txBody>
      </p:sp>
      <p:sp>
        <p:nvSpPr>
          <p:cNvPr id="22" name="Text 13"/>
          <p:cNvSpPr/>
          <p:nvPr/>
        </p:nvSpPr>
        <p:spPr>
          <a:xfrm>
            <a:off x="6766560" y="2267712"/>
            <a:ext cx="4480560" cy="228600"/>
          </a:xfrm>
          <a:prstGeom prst="rect">
            <a:avLst/>
          </a:prstGeom>
          <a:noFill/>
        </p:spPr>
        <p:txBody>
          <a:bodyPr wrap="square" lIns="0" tIns="0" rIns="0" bIns="0" rtlCol="0" anchor="ctr"/>
          <a:lstStyle/>
          <a:p>
            <a:pPr marL="0" indent="0">
              <a:buNone/>
            </a:pPr>
            <a:r>
              <a:rPr lang="en-US" sz="1300" b="1" kern="0" spc="100" dirty="0">
                <a:solidFill>
                  <a:srgbClr val="57926E"/>
                </a:solidFill>
                <a:latin typeface="Segoe UI" panose="020B0502040204020203" pitchFamily="34" charset="0"/>
                <a:ea typeface="Segoe UI" panose="020B0502040204020203" pitchFamily="34" charset="-122"/>
                <a:cs typeface="Segoe UI" panose="020B0502040204020203" pitchFamily="34" charset="-120"/>
              </a:rPr>
              <a:t>ADMINISTRATION, REPORTS &amp; AUDITING</a:t>
            </a:r>
            <a:endParaRPr lang="en-US" sz="1300" dirty="0"/>
          </a:p>
        </p:txBody>
      </p:sp>
      <p:pic>
        <p:nvPicPr>
          <p:cNvPr id="23" name="Image 7" descr="./icons/check_dark.png"/>
          <p:cNvPicPr>
            <a:picLocks noChangeAspect="1"/>
          </p:cNvPicPr>
          <p:nvPr/>
        </p:nvPicPr>
        <p:blipFill>
          <a:blip r:embed="rId2"/>
          <a:stretch>
            <a:fillRect/>
          </a:stretch>
        </p:blipFill>
        <p:spPr>
          <a:xfrm>
            <a:off x="6172200" y="2770632"/>
            <a:ext cx="164592" cy="164592"/>
          </a:xfrm>
          <a:prstGeom prst="rect">
            <a:avLst/>
          </a:prstGeom>
        </p:spPr>
      </p:pic>
      <p:sp>
        <p:nvSpPr>
          <p:cNvPr id="24" name="Text 14"/>
          <p:cNvSpPr/>
          <p:nvPr/>
        </p:nvSpPr>
        <p:spPr>
          <a:xfrm>
            <a:off x="6446520" y="2743200"/>
            <a:ext cx="4846320" cy="502920"/>
          </a:xfrm>
          <a:prstGeom prst="rect">
            <a:avLst/>
          </a:prstGeom>
          <a:noFill/>
        </p:spPr>
        <p:txBody>
          <a:bodyPr wrap="square" lIns="0" tIns="0" rIns="0" bIns="0" rtlCol="0" anchor="ctr"/>
          <a:lstStyle/>
          <a:p>
            <a:pPr marL="0" indent="0" algn="just">
              <a:lnSpc>
                <a:spcPct val="118000"/>
              </a:lnSpc>
              <a:buNone/>
            </a:pPr>
            <a:r>
              <a:rPr lang="en-US" sz="1200" dirty="0">
                <a:solidFill>
                  <a:srgbClr val="364327"/>
                </a:solidFill>
                <a:latin typeface="Segoe UI" panose="020B0502040204020203" pitchFamily="34" charset="0"/>
                <a:ea typeface="Segoe UI" panose="020B0502040204020203" pitchFamily="34" charset="-122"/>
                <a:cs typeface="Segoe UI" panose="020B0502040204020203" pitchFamily="34" charset="-120"/>
              </a:rPr>
              <a:t>Colleges &amp; Communities: Aggregates campus sustainability stats and overall carbon reduction indicators.</a:t>
            </a:r>
            <a:endParaRPr lang="en-US" sz="1200" dirty="0"/>
          </a:p>
        </p:txBody>
      </p:sp>
      <p:pic>
        <p:nvPicPr>
          <p:cNvPr id="25" name="Image 8" descr="./icons/check_dark.png"/>
          <p:cNvPicPr>
            <a:picLocks noChangeAspect="1"/>
          </p:cNvPicPr>
          <p:nvPr/>
        </p:nvPicPr>
        <p:blipFill>
          <a:blip r:embed="rId2"/>
          <a:stretch>
            <a:fillRect/>
          </a:stretch>
        </p:blipFill>
        <p:spPr>
          <a:xfrm>
            <a:off x="6172200" y="3282696"/>
            <a:ext cx="164592" cy="164592"/>
          </a:xfrm>
          <a:prstGeom prst="rect">
            <a:avLst/>
          </a:prstGeom>
        </p:spPr>
      </p:pic>
      <p:sp>
        <p:nvSpPr>
          <p:cNvPr id="26" name="Text 15"/>
          <p:cNvSpPr/>
          <p:nvPr/>
        </p:nvSpPr>
        <p:spPr>
          <a:xfrm>
            <a:off x="6446520" y="3255264"/>
            <a:ext cx="4846320" cy="502920"/>
          </a:xfrm>
          <a:prstGeom prst="rect">
            <a:avLst/>
          </a:prstGeom>
          <a:noFill/>
        </p:spPr>
        <p:txBody>
          <a:bodyPr wrap="square" lIns="0" tIns="0" rIns="0" bIns="0" rtlCol="0" anchor="ctr"/>
          <a:lstStyle/>
          <a:p>
            <a:pPr marL="0" indent="0" algn="just">
              <a:lnSpc>
                <a:spcPct val="118000"/>
              </a:lnSpc>
              <a:buNone/>
            </a:pPr>
            <a:r>
              <a:rPr lang="en-US" sz="1200" dirty="0">
                <a:solidFill>
                  <a:srgbClr val="364327"/>
                </a:solidFill>
                <a:latin typeface="Segoe UI" panose="020B0502040204020203" pitchFamily="34" charset="0"/>
                <a:ea typeface="Segoe UI" panose="020B0502040204020203" pitchFamily="34" charset="-122"/>
                <a:cs typeface="Segoe UI" panose="020B0502040204020203" pitchFamily="34" charset="-120"/>
              </a:rPr>
              <a:t>Verification Console: Validates uploaded images, geolocations, and QR codes of user eco-activities.</a:t>
            </a:r>
            <a:endParaRPr lang="en-US" sz="1200" dirty="0"/>
          </a:p>
        </p:txBody>
      </p:sp>
      <p:pic>
        <p:nvPicPr>
          <p:cNvPr id="27" name="Image 9" descr="./icons/check_dark.png"/>
          <p:cNvPicPr>
            <a:picLocks noChangeAspect="1"/>
          </p:cNvPicPr>
          <p:nvPr/>
        </p:nvPicPr>
        <p:blipFill>
          <a:blip r:embed="rId2"/>
          <a:stretch>
            <a:fillRect/>
          </a:stretch>
        </p:blipFill>
        <p:spPr>
          <a:xfrm>
            <a:off x="6172200" y="3794760"/>
            <a:ext cx="164592" cy="164592"/>
          </a:xfrm>
          <a:prstGeom prst="rect">
            <a:avLst/>
          </a:prstGeom>
        </p:spPr>
      </p:pic>
      <p:sp>
        <p:nvSpPr>
          <p:cNvPr id="28" name="Text 16"/>
          <p:cNvSpPr/>
          <p:nvPr/>
        </p:nvSpPr>
        <p:spPr>
          <a:xfrm>
            <a:off x="6446520" y="3767328"/>
            <a:ext cx="4846320" cy="502920"/>
          </a:xfrm>
          <a:prstGeom prst="rect">
            <a:avLst/>
          </a:prstGeom>
          <a:noFill/>
        </p:spPr>
        <p:txBody>
          <a:bodyPr wrap="square" lIns="0" tIns="0" rIns="0" bIns="0" rtlCol="0" anchor="ctr"/>
          <a:lstStyle/>
          <a:p>
            <a:pPr marL="0" indent="0" algn="just">
              <a:lnSpc>
                <a:spcPct val="118000"/>
              </a:lnSpc>
              <a:buNone/>
            </a:pPr>
            <a:r>
              <a:rPr lang="en-US" sz="1200" dirty="0">
                <a:solidFill>
                  <a:srgbClr val="364327"/>
                </a:solidFill>
                <a:latin typeface="Segoe UI" panose="020B0502040204020203" pitchFamily="34" charset="0"/>
                <a:ea typeface="Segoe UI" panose="020B0502040204020203" pitchFamily="34" charset="-122"/>
                <a:cs typeface="Segoe UI" panose="020B0502040204020203" pitchFamily="34" charset="-120"/>
              </a:rPr>
              <a:t>PDF Report Generator: Utilizes Apache PDFBox to compile and export detailed environmental profiles.</a:t>
            </a:r>
            <a:endParaRPr lang="en-US" sz="1200" dirty="0"/>
          </a:p>
        </p:txBody>
      </p:sp>
      <p:pic>
        <p:nvPicPr>
          <p:cNvPr id="29" name="Image 10" descr="./icons/check_dark.png"/>
          <p:cNvPicPr>
            <a:picLocks noChangeAspect="1"/>
          </p:cNvPicPr>
          <p:nvPr/>
        </p:nvPicPr>
        <p:blipFill>
          <a:blip r:embed="rId2"/>
          <a:stretch>
            <a:fillRect/>
          </a:stretch>
        </p:blipFill>
        <p:spPr>
          <a:xfrm>
            <a:off x="6172200" y="4306824"/>
            <a:ext cx="164592" cy="164592"/>
          </a:xfrm>
          <a:prstGeom prst="rect">
            <a:avLst/>
          </a:prstGeom>
        </p:spPr>
      </p:pic>
      <p:sp>
        <p:nvSpPr>
          <p:cNvPr id="30" name="Text 17"/>
          <p:cNvSpPr/>
          <p:nvPr/>
        </p:nvSpPr>
        <p:spPr>
          <a:xfrm>
            <a:off x="6446520" y="4279392"/>
            <a:ext cx="4846320" cy="502920"/>
          </a:xfrm>
          <a:prstGeom prst="rect">
            <a:avLst/>
          </a:prstGeom>
          <a:noFill/>
        </p:spPr>
        <p:txBody>
          <a:bodyPr wrap="square" lIns="0" tIns="0" rIns="0" bIns="0" rtlCol="0" anchor="ctr"/>
          <a:lstStyle/>
          <a:p>
            <a:pPr marL="0" indent="0" algn="just">
              <a:lnSpc>
                <a:spcPct val="118000"/>
              </a:lnSpc>
              <a:buNone/>
            </a:pPr>
            <a:r>
              <a:rPr lang="en-US" sz="1200" dirty="0">
                <a:solidFill>
                  <a:srgbClr val="364327"/>
                </a:solidFill>
                <a:latin typeface="Segoe UI" panose="020B0502040204020203" pitchFamily="34" charset="0"/>
                <a:ea typeface="Segoe UI" panose="020B0502040204020203" pitchFamily="34" charset="-122"/>
                <a:cs typeface="Segoe UI" panose="020B0502040204020203" pitchFamily="34" charset="-120"/>
              </a:rPr>
              <a:t>Coaching Configuration: System Admin interface to feed knowledge rules and update assistant prompts.</a:t>
            </a:r>
            <a:endParaRPr lang="en-US" sz="1200" dirty="0"/>
          </a:p>
        </p:txBody>
      </p:sp>
      <p:pic>
        <p:nvPicPr>
          <p:cNvPr id="31" name="Image 11" descr="./icons/check_dark.png"/>
          <p:cNvPicPr>
            <a:picLocks noChangeAspect="1"/>
          </p:cNvPicPr>
          <p:nvPr/>
        </p:nvPicPr>
        <p:blipFill>
          <a:blip r:embed="rId2"/>
          <a:stretch>
            <a:fillRect/>
          </a:stretch>
        </p:blipFill>
        <p:spPr>
          <a:xfrm>
            <a:off x="6172200" y="4818888"/>
            <a:ext cx="164592" cy="164592"/>
          </a:xfrm>
          <a:prstGeom prst="rect">
            <a:avLst/>
          </a:prstGeom>
        </p:spPr>
      </p:pic>
      <p:sp>
        <p:nvSpPr>
          <p:cNvPr id="32" name="Text 18"/>
          <p:cNvSpPr/>
          <p:nvPr/>
        </p:nvSpPr>
        <p:spPr>
          <a:xfrm>
            <a:off x="6446520" y="4791456"/>
            <a:ext cx="4846320" cy="502920"/>
          </a:xfrm>
          <a:prstGeom prst="rect">
            <a:avLst/>
          </a:prstGeom>
          <a:noFill/>
        </p:spPr>
        <p:txBody>
          <a:bodyPr wrap="square" lIns="0" tIns="0" rIns="0" bIns="0" rtlCol="0" anchor="ctr"/>
          <a:lstStyle/>
          <a:p>
            <a:pPr marL="0" indent="0" algn="just">
              <a:lnSpc>
                <a:spcPct val="118000"/>
              </a:lnSpc>
              <a:buNone/>
            </a:pPr>
            <a:r>
              <a:rPr lang="en-US" sz="1200" dirty="0">
                <a:solidFill>
                  <a:srgbClr val="364327"/>
                </a:solidFill>
                <a:latin typeface="Segoe UI" panose="020B0502040204020203" pitchFamily="34" charset="0"/>
                <a:ea typeface="Segoe UI" panose="020B0502040204020203" pitchFamily="34" charset="-122"/>
                <a:cs typeface="Segoe UI" panose="020B0502040204020203" pitchFamily="34" charset="-120"/>
              </a:rPr>
              <a:t>External API Health: Monitors connectivity to weather services, air quality APIs, and geocoders.</a:t>
            </a:r>
            <a:endParaRPr lang="en-US" sz="1200" dirty="0"/>
          </a:p>
        </p:txBody>
      </p:sp>
      <p:pic>
        <p:nvPicPr>
          <p:cNvPr id="33" name="Image 12" descr="./icons/check_dark.png"/>
          <p:cNvPicPr>
            <a:picLocks noChangeAspect="1"/>
          </p:cNvPicPr>
          <p:nvPr/>
        </p:nvPicPr>
        <p:blipFill>
          <a:blip r:embed="rId2"/>
          <a:stretch>
            <a:fillRect/>
          </a:stretch>
        </p:blipFill>
        <p:spPr>
          <a:xfrm>
            <a:off x="6172200" y="5330952"/>
            <a:ext cx="164592" cy="164592"/>
          </a:xfrm>
          <a:prstGeom prst="rect">
            <a:avLst/>
          </a:prstGeom>
        </p:spPr>
      </p:pic>
      <p:sp>
        <p:nvSpPr>
          <p:cNvPr id="34" name="Text 19"/>
          <p:cNvSpPr/>
          <p:nvPr/>
        </p:nvSpPr>
        <p:spPr>
          <a:xfrm>
            <a:off x="6446520" y="5303520"/>
            <a:ext cx="4846320" cy="502920"/>
          </a:xfrm>
          <a:prstGeom prst="rect">
            <a:avLst/>
          </a:prstGeom>
          <a:noFill/>
        </p:spPr>
        <p:txBody>
          <a:bodyPr wrap="square" lIns="0" tIns="0" rIns="0" bIns="0" rtlCol="0" anchor="ctr"/>
          <a:lstStyle/>
          <a:p>
            <a:pPr marL="0" indent="0" algn="just">
              <a:lnSpc>
                <a:spcPct val="118000"/>
              </a:lnSpc>
              <a:buNone/>
            </a:pPr>
            <a:r>
              <a:rPr lang="en-US" sz="1200" dirty="0">
                <a:solidFill>
                  <a:srgbClr val="364327"/>
                </a:solidFill>
                <a:latin typeface="Segoe UI" panose="020B0502040204020203" pitchFamily="34" charset="0"/>
                <a:ea typeface="Segoe UI" panose="020B0502040204020203" pitchFamily="34" charset="-122"/>
                <a:cs typeface="Segoe UI" panose="020B0502040204020203" pitchFamily="34" charset="-120"/>
              </a:rPr>
              <a:t>EAS Notifications: Coordinates push notifications and emails to dispatch environmental warnings.</a:t>
            </a:r>
            <a:endParaRPr lang="en-US" sz="1200" dirty="0"/>
          </a:p>
        </p:txBody>
      </p:sp>
      <p:sp>
        <p:nvSpPr>
          <p:cNvPr id="35" name="Shape 20"/>
          <p:cNvSpPr/>
          <p:nvPr/>
        </p:nvSpPr>
        <p:spPr>
          <a:xfrm>
            <a:off x="530352" y="6364224"/>
            <a:ext cx="237744" cy="237744"/>
          </a:xfrm>
          <a:prstGeom prst="ellipse">
            <a:avLst/>
          </a:prstGeom>
          <a:solidFill>
            <a:srgbClr val="156D4F"/>
          </a:solidFill>
        </p:spPr>
      </p:sp>
      <p:pic>
        <p:nvPicPr>
          <p:cNvPr id="36" name="Image 13" descr="./icons/arrow_left_white.png">
            <a:hlinkClick r:id="rId4" action="ppaction://hlinksldjump"/>
          </p:cNvPr>
          <p:cNvPicPr>
            <a:picLocks noChangeAspect="1"/>
          </p:cNvPicPr>
          <p:nvPr/>
        </p:nvPicPr>
        <p:blipFill>
          <a:blip r:embed="rId5"/>
          <a:stretch>
            <a:fillRect/>
          </a:stretch>
        </p:blipFill>
        <p:spPr>
          <a:xfrm>
            <a:off x="548640" y="6382512"/>
            <a:ext cx="201168" cy="201168"/>
          </a:xfrm>
          <a:prstGeom prst="rect">
            <a:avLst/>
          </a:prstGeom>
        </p:spPr>
      </p:pic>
      <p:sp>
        <p:nvSpPr>
          <p:cNvPr id="37" name="Shape 21">
            <a:hlinkClick r:id="rId4" action="ppaction://hlinksldjump"/>
          </p:cNvPr>
          <p:cNvSpPr/>
          <p:nvPr/>
        </p:nvSpPr>
        <p:spPr>
          <a:xfrm>
            <a:off x="530352" y="6355080"/>
            <a:ext cx="2377440" cy="365760"/>
          </a:xfrm>
          <a:prstGeom prst="rect">
            <a:avLst/>
          </a:prstGeom>
          <a:solidFill>
            <a:srgbClr val="364327">
              <a:alpha val="0"/>
            </a:srgbClr>
          </a:solidFill>
        </p:spPr>
      </p:sp>
      <p:sp>
        <p:nvSpPr>
          <p:cNvPr id="38" name="Text 22">
            <a:hlinkClick r:id="rId4" action="ppaction://hlinksldjump"/>
          </p:cNvPr>
          <p:cNvSpPr/>
          <p:nvPr/>
        </p:nvSpPr>
        <p:spPr>
          <a:xfrm>
            <a:off x="841248" y="6355080"/>
            <a:ext cx="2377440" cy="365760"/>
          </a:xfrm>
          <a:prstGeom prst="rect">
            <a:avLst/>
          </a:prstGeom>
          <a:noFill/>
        </p:spPr>
        <p:txBody>
          <a:bodyPr wrap="square" lIns="0" tIns="0" rIns="0" bIns="0" rtlCol="0" anchor="ctr"/>
          <a:lstStyle/>
          <a:p>
            <a:pPr marL="0" indent="0">
              <a:buNone/>
            </a:pPr>
            <a:r>
              <a:rPr lang="en-US" sz="1100" b="1" u="sng" dirty="0">
                <a:solidFill>
                  <a:srgbClr val="156D4F"/>
                </a:solidFill>
                <a:latin typeface="Segoe UI" panose="020B0502040204020203" pitchFamily="34" charset="0"/>
                <a:ea typeface="Segoe UI" panose="020B0502040204020203" pitchFamily="34" charset="-122"/>
                <a:cs typeface="Segoe UI" panose="020B0502040204020203" pitchFamily="34" charset="-120"/>
                <a:hlinkClick r:id="rId4" action="ppaction://hlinksldjump"/>
              </a:rPr>
              <a:t>BACK TO REVIEW BOARD</a:t>
            </a:r>
            <a:endParaRPr lang="en-US" sz="1100" dirty="0"/>
          </a:p>
        </p:txBody>
      </p:sp>
      <p:sp>
        <p:nvSpPr>
          <p:cNvPr id="39" name="Text 23"/>
          <p:cNvSpPr/>
          <p:nvPr/>
        </p:nvSpPr>
        <p:spPr>
          <a:xfrm>
            <a:off x="8595360" y="6382512"/>
            <a:ext cx="3017520" cy="274320"/>
          </a:xfrm>
          <a:prstGeom prst="rect">
            <a:avLst/>
          </a:prstGeom>
          <a:noFill/>
        </p:spPr>
        <p:txBody>
          <a:bodyPr wrap="square" lIns="0" tIns="0" rIns="0" bIns="0" rtlCol="0" anchor="ctr"/>
          <a:lstStyle/>
          <a:p>
            <a:pPr marL="0" indent="0" algn="r">
              <a:buNone/>
            </a:pPr>
            <a:r>
              <a:rPr lang="en-US" sz="1000" dirty="0">
                <a:solidFill>
                  <a:srgbClr val="364327"/>
                </a:solidFill>
                <a:latin typeface="Segoe UI" panose="020B0502040204020203" pitchFamily="34" charset="0"/>
                <a:ea typeface="Segoe UI" panose="020B0502040204020203" pitchFamily="34" charset="-122"/>
                <a:cs typeface="Segoe UI" panose="020B0502040204020203" pitchFamily="34" charset="-120"/>
              </a:rPr>
              <a:t>EcoSphere · Frontend Applications</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C7C396"/>
        </a:solidFill>
        <a:effectLst/>
      </p:bgPr>
    </p:bg>
    <p:spTree>
      <p:nvGrpSpPr>
        <p:cNvPr id="1" name=""/>
        <p:cNvGrpSpPr/>
        <p:nvPr/>
      </p:nvGrpSpPr>
      <p:grpSpPr>
        <a:xfrm>
          <a:off x="0" y="0"/>
          <a:ext cx="0" cy="0"/>
          <a:chOff x="0" y="0"/>
          <a:chExt cx="0" cy="0"/>
        </a:xfrm>
      </p:grpSpPr>
      <p:sp>
        <p:nvSpPr>
          <p:cNvPr id="2" name="Text 0"/>
          <p:cNvSpPr/>
          <p:nvPr/>
        </p:nvSpPr>
        <p:spPr>
          <a:xfrm>
            <a:off x="548640" y="384048"/>
            <a:ext cx="8229600" cy="274320"/>
          </a:xfrm>
          <a:prstGeom prst="rect">
            <a:avLst/>
          </a:prstGeom>
          <a:noFill/>
        </p:spPr>
        <p:txBody>
          <a:bodyPr wrap="square" lIns="0" tIns="0" rIns="0" bIns="0" rtlCol="0" anchor="ctr"/>
          <a:lstStyle/>
          <a:p>
            <a:pPr marL="0" indent="0">
              <a:buNone/>
            </a:pPr>
            <a:r>
              <a:rPr lang="en-US" sz="1200" b="1" kern="0" spc="200" dirty="0">
                <a:solidFill>
                  <a:srgbClr val="156D4F"/>
                </a:solidFill>
                <a:latin typeface="Segoe UI" panose="020B0502040204020203" pitchFamily="34" charset="0"/>
                <a:ea typeface="Segoe UI" panose="020B0502040204020203" pitchFamily="34" charset="-122"/>
                <a:cs typeface="Segoe UI" panose="020B0502040204020203" pitchFamily="34" charset="-120"/>
              </a:rPr>
              <a:t>SECTION 04B · BACKEND MIDDLEWARE</a:t>
            </a:r>
            <a:endParaRPr lang="en-US" sz="1200" dirty="0"/>
          </a:p>
        </p:txBody>
      </p:sp>
      <p:sp>
        <p:nvSpPr>
          <p:cNvPr id="3" name="Text 1"/>
          <p:cNvSpPr/>
          <p:nvPr/>
        </p:nvSpPr>
        <p:spPr>
          <a:xfrm>
            <a:off x="548640" y="640080"/>
            <a:ext cx="9601200" cy="640080"/>
          </a:xfrm>
          <a:prstGeom prst="rect">
            <a:avLst/>
          </a:prstGeom>
          <a:noFill/>
        </p:spPr>
        <p:txBody>
          <a:bodyPr wrap="square" lIns="0" tIns="0" rIns="0" bIns="0" rtlCol="0" anchor="ctr"/>
          <a:lstStyle/>
          <a:p>
            <a:pPr marL="0" indent="0">
              <a:buNone/>
            </a:pPr>
            <a:r>
              <a:rPr lang="en-US" sz="2800" b="1" dirty="0">
                <a:solidFill>
                  <a:srgbClr val="156D4F"/>
                </a:solidFill>
                <a:latin typeface="Georgia" panose="02040502050405020303" pitchFamily="34" charset="0"/>
                <a:ea typeface="Georgia" panose="02040502050405020303" pitchFamily="34" charset="-122"/>
                <a:cs typeface="Georgia" panose="02040502050405020303" pitchFamily="34" charset="-120"/>
              </a:rPr>
              <a:t>Spring Boot API Gateway &amp; ML Forecasting Backend</a:t>
            </a:r>
            <a:endParaRPr lang="en-US" sz="2800" dirty="0"/>
          </a:p>
        </p:txBody>
      </p:sp>
      <p:sp>
        <p:nvSpPr>
          <p:cNvPr id="4" name="Shape 2"/>
          <p:cNvSpPr/>
          <p:nvPr/>
        </p:nvSpPr>
        <p:spPr>
          <a:xfrm>
            <a:off x="548640" y="1737360"/>
            <a:ext cx="5166360" cy="4297680"/>
          </a:xfrm>
          <a:prstGeom prst="roundRect">
            <a:avLst>
              <a:gd name="adj" fmla="val 2128"/>
            </a:avLst>
          </a:prstGeom>
          <a:solidFill>
            <a:srgbClr val="FFFFFF"/>
          </a:solidFill>
          <a:effectLst>
            <a:outerShdw blurRad="76200" dist="25400" dir="2700000" algn="bl" rotWithShape="0">
              <a:srgbClr val="000000">
                <a:alpha val="8000"/>
              </a:srgbClr>
            </a:outerShdw>
          </a:effectLst>
        </p:spPr>
      </p:sp>
      <p:sp>
        <p:nvSpPr>
          <p:cNvPr id="5" name="Shape 3"/>
          <p:cNvSpPr/>
          <p:nvPr/>
        </p:nvSpPr>
        <p:spPr>
          <a:xfrm>
            <a:off x="777240" y="1938528"/>
            <a:ext cx="502920" cy="502920"/>
          </a:xfrm>
          <a:prstGeom prst="ellipse">
            <a:avLst/>
          </a:prstGeom>
          <a:solidFill>
            <a:srgbClr val="156D4F"/>
          </a:solidFill>
          <a:effectLst>
            <a:outerShdw blurRad="76200" dist="25400" dir="2700000" algn="bl" rotWithShape="0">
              <a:srgbClr val="000000">
                <a:alpha val="8000"/>
              </a:srgbClr>
            </a:outerShdw>
          </a:effectLst>
        </p:spPr>
      </p:sp>
      <p:pic>
        <p:nvPicPr>
          <p:cNvPr id="6" name="Image 0" descr="./icons/flask_white.png"/>
          <p:cNvPicPr>
            <a:picLocks noChangeAspect="1"/>
          </p:cNvPicPr>
          <p:nvPr/>
        </p:nvPicPr>
        <p:blipFill>
          <a:blip r:embed="rId1"/>
          <a:stretch>
            <a:fillRect/>
          </a:stretch>
        </p:blipFill>
        <p:spPr>
          <a:xfrm>
            <a:off x="907999" y="2069287"/>
            <a:ext cx="241402" cy="241402"/>
          </a:xfrm>
          <a:prstGeom prst="rect">
            <a:avLst/>
          </a:prstGeom>
        </p:spPr>
      </p:pic>
      <p:sp>
        <p:nvSpPr>
          <p:cNvPr id="7" name="Text 4"/>
          <p:cNvSpPr/>
          <p:nvPr/>
        </p:nvSpPr>
        <p:spPr>
          <a:xfrm>
            <a:off x="1371600" y="1901952"/>
            <a:ext cx="4206240" cy="548640"/>
          </a:xfrm>
          <a:prstGeom prst="rect">
            <a:avLst/>
          </a:prstGeom>
          <a:noFill/>
        </p:spPr>
        <p:txBody>
          <a:bodyPr wrap="square" lIns="0" tIns="0" rIns="0" bIns="0" rtlCol="0" anchor="ctr"/>
          <a:lstStyle/>
          <a:p>
            <a:pPr marL="0" indent="0">
              <a:buNone/>
            </a:pPr>
            <a:r>
              <a:rPr lang="en-US" sz="1750" b="1" dirty="0">
                <a:solidFill>
                  <a:srgbClr val="156D4F"/>
                </a:solidFill>
                <a:latin typeface="Segoe UI" panose="020B0502040204020203" pitchFamily="34" charset="0"/>
                <a:ea typeface="Segoe UI" panose="020B0502040204020203" pitchFamily="34" charset="-122"/>
                <a:cs typeface="Segoe UI" panose="020B0502040204020203" pitchFamily="34" charset="-120"/>
              </a:rPr>
              <a:t>Spring Boot Gateway Core</a:t>
            </a:r>
            <a:endParaRPr lang="en-US" sz="1750" dirty="0"/>
          </a:p>
        </p:txBody>
      </p:sp>
      <p:pic>
        <p:nvPicPr>
          <p:cNvPr id="8" name="Image 1" descr="./icons/check_dark.png"/>
          <p:cNvPicPr>
            <a:picLocks noChangeAspect="1"/>
          </p:cNvPicPr>
          <p:nvPr/>
        </p:nvPicPr>
        <p:blipFill>
          <a:blip r:embed="rId2"/>
          <a:stretch>
            <a:fillRect/>
          </a:stretch>
        </p:blipFill>
        <p:spPr>
          <a:xfrm>
            <a:off x="777240" y="2642616"/>
            <a:ext cx="164592" cy="164592"/>
          </a:xfrm>
          <a:prstGeom prst="rect">
            <a:avLst/>
          </a:prstGeom>
        </p:spPr>
      </p:pic>
      <p:sp>
        <p:nvSpPr>
          <p:cNvPr id="9" name="Text 5"/>
          <p:cNvSpPr/>
          <p:nvPr/>
        </p:nvSpPr>
        <p:spPr>
          <a:xfrm>
            <a:off x="1051560" y="2606040"/>
            <a:ext cx="4526280" cy="548640"/>
          </a:xfrm>
          <a:prstGeom prst="rect">
            <a:avLst/>
          </a:prstGeom>
          <a:noFill/>
        </p:spPr>
        <p:txBody>
          <a:bodyPr wrap="square" lIns="0" tIns="0" rIns="0" bIns="0" rtlCol="0" anchor="ctr"/>
          <a:lstStyle/>
          <a:p>
            <a:pPr marL="0" indent="0" algn="just">
              <a:lnSpc>
                <a:spcPct val="120000"/>
              </a:lnSpc>
              <a:buNone/>
            </a:pPr>
            <a:r>
              <a:rPr lang="en-US" sz="1250" dirty="0">
                <a:solidFill>
                  <a:srgbClr val="364327"/>
                </a:solidFill>
                <a:latin typeface="Segoe UI" panose="020B0502040204020203" pitchFamily="34" charset="0"/>
                <a:ea typeface="Segoe UI" panose="020B0502040204020203" pitchFamily="34" charset="-122"/>
                <a:cs typeface="Segoe UI" panose="020B0502040204020203" pitchFamily="34" charset="-120"/>
              </a:rPr>
              <a:t>REST Services: Exposes clean controllers for auth, user management, metrics, and challenges.</a:t>
            </a:r>
            <a:endParaRPr lang="en-US" sz="1250" dirty="0"/>
          </a:p>
        </p:txBody>
      </p:sp>
      <p:pic>
        <p:nvPicPr>
          <p:cNvPr id="10" name="Image 2" descr="./icons/check_dark.png"/>
          <p:cNvPicPr>
            <a:picLocks noChangeAspect="1"/>
          </p:cNvPicPr>
          <p:nvPr/>
        </p:nvPicPr>
        <p:blipFill>
          <a:blip r:embed="rId2"/>
          <a:stretch>
            <a:fillRect/>
          </a:stretch>
        </p:blipFill>
        <p:spPr>
          <a:xfrm>
            <a:off x="777240" y="3282696"/>
            <a:ext cx="164592" cy="164592"/>
          </a:xfrm>
          <a:prstGeom prst="rect">
            <a:avLst/>
          </a:prstGeom>
        </p:spPr>
      </p:pic>
      <p:sp>
        <p:nvSpPr>
          <p:cNvPr id="11" name="Text 6"/>
          <p:cNvSpPr/>
          <p:nvPr/>
        </p:nvSpPr>
        <p:spPr>
          <a:xfrm>
            <a:off x="1051560" y="3246120"/>
            <a:ext cx="4526280" cy="548640"/>
          </a:xfrm>
          <a:prstGeom prst="rect">
            <a:avLst/>
          </a:prstGeom>
          <a:noFill/>
        </p:spPr>
        <p:txBody>
          <a:bodyPr wrap="square" lIns="0" tIns="0" rIns="0" bIns="0" rtlCol="0" anchor="ctr"/>
          <a:lstStyle/>
          <a:p>
            <a:pPr marL="0" indent="0" algn="just">
              <a:lnSpc>
                <a:spcPct val="120000"/>
              </a:lnSpc>
              <a:buNone/>
            </a:pPr>
            <a:r>
              <a:rPr lang="en-US" sz="1250" dirty="0">
                <a:solidFill>
                  <a:srgbClr val="364327"/>
                </a:solidFill>
                <a:latin typeface="Segoe UI" panose="020B0502040204020203" pitchFamily="34" charset="0"/>
                <a:ea typeface="Segoe UI" panose="020B0502040204020203" pitchFamily="34" charset="-122"/>
                <a:cs typeface="Segoe UI" panose="020B0502040204020203" pitchFamily="34" charset="-120"/>
              </a:rPr>
              <a:t>JWT Security: Implements Spring Security with JWT tokens and RBAC (User, Institution, SysAdmin).</a:t>
            </a:r>
            <a:endParaRPr lang="en-US" sz="1250" dirty="0"/>
          </a:p>
        </p:txBody>
      </p:sp>
      <p:pic>
        <p:nvPicPr>
          <p:cNvPr id="12" name="Image 3" descr="./icons/check_dark.png"/>
          <p:cNvPicPr>
            <a:picLocks noChangeAspect="1"/>
          </p:cNvPicPr>
          <p:nvPr/>
        </p:nvPicPr>
        <p:blipFill>
          <a:blip r:embed="rId2"/>
          <a:stretch>
            <a:fillRect/>
          </a:stretch>
        </p:blipFill>
        <p:spPr>
          <a:xfrm>
            <a:off x="777240" y="3922776"/>
            <a:ext cx="164592" cy="164592"/>
          </a:xfrm>
          <a:prstGeom prst="rect">
            <a:avLst/>
          </a:prstGeom>
        </p:spPr>
      </p:pic>
      <p:sp>
        <p:nvSpPr>
          <p:cNvPr id="13" name="Text 7"/>
          <p:cNvSpPr/>
          <p:nvPr/>
        </p:nvSpPr>
        <p:spPr>
          <a:xfrm>
            <a:off x="1051560" y="3886200"/>
            <a:ext cx="4526280" cy="548640"/>
          </a:xfrm>
          <a:prstGeom prst="rect">
            <a:avLst/>
          </a:prstGeom>
          <a:noFill/>
        </p:spPr>
        <p:txBody>
          <a:bodyPr wrap="square" lIns="0" tIns="0" rIns="0" bIns="0" rtlCol="0" anchor="ctr"/>
          <a:lstStyle/>
          <a:p>
            <a:pPr marL="0" indent="0" algn="just">
              <a:lnSpc>
                <a:spcPct val="120000"/>
              </a:lnSpc>
              <a:buNone/>
            </a:pPr>
            <a:r>
              <a:rPr lang="en-US" sz="1250" dirty="0">
                <a:solidFill>
                  <a:srgbClr val="364327"/>
                </a:solidFill>
                <a:latin typeface="Segoe UI" panose="020B0502040204020203" pitchFamily="34" charset="0"/>
                <a:ea typeface="Segoe UI" panose="020B0502040204020203" pitchFamily="34" charset="-122"/>
                <a:cs typeface="Segoe UI" panose="020B0502040204020203" pitchFamily="34" charset="-120"/>
              </a:rPr>
              <a:t>Data Persistence: Utilizes Hibernate ORM and Spring Data JPA to talk to PostgreSQL databases.</a:t>
            </a:r>
            <a:endParaRPr lang="en-US" sz="1250" dirty="0"/>
          </a:p>
        </p:txBody>
      </p:sp>
      <p:pic>
        <p:nvPicPr>
          <p:cNvPr id="14" name="Image 4" descr="./icons/check_dark.png"/>
          <p:cNvPicPr>
            <a:picLocks noChangeAspect="1"/>
          </p:cNvPicPr>
          <p:nvPr/>
        </p:nvPicPr>
        <p:blipFill>
          <a:blip r:embed="rId2"/>
          <a:stretch>
            <a:fillRect/>
          </a:stretch>
        </p:blipFill>
        <p:spPr>
          <a:xfrm>
            <a:off x="777240" y="4562856"/>
            <a:ext cx="164592" cy="164592"/>
          </a:xfrm>
          <a:prstGeom prst="rect">
            <a:avLst/>
          </a:prstGeom>
        </p:spPr>
      </p:pic>
      <p:sp>
        <p:nvSpPr>
          <p:cNvPr id="15" name="Text 8"/>
          <p:cNvSpPr/>
          <p:nvPr/>
        </p:nvSpPr>
        <p:spPr>
          <a:xfrm>
            <a:off x="1051560" y="4526280"/>
            <a:ext cx="4526280" cy="548640"/>
          </a:xfrm>
          <a:prstGeom prst="rect">
            <a:avLst/>
          </a:prstGeom>
          <a:noFill/>
        </p:spPr>
        <p:txBody>
          <a:bodyPr wrap="square" lIns="0" tIns="0" rIns="0" bIns="0" rtlCol="0" anchor="ctr"/>
          <a:lstStyle/>
          <a:p>
            <a:pPr marL="0" indent="0" algn="just">
              <a:lnSpc>
                <a:spcPct val="120000"/>
              </a:lnSpc>
              <a:buNone/>
            </a:pPr>
            <a:r>
              <a:rPr lang="en-US" sz="1250" dirty="0">
                <a:solidFill>
                  <a:srgbClr val="364327"/>
                </a:solidFill>
                <a:latin typeface="Segoe UI" panose="020B0502040204020203" pitchFamily="34" charset="0"/>
                <a:ea typeface="Segoe UI" panose="020B0502040204020203" pitchFamily="34" charset="-122"/>
                <a:cs typeface="Segoe UI" panose="020B0502040204020203" pitchFamily="34" charset="-120"/>
              </a:rPr>
              <a:t>Background Scheduler: Spring Scheduler triggers monthly reports, cache updates, and reminders.</a:t>
            </a:r>
            <a:endParaRPr lang="en-US" sz="1250" dirty="0"/>
          </a:p>
        </p:txBody>
      </p:sp>
      <p:pic>
        <p:nvPicPr>
          <p:cNvPr id="16" name="Image 5" descr="./icons/check_dark.png"/>
          <p:cNvPicPr>
            <a:picLocks noChangeAspect="1"/>
          </p:cNvPicPr>
          <p:nvPr/>
        </p:nvPicPr>
        <p:blipFill>
          <a:blip r:embed="rId2"/>
          <a:stretch>
            <a:fillRect/>
          </a:stretch>
        </p:blipFill>
        <p:spPr>
          <a:xfrm>
            <a:off x="777240" y="5202936"/>
            <a:ext cx="164592" cy="164592"/>
          </a:xfrm>
          <a:prstGeom prst="rect">
            <a:avLst/>
          </a:prstGeom>
        </p:spPr>
      </p:pic>
      <p:sp>
        <p:nvSpPr>
          <p:cNvPr id="17" name="Text 9"/>
          <p:cNvSpPr/>
          <p:nvPr/>
        </p:nvSpPr>
        <p:spPr>
          <a:xfrm>
            <a:off x="1051560" y="5166360"/>
            <a:ext cx="4526280" cy="548640"/>
          </a:xfrm>
          <a:prstGeom prst="rect">
            <a:avLst/>
          </a:prstGeom>
          <a:noFill/>
        </p:spPr>
        <p:txBody>
          <a:bodyPr wrap="square" lIns="0" tIns="0" rIns="0" bIns="0" rtlCol="0" anchor="ctr"/>
          <a:lstStyle/>
          <a:p>
            <a:pPr marL="0" indent="0" algn="just">
              <a:lnSpc>
                <a:spcPct val="120000"/>
              </a:lnSpc>
              <a:buNone/>
            </a:pPr>
            <a:r>
              <a:rPr lang="en-US" sz="1250" dirty="0">
                <a:solidFill>
                  <a:srgbClr val="364327"/>
                </a:solidFill>
                <a:latin typeface="Segoe UI" panose="020B0502040204020203" pitchFamily="34" charset="0"/>
                <a:ea typeface="Segoe UI" panose="020B0502040204020203" pitchFamily="34" charset="-122"/>
                <a:cs typeface="Segoe UI" panose="020B0502040204020203" pitchFamily="34" charset="-120"/>
              </a:rPr>
              <a:t>Default-Deny Triggers: Rejects evidence approvals if geolocations or hash audits fail validation.</a:t>
            </a:r>
            <a:endParaRPr lang="en-US" sz="1250" dirty="0"/>
          </a:p>
        </p:txBody>
      </p:sp>
      <p:sp>
        <p:nvSpPr>
          <p:cNvPr id="18" name="Shape 10"/>
          <p:cNvSpPr/>
          <p:nvPr/>
        </p:nvSpPr>
        <p:spPr>
          <a:xfrm>
            <a:off x="5943600" y="1737360"/>
            <a:ext cx="5532120" cy="4297680"/>
          </a:xfrm>
          <a:prstGeom prst="roundRect">
            <a:avLst>
              <a:gd name="adj" fmla="val 2128"/>
            </a:avLst>
          </a:prstGeom>
          <a:solidFill>
            <a:srgbClr val="FFFFFF"/>
          </a:solidFill>
          <a:effectLst>
            <a:outerShdw blurRad="101600" dist="38100" dir="2700000" algn="bl" rotWithShape="0">
              <a:srgbClr val="000000">
                <a:alpha val="12000"/>
              </a:srgbClr>
            </a:outerShdw>
          </a:effectLst>
        </p:spPr>
      </p:sp>
      <p:sp>
        <p:nvSpPr>
          <p:cNvPr id="19" name="Shape 11"/>
          <p:cNvSpPr/>
          <p:nvPr/>
        </p:nvSpPr>
        <p:spPr>
          <a:xfrm>
            <a:off x="6172200" y="1938528"/>
            <a:ext cx="502920" cy="502920"/>
          </a:xfrm>
          <a:prstGeom prst="ellipse">
            <a:avLst/>
          </a:prstGeom>
          <a:solidFill>
            <a:srgbClr val="C7C396"/>
          </a:solidFill>
          <a:effectLst>
            <a:outerShdw blurRad="76200" dist="25400" dir="2700000" algn="bl" rotWithShape="0">
              <a:srgbClr val="000000">
                <a:alpha val="8000"/>
              </a:srgbClr>
            </a:outerShdw>
          </a:effectLst>
        </p:spPr>
      </p:sp>
      <p:pic>
        <p:nvPicPr>
          <p:cNvPr id="20" name="Image 6" descr="./icons/key_dark.png"/>
          <p:cNvPicPr>
            <a:picLocks noChangeAspect="1"/>
          </p:cNvPicPr>
          <p:nvPr/>
        </p:nvPicPr>
        <p:blipFill>
          <a:blip r:embed="rId3"/>
          <a:stretch>
            <a:fillRect/>
          </a:stretch>
        </p:blipFill>
        <p:spPr>
          <a:xfrm>
            <a:off x="6302959" y="2069287"/>
            <a:ext cx="241402" cy="241402"/>
          </a:xfrm>
          <a:prstGeom prst="rect">
            <a:avLst/>
          </a:prstGeom>
        </p:spPr>
      </p:pic>
      <p:sp>
        <p:nvSpPr>
          <p:cNvPr id="21" name="Text 12"/>
          <p:cNvSpPr/>
          <p:nvPr/>
        </p:nvSpPr>
        <p:spPr>
          <a:xfrm>
            <a:off x="6766560" y="1901952"/>
            <a:ext cx="4480560" cy="365760"/>
          </a:xfrm>
          <a:prstGeom prst="rect">
            <a:avLst/>
          </a:prstGeom>
          <a:noFill/>
        </p:spPr>
        <p:txBody>
          <a:bodyPr wrap="square" lIns="0" tIns="0" rIns="0" bIns="0" rtlCol="0" anchor="ctr"/>
          <a:lstStyle/>
          <a:p>
            <a:pPr marL="0" indent="0">
              <a:buNone/>
            </a:pPr>
            <a:r>
              <a:rPr lang="en-US" sz="1750" b="1" dirty="0">
                <a:solidFill>
                  <a:srgbClr val="156D4F"/>
                </a:solidFill>
                <a:latin typeface="Segoe UI" panose="020B0502040204020203" pitchFamily="34" charset="0"/>
                <a:ea typeface="Segoe UI" panose="020B0502040204020203" pitchFamily="34" charset="-122"/>
                <a:cs typeface="Segoe UI" panose="020B0502040204020203" pitchFamily="34" charset="-120"/>
              </a:rPr>
              <a:t>FastAPI Machine Learning Service</a:t>
            </a:r>
            <a:endParaRPr lang="en-US" sz="1750" dirty="0"/>
          </a:p>
        </p:txBody>
      </p:sp>
      <p:sp>
        <p:nvSpPr>
          <p:cNvPr id="22" name="Text 13"/>
          <p:cNvSpPr/>
          <p:nvPr/>
        </p:nvSpPr>
        <p:spPr>
          <a:xfrm>
            <a:off x="6766560" y="2267712"/>
            <a:ext cx="4480560" cy="228600"/>
          </a:xfrm>
          <a:prstGeom prst="rect">
            <a:avLst/>
          </a:prstGeom>
          <a:noFill/>
        </p:spPr>
        <p:txBody>
          <a:bodyPr wrap="square" lIns="0" tIns="0" rIns="0" bIns="0" rtlCol="0" anchor="ctr"/>
          <a:lstStyle/>
          <a:p>
            <a:pPr marL="0" indent="0">
              <a:buNone/>
            </a:pPr>
            <a:r>
              <a:rPr lang="en-US" sz="1300" b="1" kern="0" spc="100" dirty="0">
                <a:solidFill>
                  <a:srgbClr val="57926E"/>
                </a:solidFill>
                <a:latin typeface="Segoe UI" panose="020B0502040204020203" pitchFamily="34" charset="0"/>
                <a:ea typeface="Segoe UI" panose="020B0502040204020203" pitchFamily="34" charset="-122"/>
                <a:cs typeface="Segoe UI" panose="020B0502040204020203" pitchFamily="34" charset="-120"/>
              </a:rPr>
              <a:t>TIME-SERIES FORECASTING &amp; CACHE MANAGEMENT</a:t>
            </a:r>
            <a:endParaRPr lang="en-US" sz="1300" dirty="0"/>
          </a:p>
        </p:txBody>
      </p:sp>
      <p:pic>
        <p:nvPicPr>
          <p:cNvPr id="23" name="Image 7" descr="./icons/check_dark.png"/>
          <p:cNvPicPr>
            <a:picLocks noChangeAspect="1"/>
          </p:cNvPicPr>
          <p:nvPr/>
        </p:nvPicPr>
        <p:blipFill>
          <a:blip r:embed="rId2"/>
          <a:stretch>
            <a:fillRect/>
          </a:stretch>
        </p:blipFill>
        <p:spPr>
          <a:xfrm>
            <a:off x="6172200" y="2770632"/>
            <a:ext cx="164592" cy="164592"/>
          </a:xfrm>
          <a:prstGeom prst="rect">
            <a:avLst/>
          </a:prstGeom>
        </p:spPr>
      </p:pic>
      <p:sp>
        <p:nvSpPr>
          <p:cNvPr id="24" name="Text 14"/>
          <p:cNvSpPr/>
          <p:nvPr/>
        </p:nvSpPr>
        <p:spPr>
          <a:xfrm>
            <a:off x="6446520" y="2743200"/>
            <a:ext cx="4846320" cy="502920"/>
          </a:xfrm>
          <a:prstGeom prst="rect">
            <a:avLst/>
          </a:prstGeom>
          <a:noFill/>
        </p:spPr>
        <p:txBody>
          <a:bodyPr wrap="square" lIns="0" tIns="0" rIns="0" bIns="0" rtlCol="0" anchor="ctr"/>
          <a:lstStyle/>
          <a:p>
            <a:pPr marL="0" indent="0" algn="just">
              <a:lnSpc>
                <a:spcPct val="118000"/>
              </a:lnSpc>
              <a:buNone/>
            </a:pPr>
            <a:r>
              <a:rPr lang="en-US" sz="1200" dirty="0">
                <a:solidFill>
                  <a:srgbClr val="364327"/>
                </a:solidFill>
                <a:latin typeface="Segoe UI" panose="020B0502040204020203" pitchFamily="34" charset="0"/>
                <a:ea typeface="Segoe UI" panose="020B0502040204020203" pitchFamily="34" charset="-122"/>
                <a:cs typeface="Segoe UI" panose="020B0502040204020203" pitchFamily="34" charset="-120"/>
              </a:rPr>
              <a:t>FastAPI Integration: Exposes scikit-learn &amp; XGBoost regression models as REST services.</a:t>
            </a:r>
            <a:endParaRPr lang="en-US" sz="1200" dirty="0"/>
          </a:p>
        </p:txBody>
      </p:sp>
      <p:pic>
        <p:nvPicPr>
          <p:cNvPr id="25" name="Image 8" descr="./icons/check_dark.png"/>
          <p:cNvPicPr>
            <a:picLocks noChangeAspect="1"/>
          </p:cNvPicPr>
          <p:nvPr/>
        </p:nvPicPr>
        <p:blipFill>
          <a:blip r:embed="rId2"/>
          <a:stretch>
            <a:fillRect/>
          </a:stretch>
        </p:blipFill>
        <p:spPr>
          <a:xfrm>
            <a:off x="6172200" y="3282696"/>
            <a:ext cx="164592" cy="164592"/>
          </a:xfrm>
          <a:prstGeom prst="rect">
            <a:avLst/>
          </a:prstGeom>
        </p:spPr>
      </p:pic>
      <p:sp>
        <p:nvSpPr>
          <p:cNvPr id="26" name="Text 15"/>
          <p:cNvSpPr/>
          <p:nvPr/>
        </p:nvSpPr>
        <p:spPr>
          <a:xfrm>
            <a:off x="6446520" y="3255264"/>
            <a:ext cx="4846320" cy="502920"/>
          </a:xfrm>
          <a:prstGeom prst="rect">
            <a:avLst/>
          </a:prstGeom>
          <a:noFill/>
        </p:spPr>
        <p:txBody>
          <a:bodyPr wrap="square" lIns="0" tIns="0" rIns="0" bIns="0" rtlCol="0" anchor="ctr"/>
          <a:lstStyle/>
          <a:p>
            <a:pPr marL="0" indent="0" algn="just">
              <a:lnSpc>
                <a:spcPct val="118000"/>
              </a:lnSpc>
              <a:buNone/>
            </a:pPr>
            <a:r>
              <a:rPr lang="en-US" sz="1200" dirty="0">
                <a:solidFill>
                  <a:srgbClr val="364327"/>
                </a:solidFill>
                <a:latin typeface="Segoe UI" panose="020B0502040204020203" pitchFamily="34" charset="0"/>
                <a:ea typeface="Segoe UI" panose="020B0502040204020203" pitchFamily="34" charset="-122"/>
                <a:cs typeface="Segoe UI" panose="020B0502040204020203" pitchFamily="34" charset="-120"/>
              </a:rPr>
              <a:t>Footprint Forecasting: Calculates predictions for carbon, water, and power footprint metrics.</a:t>
            </a:r>
            <a:endParaRPr lang="en-US" sz="1200" dirty="0"/>
          </a:p>
        </p:txBody>
      </p:sp>
      <p:pic>
        <p:nvPicPr>
          <p:cNvPr id="27" name="Image 9" descr="./icons/check_dark.png"/>
          <p:cNvPicPr>
            <a:picLocks noChangeAspect="1"/>
          </p:cNvPicPr>
          <p:nvPr/>
        </p:nvPicPr>
        <p:blipFill>
          <a:blip r:embed="rId2"/>
          <a:stretch>
            <a:fillRect/>
          </a:stretch>
        </p:blipFill>
        <p:spPr>
          <a:xfrm>
            <a:off x="6172200" y="3794760"/>
            <a:ext cx="164592" cy="164592"/>
          </a:xfrm>
          <a:prstGeom prst="rect">
            <a:avLst/>
          </a:prstGeom>
        </p:spPr>
      </p:pic>
      <p:sp>
        <p:nvSpPr>
          <p:cNvPr id="28" name="Text 16"/>
          <p:cNvSpPr/>
          <p:nvPr/>
        </p:nvSpPr>
        <p:spPr>
          <a:xfrm>
            <a:off x="6446520" y="3767328"/>
            <a:ext cx="4846320" cy="502920"/>
          </a:xfrm>
          <a:prstGeom prst="rect">
            <a:avLst/>
          </a:prstGeom>
          <a:noFill/>
        </p:spPr>
        <p:txBody>
          <a:bodyPr wrap="square" lIns="0" tIns="0" rIns="0" bIns="0" rtlCol="0" anchor="ctr"/>
          <a:lstStyle/>
          <a:p>
            <a:pPr marL="0" indent="0" algn="just">
              <a:lnSpc>
                <a:spcPct val="118000"/>
              </a:lnSpc>
              <a:buNone/>
            </a:pPr>
            <a:r>
              <a:rPr lang="en-US" sz="1200" dirty="0">
                <a:solidFill>
                  <a:srgbClr val="364327"/>
                </a:solidFill>
                <a:latin typeface="Segoe UI" panose="020B0502040204020203" pitchFamily="34" charset="0"/>
                <a:ea typeface="Segoe UI" panose="020B0502040204020203" pitchFamily="34" charset="-122"/>
                <a:cs typeface="Segoe UI" panose="020B0502040204020203" pitchFamily="34" charset="-120"/>
              </a:rPr>
              <a:t>Redis Session &amp; Scores: Caches forecasts, reports, and real-time dashboard calculations.</a:t>
            </a:r>
            <a:endParaRPr lang="en-US" sz="1200" dirty="0"/>
          </a:p>
        </p:txBody>
      </p:sp>
      <p:pic>
        <p:nvPicPr>
          <p:cNvPr id="29" name="Image 10" descr="./icons/check_dark.png"/>
          <p:cNvPicPr>
            <a:picLocks noChangeAspect="1"/>
          </p:cNvPicPr>
          <p:nvPr/>
        </p:nvPicPr>
        <p:blipFill>
          <a:blip r:embed="rId2"/>
          <a:stretch>
            <a:fillRect/>
          </a:stretch>
        </p:blipFill>
        <p:spPr>
          <a:xfrm>
            <a:off x="6172200" y="4306824"/>
            <a:ext cx="164592" cy="164592"/>
          </a:xfrm>
          <a:prstGeom prst="rect">
            <a:avLst/>
          </a:prstGeom>
        </p:spPr>
      </p:pic>
      <p:sp>
        <p:nvSpPr>
          <p:cNvPr id="30" name="Text 17"/>
          <p:cNvSpPr/>
          <p:nvPr/>
        </p:nvSpPr>
        <p:spPr>
          <a:xfrm>
            <a:off x="6446520" y="4279392"/>
            <a:ext cx="4846320" cy="502920"/>
          </a:xfrm>
          <a:prstGeom prst="rect">
            <a:avLst/>
          </a:prstGeom>
          <a:noFill/>
        </p:spPr>
        <p:txBody>
          <a:bodyPr wrap="square" lIns="0" tIns="0" rIns="0" bIns="0" rtlCol="0" anchor="ctr"/>
          <a:lstStyle/>
          <a:p>
            <a:pPr marL="0" indent="0" algn="just">
              <a:lnSpc>
                <a:spcPct val="118000"/>
              </a:lnSpc>
              <a:buNone/>
            </a:pPr>
            <a:r>
              <a:rPr lang="en-US" sz="1200" dirty="0">
                <a:solidFill>
                  <a:srgbClr val="364327"/>
                </a:solidFill>
                <a:latin typeface="Segoe UI" panose="020B0502040204020203" pitchFamily="34" charset="0"/>
                <a:ea typeface="Segoe UI" panose="020B0502040204020203" pitchFamily="34" charset="-122"/>
                <a:cs typeface="Segoe UI" panose="020B0502040204020203" pitchFamily="34" charset="-120"/>
              </a:rPr>
              <a:t>Google OR-Tools solver: Runs optimizations in FastAPI, resolving multivariable tradeoffs.</a:t>
            </a:r>
            <a:endParaRPr lang="en-US" sz="1200" dirty="0"/>
          </a:p>
        </p:txBody>
      </p:sp>
      <p:pic>
        <p:nvPicPr>
          <p:cNvPr id="31" name="Image 11" descr="./icons/check_dark.png"/>
          <p:cNvPicPr>
            <a:picLocks noChangeAspect="1"/>
          </p:cNvPicPr>
          <p:nvPr/>
        </p:nvPicPr>
        <p:blipFill>
          <a:blip r:embed="rId2"/>
          <a:stretch>
            <a:fillRect/>
          </a:stretch>
        </p:blipFill>
        <p:spPr>
          <a:xfrm>
            <a:off x="6172200" y="4818888"/>
            <a:ext cx="164592" cy="164592"/>
          </a:xfrm>
          <a:prstGeom prst="rect">
            <a:avLst/>
          </a:prstGeom>
        </p:spPr>
      </p:pic>
      <p:sp>
        <p:nvSpPr>
          <p:cNvPr id="32" name="Text 18"/>
          <p:cNvSpPr/>
          <p:nvPr/>
        </p:nvSpPr>
        <p:spPr>
          <a:xfrm>
            <a:off x="6446520" y="4791456"/>
            <a:ext cx="4846320" cy="502920"/>
          </a:xfrm>
          <a:prstGeom prst="rect">
            <a:avLst/>
          </a:prstGeom>
          <a:noFill/>
        </p:spPr>
        <p:txBody>
          <a:bodyPr wrap="square" lIns="0" tIns="0" rIns="0" bIns="0" rtlCol="0" anchor="ctr"/>
          <a:lstStyle/>
          <a:p>
            <a:pPr marL="0" indent="0" algn="just">
              <a:lnSpc>
                <a:spcPct val="118000"/>
              </a:lnSpc>
              <a:buNone/>
            </a:pPr>
            <a:r>
              <a:rPr lang="en-US" sz="1200" dirty="0">
                <a:solidFill>
                  <a:srgbClr val="364327"/>
                </a:solidFill>
                <a:latin typeface="Segoe UI" panose="020B0502040204020203" pitchFamily="34" charset="0"/>
                <a:ea typeface="Segoe UI" panose="020B0502040204020203" pitchFamily="34" charset="-122"/>
                <a:cs typeface="Segoe UI" panose="020B0502040204020203" pitchFamily="34" charset="-120"/>
              </a:rPr>
              <a:t>Gemini API Connector: Manages AI reasoning calls to translate outputs into text.</a:t>
            </a:r>
            <a:endParaRPr lang="en-US" sz="1200" dirty="0"/>
          </a:p>
        </p:txBody>
      </p:sp>
      <p:pic>
        <p:nvPicPr>
          <p:cNvPr id="33" name="Image 12" descr="./icons/check_dark.png"/>
          <p:cNvPicPr>
            <a:picLocks noChangeAspect="1"/>
          </p:cNvPicPr>
          <p:nvPr/>
        </p:nvPicPr>
        <p:blipFill>
          <a:blip r:embed="rId2"/>
          <a:stretch>
            <a:fillRect/>
          </a:stretch>
        </p:blipFill>
        <p:spPr>
          <a:xfrm>
            <a:off x="6172200" y="5330952"/>
            <a:ext cx="164592" cy="164592"/>
          </a:xfrm>
          <a:prstGeom prst="rect">
            <a:avLst/>
          </a:prstGeom>
        </p:spPr>
      </p:pic>
      <p:sp>
        <p:nvSpPr>
          <p:cNvPr id="34" name="Text 19"/>
          <p:cNvSpPr/>
          <p:nvPr/>
        </p:nvSpPr>
        <p:spPr>
          <a:xfrm>
            <a:off x="6446520" y="5303520"/>
            <a:ext cx="4846320" cy="502920"/>
          </a:xfrm>
          <a:prstGeom prst="rect">
            <a:avLst/>
          </a:prstGeom>
          <a:noFill/>
        </p:spPr>
        <p:txBody>
          <a:bodyPr wrap="square" lIns="0" tIns="0" rIns="0" bIns="0" rtlCol="0" anchor="ctr"/>
          <a:lstStyle/>
          <a:p>
            <a:pPr marL="0" indent="0" algn="just">
              <a:lnSpc>
                <a:spcPct val="118000"/>
              </a:lnSpc>
              <a:buNone/>
            </a:pPr>
            <a:r>
              <a:rPr lang="en-US" sz="1200" dirty="0">
                <a:solidFill>
                  <a:srgbClr val="364327"/>
                </a:solidFill>
                <a:latin typeface="Segoe UI" panose="020B0502040204020203" pitchFamily="34" charset="0"/>
                <a:ea typeface="Segoe UI" panose="020B0502040204020203" pitchFamily="34" charset="-122"/>
                <a:cs typeface="Segoe UI" panose="020B0502040204020203" pitchFamily="34" charset="-120"/>
              </a:rPr>
              <a:t>Object Storage (MinIO/S3): Stores user evidence uploads, invoices, and compiled PDFs.</a:t>
            </a:r>
            <a:endParaRPr lang="en-US" sz="1200" dirty="0"/>
          </a:p>
        </p:txBody>
      </p:sp>
      <p:sp>
        <p:nvSpPr>
          <p:cNvPr id="35" name="Shape 20"/>
          <p:cNvSpPr/>
          <p:nvPr/>
        </p:nvSpPr>
        <p:spPr>
          <a:xfrm>
            <a:off x="530352" y="6364224"/>
            <a:ext cx="237744" cy="237744"/>
          </a:xfrm>
          <a:prstGeom prst="ellipse">
            <a:avLst/>
          </a:prstGeom>
          <a:solidFill>
            <a:srgbClr val="156D4F"/>
          </a:solidFill>
        </p:spPr>
      </p:sp>
      <p:pic>
        <p:nvPicPr>
          <p:cNvPr id="36" name="Image 13" descr="./icons/arrow_left_white.png">
            <a:hlinkClick r:id="rId4" action="ppaction://hlinksldjump"/>
          </p:cNvPr>
          <p:cNvPicPr>
            <a:picLocks noChangeAspect="1"/>
          </p:cNvPicPr>
          <p:nvPr/>
        </p:nvPicPr>
        <p:blipFill>
          <a:blip r:embed="rId5"/>
          <a:stretch>
            <a:fillRect/>
          </a:stretch>
        </p:blipFill>
        <p:spPr>
          <a:xfrm>
            <a:off x="548640" y="6382512"/>
            <a:ext cx="201168" cy="201168"/>
          </a:xfrm>
          <a:prstGeom prst="rect">
            <a:avLst/>
          </a:prstGeom>
        </p:spPr>
      </p:pic>
      <p:sp>
        <p:nvSpPr>
          <p:cNvPr id="37" name="Shape 21">
            <a:hlinkClick r:id="rId4" action="ppaction://hlinksldjump"/>
          </p:cNvPr>
          <p:cNvSpPr/>
          <p:nvPr/>
        </p:nvSpPr>
        <p:spPr>
          <a:xfrm>
            <a:off x="530352" y="6355080"/>
            <a:ext cx="2377440" cy="365760"/>
          </a:xfrm>
          <a:prstGeom prst="rect">
            <a:avLst/>
          </a:prstGeom>
          <a:solidFill>
            <a:srgbClr val="364327">
              <a:alpha val="0"/>
            </a:srgbClr>
          </a:solidFill>
        </p:spPr>
      </p:sp>
      <p:sp>
        <p:nvSpPr>
          <p:cNvPr id="38" name="Text 22">
            <a:hlinkClick r:id="rId4" action="ppaction://hlinksldjump"/>
          </p:cNvPr>
          <p:cNvSpPr/>
          <p:nvPr/>
        </p:nvSpPr>
        <p:spPr>
          <a:xfrm>
            <a:off x="841248" y="6355080"/>
            <a:ext cx="2377440" cy="365760"/>
          </a:xfrm>
          <a:prstGeom prst="rect">
            <a:avLst/>
          </a:prstGeom>
          <a:noFill/>
        </p:spPr>
        <p:txBody>
          <a:bodyPr wrap="square" lIns="0" tIns="0" rIns="0" bIns="0" rtlCol="0" anchor="ctr"/>
          <a:lstStyle/>
          <a:p>
            <a:pPr marL="0" indent="0">
              <a:buNone/>
            </a:pPr>
            <a:r>
              <a:rPr lang="en-US" sz="1100" b="1" u="sng" dirty="0">
                <a:solidFill>
                  <a:srgbClr val="156D4F"/>
                </a:solidFill>
                <a:latin typeface="Segoe UI" panose="020B0502040204020203" pitchFamily="34" charset="0"/>
                <a:ea typeface="Segoe UI" panose="020B0502040204020203" pitchFamily="34" charset="-122"/>
                <a:cs typeface="Segoe UI" panose="020B0502040204020203" pitchFamily="34" charset="-120"/>
                <a:hlinkClick r:id="rId4" action="ppaction://hlinksldjump"/>
              </a:rPr>
              <a:t>BACK TO REVIEW BOARD</a:t>
            </a:r>
            <a:endParaRPr lang="en-US" sz="1100" dirty="0"/>
          </a:p>
        </p:txBody>
      </p:sp>
      <p:sp>
        <p:nvSpPr>
          <p:cNvPr id="39" name="Text 23"/>
          <p:cNvSpPr/>
          <p:nvPr/>
        </p:nvSpPr>
        <p:spPr>
          <a:xfrm>
            <a:off x="8595360" y="6382512"/>
            <a:ext cx="3017520" cy="274320"/>
          </a:xfrm>
          <a:prstGeom prst="rect">
            <a:avLst/>
          </a:prstGeom>
          <a:noFill/>
        </p:spPr>
        <p:txBody>
          <a:bodyPr wrap="square" lIns="0" tIns="0" rIns="0" bIns="0" rtlCol="0" anchor="ctr"/>
          <a:lstStyle/>
          <a:p>
            <a:pPr marL="0" indent="0" algn="r">
              <a:buNone/>
            </a:pPr>
            <a:r>
              <a:rPr lang="en-US" sz="1000" dirty="0">
                <a:solidFill>
                  <a:srgbClr val="364327"/>
                </a:solidFill>
                <a:latin typeface="Segoe UI" panose="020B0502040204020203" pitchFamily="34" charset="0"/>
                <a:ea typeface="Segoe UI" panose="020B0502040204020203" pitchFamily="34" charset="-122"/>
                <a:cs typeface="Segoe UI" panose="020B0502040204020203" pitchFamily="34" charset="-120"/>
              </a:rPr>
              <a:t>EcoSphere · Backend Middleware</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C7C396"/>
        </a:solidFill>
        <a:effectLst/>
      </p:bgPr>
    </p:bg>
    <p:spTree>
      <p:nvGrpSpPr>
        <p:cNvPr id="1" name=""/>
        <p:cNvGrpSpPr/>
        <p:nvPr/>
      </p:nvGrpSpPr>
      <p:grpSpPr>
        <a:xfrm>
          <a:off x="0" y="0"/>
          <a:ext cx="0" cy="0"/>
          <a:chOff x="0" y="0"/>
          <a:chExt cx="0" cy="0"/>
        </a:xfrm>
      </p:grpSpPr>
      <p:sp>
        <p:nvSpPr>
          <p:cNvPr id="2" name="Text 0"/>
          <p:cNvSpPr/>
          <p:nvPr/>
        </p:nvSpPr>
        <p:spPr>
          <a:xfrm>
            <a:off x="548640" y="384048"/>
            <a:ext cx="8229600" cy="274320"/>
          </a:xfrm>
          <a:prstGeom prst="rect">
            <a:avLst/>
          </a:prstGeom>
          <a:noFill/>
        </p:spPr>
        <p:txBody>
          <a:bodyPr wrap="square" lIns="0" tIns="0" rIns="0" bIns="0" rtlCol="0" anchor="ctr"/>
          <a:lstStyle/>
          <a:p>
            <a:pPr marL="0" indent="0">
              <a:buNone/>
            </a:pPr>
            <a:r>
              <a:rPr lang="en-US" sz="1200" b="1" kern="0" spc="200" dirty="0">
                <a:solidFill>
                  <a:srgbClr val="156D4F"/>
                </a:solidFill>
                <a:latin typeface="Segoe UI" panose="020B0502040204020203" pitchFamily="34" charset="0"/>
                <a:ea typeface="Segoe UI" panose="020B0502040204020203" pitchFamily="34" charset="-122"/>
                <a:cs typeface="Segoe UI" panose="020B0502040204020203" pitchFamily="34" charset="-120"/>
              </a:rPr>
              <a:t>SECTION 05 · NOVELTY HIGHLIGHTS</a:t>
            </a:r>
            <a:endParaRPr lang="en-US" sz="1200" dirty="0"/>
          </a:p>
        </p:txBody>
      </p:sp>
      <p:sp>
        <p:nvSpPr>
          <p:cNvPr id="3" name="Text 1"/>
          <p:cNvSpPr/>
          <p:nvPr/>
        </p:nvSpPr>
        <p:spPr>
          <a:xfrm>
            <a:off x="548640" y="640080"/>
            <a:ext cx="9601200" cy="640080"/>
          </a:xfrm>
          <a:prstGeom prst="rect">
            <a:avLst/>
          </a:prstGeom>
          <a:noFill/>
        </p:spPr>
        <p:txBody>
          <a:bodyPr wrap="square" lIns="0" tIns="0" rIns="0" bIns="0" rtlCol="0" anchor="ctr"/>
          <a:lstStyle/>
          <a:p>
            <a:pPr marL="0" indent="0">
              <a:buNone/>
            </a:pPr>
            <a:r>
              <a:rPr lang="en-US" sz="2800" b="1" dirty="0">
                <a:solidFill>
                  <a:srgbClr val="156D4F"/>
                </a:solidFill>
                <a:latin typeface="Georgia" panose="02040502050405020303" pitchFamily="34" charset="0"/>
                <a:ea typeface="Georgia" panose="02040502050405020303" pitchFamily="34" charset="-122"/>
                <a:cs typeface="Georgia" panose="02040502050405020303" pitchFamily="34" charset="-120"/>
              </a:rPr>
              <a:t>Multi-Objective Optimization &amp; Adaptive Coaching</a:t>
            </a:r>
            <a:endParaRPr lang="en-US" sz="2800" dirty="0"/>
          </a:p>
        </p:txBody>
      </p:sp>
      <p:sp>
        <p:nvSpPr>
          <p:cNvPr id="4" name="Text 2"/>
          <p:cNvSpPr/>
          <p:nvPr/>
        </p:nvSpPr>
        <p:spPr>
          <a:xfrm>
            <a:off x="548640" y="1146175"/>
            <a:ext cx="10607040" cy="320040"/>
          </a:xfrm>
          <a:prstGeom prst="rect">
            <a:avLst/>
          </a:prstGeom>
          <a:noFill/>
        </p:spPr>
        <p:txBody>
          <a:bodyPr wrap="square" lIns="0" tIns="0" rIns="0" bIns="0" rtlCol="0" anchor="ctr"/>
          <a:lstStyle/>
          <a:p>
            <a:pPr marL="0" indent="0" algn="just">
              <a:buNone/>
            </a:pPr>
            <a:r>
              <a:rPr lang="en-US" sz="1250" dirty="0">
                <a:solidFill>
                  <a:srgbClr val="156D4F"/>
                </a:solidFill>
                <a:latin typeface="Segoe UI" panose="020B0502040204020203" pitchFamily="34" charset="0"/>
                <a:ea typeface="Segoe UI" panose="020B0502040204020203" pitchFamily="34" charset="-122"/>
                <a:cs typeface="Segoe UI" panose="020B0502040204020203" pitchFamily="34" charset="-120"/>
              </a:rPr>
              <a:t>EcoSphere implements distinct intelligence modules that move environmental tracking from logs to active solutions.</a:t>
            </a:r>
            <a:endParaRPr lang="en-US" sz="1250" dirty="0"/>
          </a:p>
        </p:txBody>
      </p:sp>
      <p:graphicFrame>
        <p:nvGraphicFramePr>
          <p:cNvPr id="13" name="Table 0"/>
          <p:cNvGraphicFramePr>
            <a:graphicFrameLocks noGrp="1"/>
          </p:cNvGraphicFramePr>
          <p:nvPr/>
        </p:nvGraphicFramePr>
        <p:xfrm>
          <a:off x="548640" y="1463040"/>
          <a:ext cx="6858000" cy="2414016"/>
        </p:xfrm>
        <a:graphic>
          <a:graphicData uri="http://schemas.openxmlformats.org/drawingml/2006/table">
            <a:tbl>
              <a:tblPr/>
              <a:tblGrid>
                <a:gridCol w="1645920"/>
                <a:gridCol w="2926080"/>
                <a:gridCol w="2286000"/>
              </a:tblGrid>
              <a:tr h="402336">
                <a:tc>
                  <a:txBody>
                    <a:bodyPr/>
                    <a:lstStyle/>
                    <a:p>
                      <a:pPr marL="0" indent="0">
                        <a:buNone/>
                      </a:pPr>
                      <a:r>
                        <a:rPr lang="en-US" sz="1050" b="1" dirty="0">
                          <a:solidFill>
                            <a:srgbClr val="FFFFFF"/>
                          </a:solidFill>
                          <a:latin typeface="Segoe UI" panose="020B0502040204020203" pitchFamily="34" charset="0"/>
                          <a:ea typeface="Segoe UI" panose="020B0502040204020203" pitchFamily="34" charset="-122"/>
                          <a:cs typeface="Segoe UI" panose="020B0502040204020203" pitchFamily="34" charset="-120"/>
                        </a:rPr>
                        <a:t>Engine Core</a:t>
                      </a:r>
                      <a:endParaRPr lang="en-US" sz="1050" dirty="0">
                        <a:latin typeface="Segoe UI" panose="020B0502040204020203" pitchFamily="34" charset="0"/>
                        <a:ea typeface="Segoe UI" panose="020B0502040204020203" pitchFamily="34" charset="0"/>
                        <a:cs typeface="Segoe UI" panose="020B0502040204020203" pitchFamily="34" charset="0"/>
                      </a:endParaRPr>
                    </a:p>
                  </a:txBody>
                  <a:tcPr anchor="ctr">
                    <a:lnL w="6350" cap="flat" cmpd="sng" algn="ctr">
                      <a:solidFill>
                        <a:srgbClr val="156D4F"/>
                      </a:solidFill>
                      <a:prstDash val="solid"/>
                      <a:round/>
                      <a:headEnd type="none" w="med" len="med"/>
                      <a:tailEnd type="none" w="med" len="med"/>
                    </a:lnL>
                    <a:lnR w="6350" cap="flat" cmpd="sng" algn="ctr">
                      <a:solidFill>
                        <a:srgbClr val="156D4F"/>
                      </a:solidFill>
                      <a:prstDash val="solid"/>
                      <a:round/>
                      <a:headEnd type="none" w="med" len="med"/>
                      <a:tailEnd type="none" w="med" len="med"/>
                    </a:lnR>
                    <a:lnT w="6350" cap="flat" cmpd="sng" algn="ctr">
                      <a:solidFill>
                        <a:srgbClr val="156D4F"/>
                      </a:solidFill>
                      <a:prstDash val="solid"/>
                      <a:round/>
                      <a:headEnd type="none" w="med" len="med"/>
                      <a:tailEnd type="none" w="med" len="med"/>
                    </a:lnT>
                    <a:lnB w="6350" cap="flat" cmpd="sng" algn="ctr">
                      <a:solidFill>
                        <a:srgbClr val="156D4F"/>
                      </a:solidFill>
                      <a:prstDash val="solid"/>
                      <a:round/>
                      <a:headEnd type="none" w="med" len="med"/>
                      <a:tailEnd type="none" w="med" len="med"/>
                    </a:lnB>
                    <a:solidFill>
                      <a:srgbClr val="156D4F"/>
                    </a:solidFill>
                  </a:tcPr>
                </a:tc>
                <a:tc>
                  <a:txBody>
                    <a:bodyPr/>
                    <a:lstStyle/>
                    <a:p>
                      <a:pPr marL="0" indent="0">
                        <a:buNone/>
                      </a:pPr>
                      <a:r>
                        <a:rPr lang="en-US" sz="1050" b="1" dirty="0">
                          <a:solidFill>
                            <a:srgbClr val="FFFFFF"/>
                          </a:solidFill>
                          <a:latin typeface="Segoe UI" panose="020B0502040204020203" pitchFamily="34" charset="0"/>
                          <a:ea typeface="Segoe UI" panose="020B0502040204020203" pitchFamily="34" charset="-122"/>
                          <a:cs typeface="Segoe UI" panose="020B0502040204020203" pitchFamily="34" charset="-120"/>
                        </a:rPr>
                        <a:t>Optimization Control</a:t>
                      </a:r>
                      <a:endParaRPr lang="en-US" sz="1050" dirty="0">
                        <a:latin typeface="Segoe UI" panose="020B0502040204020203" pitchFamily="34" charset="0"/>
                        <a:ea typeface="Segoe UI" panose="020B0502040204020203" pitchFamily="34" charset="0"/>
                        <a:cs typeface="Segoe UI" panose="020B0502040204020203" pitchFamily="34" charset="0"/>
                      </a:endParaRPr>
                    </a:p>
                  </a:txBody>
                  <a:tcPr anchor="ctr">
                    <a:lnL w="6350" cap="flat" cmpd="sng" algn="ctr">
                      <a:solidFill>
                        <a:srgbClr val="156D4F"/>
                      </a:solidFill>
                      <a:prstDash val="solid"/>
                      <a:round/>
                      <a:headEnd type="none" w="med" len="med"/>
                      <a:tailEnd type="none" w="med" len="med"/>
                    </a:lnL>
                    <a:lnR w="6350" cap="flat" cmpd="sng" algn="ctr">
                      <a:solidFill>
                        <a:srgbClr val="156D4F"/>
                      </a:solidFill>
                      <a:prstDash val="solid"/>
                      <a:round/>
                      <a:headEnd type="none" w="med" len="med"/>
                      <a:tailEnd type="none" w="med" len="med"/>
                    </a:lnR>
                    <a:lnT w="6350" cap="flat" cmpd="sng" algn="ctr">
                      <a:solidFill>
                        <a:srgbClr val="156D4F"/>
                      </a:solidFill>
                      <a:prstDash val="solid"/>
                      <a:round/>
                      <a:headEnd type="none" w="med" len="med"/>
                      <a:tailEnd type="none" w="med" len="med"/>
                    </a:lnT>
                    <a:lnB w="6350" cap="flat" cmpd="sng" algn="ctr">
                      <a:solidFill>
                        <a:srgbClr val="156D4F"/>
                      </a:solidFill>
                      <a:prstDash val="solid"/>
                      <a:round/>
                      <a:headEnd type="none" w="med" len="med"/>
                      <a:tailEnd type="none" w="med" len="med"/>
                    </a:lnB>
                    <a:solidFill>
                      <a:srgbClr val="156D4F"/>
                    </a:solidFill>
                  </a:tcPr>
                </a:tc>
                <a:tc>
                  <a:txBody>
                    <a:bodyPr/>
                    <a:lstStyle/>
                    <a:p>
                      <a:pPr marL="0" indent="0">
                        <a:buNone/>
                      </a:pPr>
                      <a:r>
                        <a:rPr lang="en-US" sz="1050" b="1" dirty="0">
                          <a:solidFill>
                            <a:srgbClr val="FFFFFF"/>
                          </a:solidFill>
                          <a:latin typeface="Segoe UI" panose="020B0502040204020203" pitchFamily="34" charset="0"/>
                          <a:ea typeface="Segoe UI" panose="020B0502040204020203" pitchFamily="34" charset="-122"/>
                          <a:cs typeface="Segoe UI" panose="020B0502040204020203" pitchFamily="34" charset="-120"/>
                        </a:rPr>
                        <a:t>Technical Realization</a:t>
                      </a:r>
                      <a:endParaRPr lang="en-US" sz="1050" dirty="0">
                        <a:latin typeface="Segoe UI" panose="020B0502040204020203" pitchFamily="34" charset="0"/>
                        <a:ea typeface="Segoe UI" panose="020B0502040204020203" pitchFamily="34" charset="0"/>
                        <a:cs typeface="Segoe UI" panose="020B0502040204020203" pitchFamily="34" charset="0"/>
                      </a:endParaRPr>
                    </a:p>
                  </a:txBody>
                  <a:tcPr anchor="ctr">
                    <a:lnL w="6350" cap="flat" cmpd="sng" algn="ctr">
                      <a:solidFill>
                        <a:srgbClr val="156D4F"/>
                      </a:solidFill>
                      <a:prstDash val="solid"/>
                      <a:round/>
                      <a:headEnd type="none" w="med" len="med"/>
                      <a:tailEnd type="none" w="med" len="med"/>
                    </a:lnL>
                    <a:lnR w="6350" cap="flat" cmpd="sng" algn="ctr">
                      <a:solidFill>
                        <a:srgbClr val="156D4F"/>
                      </a:solidFill>
                      <a:prstDash val="solid"/>
                      <a:round/>
                      <a:headEnd type="none" w="med" len="med"/>
                      <a:tailEnd type="none" w="med" len="med"/>
                    </a:lnR>
                    <a:lnT w="6350" cap="flat" cmpd="sng" algn="ctr">
                      <a:solidFill>
                        <a:srgbClr val="156D4F"/>
                      </a:solidFill>
                      <a:prstDash val="solid"/>
                      <a:round/>
                      <a:headEnd type="none" w="med" len="med"/>
                      <a:tailEnd type="none" w="med" len="med"/>
                    </a:lnT>
                    <a:lnB w="6350" cap="flat" cmpd="sng" algn="ctr">
                      <a:solidFill>
                        <a:srgbClr val="156D4F"/>
                      </a:solidFill>
                      <a:prstDash val="solid"/>
                      <a:round/>
                      <a:headEnd type="none" w="med" len="med"/>
                      <a:tailEnd type="none" w="med" len="med"/>
                    </a:lnB>
                    <a:solidFill>
                      <a:srgbClr val="156D4F"/>
                    </a:solidFill>
                  </a:tcPr>
                </a:tc>
              </a:tr>
              <a:tr h="402336">
                <a:tc>
                  <a:txBody>
                    <a:bodyPr/>
                    <a:lstStyle/>
                    <a:p>
                      <a:pPr marL="0" indent="0">
                        <a:buNone/>
                      </a:pPr>
                      <a:r>
                        <a:rPr lang="en-US" sz="1050" dirty="0">
                          <a:solidFill>
                            <a:srgbClr val="156D4F"/>
                          </a:solidFill>
                          <a:latin typeface="Segoe UI" panose="020B0502040204020203" pitchFamily="34" charset="0"/>
                          <a:ea typeface="Segoe UI" panose="020B0502040204020203" pitchFamily="34" charset="-122"/>
                          <a:cs typeface="Segoe UI" panose="020B0502040204020203" pitchFamily="34" charset="-120"/>
                        </a:rPr>
                        <a:t>Carbon &amp; Energy</a:t>
                      </a:r>
                      <a:endParaRPr lang="en-US" sz="1050" dirty="0">
                        <a:latin typeface="Segoe UI" panose="020B0502040204020203" pitchFamily="34" charset="0"/>
                        <a:ea typeface="Segoe UI" panose="020B0502040204020203" pitchFamily="34" charset="0"/>
                        <a:cs typeface="Segoe UI" panose="020B0502040204020203" pitchFamily="34" charset="0"/>
                      </a:endParaRPr>
                    </a:p>
                  </a:txBody>
                  <a:tcPr anchor="ctr">
                    <a:lnL w="6350" cap="flat" cmpd="sng" algn="ctr">
                      <a:solidFill>
                        <a:srgbClr val="156D4F"/>
                      </a:solidFill>
                      <a:prstDash val="solid"/>
                      <a:round/>
                      <a:headEnd type="none" w="med" len="med"/>
                      <a:tailEnd type="none" w="med" len="med"/>
                    </a:lnL>
                    <a:lnR w="6350" cap="flat" cmpd="sng" algn="ctr">
                      <a:solidFill>
                        <a:srgbClr val="156D4F"/>
                      </a:solidFill>
                      <a:prstDash val="solid"/>
                      <a:round/>
                      <a:headEnd type="none" w="med" len="med"/>
                      <a:tailEnd type="none" w="med" len="med"/>
                    </a:lnR>
                    <a:lnT w="6350" cap="flat" cmpd="sng" algn="ctr">
                      <a:solidFill>
                        <a:srgbClr val="156D4F"/>
                      </a:solidFill>
                      <a:prstDash val="solid"/>
                      <a:round/>
                      <a:headEnd type="none" w="med" len="med"/>
                      <a:tailEnd type="none" w="med" len="med"/>
                    </a:lnT>
                    <a:lnB w="6350" cap="flat" cmpd="sng" algn="ctr">
                      <a:solidFill>
                        <a:srgbClr val="156D4F"/>
                      </a:solidFill>
                      <a:prstDash val="solid"/>
                      <a:round/>
                      <a:headEnd type="none" w="med" len="med"/>
                      <a:tailEnd type="none" w="med" len="med"/>
                    </a:lnB>
                  </a:tcPr>
                </a:tc>
                <a:tc>
                  <a:txBody>
                    <a:bodyPr/>
                    <a:lstStyle/>
                    <a:p>
                      <a:pPr marL="0" indent="0">
                        <a:buNone/>
                      </a:pPr>
                      <a:r>
                        <a:rPr lang="en-US" sz="1050" dirty="0">
                          <a:solidFill>
                            <a:srgbClr val="156D4F"/>
                          </a:solidFill>
                          <a:latin typeface="Segoe UI" panose="020B0502040204020203" pitchFamily="34" charset="0"/>
                          <a:ea typeface="Segoe UI" panose="020B0502040204020203" pitchFamily="34" charset="-122"/>
                          <a:cs typeface="Segoe UI" panose="020B0502040204020203" pitchFamily="34" charset="-120"/>
                        </a:rPr>
                        <a:t>XGBoost Regression Model</a:t>
                      </a:r>
                      <a:endParaRPr lang="en-US" sz="1050" dirty="0">
                        <a:latin typeface="Segoe UI" panose="020B0502040204020203" pitchFamily="34" charset="0"/>
                        <a:ea typeface="Segoe UI" panose="020B0502040204020203" pitchFamily="34" charset="0"/>
                        <a:cs typeface="Segoe UI" panose="020B0502040204020203" pitchFamily="34" charset="0"/>
                      </a:endParaRPr>
                    </a:p>
                  </a:txBody>
                  <a:tcPr anchor="ctr">
                    <a:lnL w="6350" cap="flat" cmpd="sng" algn="ctr">
                      <a:solidFill>
                        <a:srgbClr val="156D4F"/>
                      </a:solidFill>
                      <a:prstDash val="solid"/>
                      <a:round/>
                      <a:headEnd type="none" w="med" len="med"/>
                      <a:tailEnd type="none" w="med" len="med"/>
                    </a:lnL>
                    <a:lnR w="6350" cap="flat" cmpd="sng" algn="ctr">
                      <a:solidFill>
                        <a:srgbClr val="156D4F"/>
                      </a:solidFill>
                      <a:prstDash val="solid"/>
                      <a:round/>
                      <a:headEnd type="none" w="med" len="med"/>
                      <a:tailEnd type="none" w="med" len="med"/>
                    </a:lnR>
                    <a:lnT w="6350" cap="flat" cmpd="sng" algn="ctr">
                      <a:solidFill>
                        <a:srgbClr val="156D4F"/>
                      </a:solidFill>
                      <a:prstDash val="solid"/>
                      <a:round/>
                      <a:headEnd type="none" w="med" len="med"/>
                      <a:tailEnd type="none" w="med" len="med"/>
                    </a:lnT>
                    <a:lnB w="6350" cap="flat" cmpd="sng" algn="ctr">
                      <a:solidFill>
                        <a:srgbClr val="156D4F"/>
                      </a:solidFill>
                      <a:prstDash val="solid"/>
                      <a:round/>
                      <a:headEnd type="none" w="med" len="med"/>
                      <a:tailEnd type="none" w="med" len="med"/>
                    </a:lnB>
                  </a:tcPr>
                </a:tc>
                <a:tc>
                  <a:txBody>
                    <a:bodyPr/>
                    <a:lstStyle/>
                    <a:p>
                      <a:pPr marL="0" indent="0">
                        <a:buNone/>
                      </a:pPr>
                      <a:r>
                        <a:rPr lang="en-US" sz="1050" dirty="0">
                          <a:solidFill>
                            <a:srgbClr val="156D4F"/>
                          </a:solidFill>
                          <a:latin typeface="Segoe UI" panose="020B0502040204020203" pitchFamily="34" charset="0"/>
                          <a:ea typeface="Segoe UI" panose="020B0502040204020203" pitchFamily="34" charset="-122"/>
                          <a:cs typeface="Segoe UI" panose="020B0502040204020203" pitchFamily="34" charset="-120"/>
                        </a:rPr>
                        <a:t>Forecasts future resource demand and flags wasteful behavior trends.</a:t>
                      </a:r>
                      <a:endParaRPr lang="en-US" sz="1050" dirty="0">
                        <a:latin typeface="Segoe UI" panose="020B0502040204020203" pitchFamily="34" charset="0"/>
                        <a:ea typeface="Segoe UI" panose="020B0502040204020203" pitchFamily="34" charset="0"/>
                        <a:cs typeface="Segoe UI" panose="020B0502040204020203" pitchFamily="34" charset="0"/>
                      </a:endParaRPr>
                    </a:p>
                  </a:txBody>
                  <a:tcPr anchor="ctr">
                    <a:lnL w="6350" cap="flat" cmpd="sng" algn="ctr">
                      <a:solidFill>
                        <a:srgbClr val="156D4F"/>
                      </a:solidFill>
                      <a:prstDash val="solid"/>
                      <a:round/>
                      <a:headEnd type="none" w="med" len="med"/>
                      <a:tailEnd type="none" w="med" len="med"/>
                    </a:lnL>
                    <a:lnR w="6350" cap="flat" cmpd="sng" algn="ctr">
                      <a:solidFill>
                        <a:srgbClr val="156D4F"/>
                      </a:solidFill>
                      <a:prstDash val="solid"/>
                      <a:round/>
                      <a:headEnd type="none" w="med" len="med"/>
                      <a:tailEnd type="none" w="med" len="med"/>
                    </a:lnR>
                    <a:lnT w="6350" cap="flat" cmpd="sng" algn="ctr">
                      <a:solidFill>
                        <a:srgbClr val="156D4F"/>
                      </a:solidFill>
                      <a:prstDash val="solid"/>
                      <a:round/>
                      <a:headEnd type="none" w="med" len="med"/>
                      <a:tailEnd type="none" w="med" len="med"/>
                    </a:lnT>
                    <a:lnB w="6350" cap="flat" cmpd="sng" algn="ctr">
                      <a:solidFill>
                        <a:srgbClr val="156D4F"/>
                      </a:solidFill>
                      <a:prstDash val="solid"/>
                      <a:round/>
                      <a:headEnd type="none" w="med" len="med"/>
                      <a:tailEnd type="none" w="med" len="med"/>
                    </a:lnB>
                  </a:tcPr>
                </a:tc>
              </a:tr>
              <a:tr h="402336">
                <a:tc>
                  <a:txBody>
                    <a:bodyPr/>
                    <a:lstStyle/>
                    <a:p>
                      <a:pPr marL="0" indent="0">
                        <a:buNone/>
                      </a:pPr>
                      <a:r>
                        <a:rPr lang="en-US" sz="1050" dirty="0">
                          <a:solidFill>
                            <a:srgbClr val="156D4F"/>
                          </a:solidFill>
                          <a:latin typeface="Segoe UI" panose="020B0502040204020203" pitchFamily="34" charset="0"/>
                          <a:ea typeface="Segoe UI" panose="020B0502040204020203" pitchFamily="34" charset="-122"/>
                          <a:cs typeface="Segoe UI" panose="020B0502040204020203" pitchFamily="34" charset="-120"/>
                        </a:rPr>
                        <a:t>Cross-Domain Solver</a:t>
                      </a:r>
                      <a:endParaRPr lang="en-US" sz="1050" dirty="0">
                        <a:latin typeface="Segoe UI" panose="020B0502040204020203" pitchFamily="34" charset="0"/>
                        <a:ea typeface="Segoe UI" panose="020B0502040204020203" pitchFamily="34" charset="0"/>
                        <a:cs typeface="Segoe UI" panose="020B0502040204020203" pitchFamily="34" charset="0"/>
                      </a:endParaRPr>
                    </a:p>
                  </a:txBody>
                  <a:tcPr anchor="ctr">
                    <a:lnL w="6350" cap="flat" cmpd="sng" algn="ctr">
                      <a:solidFill>
                        <a:srgbClr val="156D4F"/>
                      </a:solidFill>
                      <a:prstDash val="solid"/>
                      <a:round/>
                      <a:headEnd type="none" w="med" len="med"/>
                      <a:tailEnd type="none" w="med" len="med"/>
                    </a:lnL>
                    <a:lnR w="6350" cap="flat" cmpd="sng" algn="ctr">
                      <a:solidFill>
                        <a:srgbClr val="156D4F"/>
                      </a:solidFill>
                      <a:prstDash val="solid"/>
                      <a:round/>
                      <a:headEnd type="none" w="med" len="med"/>
                      <a:tailEnd type="none" w="med" len="med"/>
                    </a:lnR>
                    <a:lnT w="6350" cap="flat" cmpd="sng" algn="ctr">
                      <a:solidFill>
                        <a:srgbClr val="156D4F"/>
                      </a:solidFill>
                      <a:prstDash val="solid"/>
                      <a:round/>
                      <a:headEnd type="none" w="med" len="med"/>
                      <a:tailEnd type="none" w="med" len="med"/>
                    </a:lnT>
                    <a:lnB w="6350" cap="flat" cmpd="sng" algn="ctr">
                      <a:solidFill>
                        <a:srgbClr val="156D4F"/>
                      </a:solidFill>
                      <a:prstDash val="solid"/>
                      <a:round/>
                      <a:headEnd type="none" w="med" len="med"/>
                      <a:tailEnd type="none" w="med" len="med"/>
                    </a:lnB>
                  </a:tcPr>
                </a:tc>
                <a:tc>
                  <a:txBody>
                    <a:bodyPr/>
                    <a:lstStyle/>
                    <a:p>
                      <a:pPr marL="0" indent="0">
                        <a:buNone/>
                      </a:pPr>
                      <a:r>
                        <a:rPr lang="en-US" sz="1050" dirty="0">
                          <a:solidFill>
                            <a:srgbClr val="156D4F"/>
                          </a:solidFill>
                          <a:latin typeface="Segoe UI" panose="020B0502040204020203" pitchFamily="34" charset="0"/>
                          <a:ea typeface="Segoe UI" panose="020B0502040204020203" pitchFamily="34" charset="-122"/>
                          <a:cs typeface="Segoe UI" panose="020B0502040204020203" pitchFamily="34" charset="-120"/>
                        </a:rPr>
                        <a:t>Google OR-Tools Optimization</a:t>
                      </a:r>
                      <a:endParaRPr lang="en-US" sz="1050" dirty="0">
                        <a:latin typeface="Segoe UI" panose="020B0502040204020203" pitchFamily="34" charset="0"/>
                        <a:ea typeface="Segoe UI" panose="020B0502040204020203" pitchFamily="34" charset="0"/>
                        <a:cs typeface="Segoe UI" panose="020B0502040204020203" pitchFamily="34" charset="0"/>
                      </a:endParaRPr>
                    </a:p>
                  </a:txBody>
                  <a:tcPr anchor="ctr">
                    <a:lnL w="6350" cap="flat" cmpd="sng" algn="ctr">
                      <a:solidFill>
                        <a:srgbClr val="156D4F"/>
                      </a:solidFill>
                      <a:prstDash val="solid"/>
                      <a:round/>
                      <a:headEnd type="none" w="med" len="med"/>
                      <a:tailEnd type="none" w="med" len="med"/>
                    </a:lnL>
                    <a:lnR w="6350" cap="flat" cmpd="sng" algn="ctr">
                      <a:solidFill>
                        <a:srgbClr val="156D4F"/>
                      </a:solidFill>
                      <a:prstDash val="solid"/>
                      <a:round/>
                      <a:headEnd type="none" w="med" len="med"/>
                      <a:tailEnd type="none" w="med" len="med"/>
                    </a:lnR>
                    <a:lnT w="6350" cap="flat" cmpd="sng" algn="ctr">
                      <a:solidFill>
                        <a:srgbClr val="156D4F"/>
                      </a:solidFill>
                      <a:prstDash val="solid"/>
                      <a:round/>
                      <a:headEnd type="none" w="med" len="med"/>
                      <a:tailEnd type="none" w="med" len="med"/>
                    </a:lnT>
                    <a:lnB w="6350" cap="flat" cmpd="sng" algn="ctr">
                      <a:solidFill>
                        <a:srgbClr val="156D4F"/>
                      </a:solidFill>
                      <a:prstDash val="solid"/>
                      <a:round/>
                      <a:headEnd type="none" w="med" len="med"/>
                      <a:tailEnd type="none" w="med" len="med"/>
                    </a:lnB>
                  </a:tcPr>
                </a:tc>
                <a:tc>
                  <a:txBody>
                    <a:bodyPr/>
                    <a:lstStyle/>
                    <a:p>
                      <a:pPr marL="0" indent="0">
                        <a:buNone/>
                      </a:pPr>
                      <a:r>
                        <a:rPr lang="en-US" sz="1050" dirty="0">
                          <a:solidFill>
                            <a:srgbClr val="156D4F"/>
                          </a:solidFill>
                          <a:latin typeface="Segoe UI" panose="020B0502040204020203" pitchFamily="34" charset="0"/>
                          <a:ea typeface="Segoe UI" panose="020B0502040204020203" pitchFamily="34" charset="-122"/>
                          <a:cs typeface="Segoe UI" panose="020B0502040204020203" pitchFamily="34" charset="-120"/>
                        </a:rPr>
                        <a:t>Simultaneously balances cost, carbon, energy, waste, and preference.</a:t>
                      </a:r>
                      <a:endParaRPr lang="en-US" sz="1050" dirty="0">
                        <a:latin typeface="Segoe UI" panose="020B0502040204020203" pitchFamily="34" charset="0"/>
                        <a:ea typeface="Segoe UI" panose="020B0502040204020203" pitchFamily="34" charset="0"/>
                        <a:cs typeface="Segoe UI" panose="020B0502040204020203" pitchFamily="34" charset="0"/>
                      </a:endParaRPr>
                    </a:p>
                  </a:txBody>
                  <a:tcPr anchor="ctr">
                    <a:lnL w="6350" cap="flat" cmpd="sng" algn="ctr">
                      <a:solidFill>
                        <a:srgbClr val="156D4F"/>
                      </a:solidFill>
                      <a:prstDash val="solid"/>
                      <a:round/>
                      <a:headEnd type="none" w="med" len="med"/>
                      <a:tailEnd type="none" w="med" len="med"/>
                    </a:lnL>
                    <a:lnR w="6350" cap="flat" cmpd="sng" algn="ctr">
                      <a:solidFill>
                        <a:srgbClr val="156D4F"/>
                      </a:solidFill>
                      <a:prstDash val="solid"/>
                      <a:round/>
                      <a:headEnd type="none" w="med" len="med"/>
                      <a:tailEnd type="none" w="med" len="med"/>
                    </a:lnR>
                    <a:lnT w="6350" cap="flat" cmpd="sng" algn="ctr">
                      <a:solidFill>
                        <a:srgbClr val="156D4F"/>
                      </a:solidFill>
                      <a:prstDash val="solid"/>
                      <a:round/>
                      <a:headEnd type="none" w="med" len="med"/>
                      <a:tailEnd type="none" w="med" len="med"/>
                    </a:lnT>
                    <a:lnB w="6350" cap="flat" cmpd="sng" algn="ctr">
                      <a:solidFill>
                        <a:srgbClr val="156D4F"/>
                      </a:solidFill>
                      <a:prstDash val="solid"/>
                      <a:round/>
                      <a:headEnd type="none" w="med" len="med"/>
                      <a:tailEnd type="none" w="med" len="med"/>
                    </a:lnB>
                  </a:tcPr>
                </a:tc>
              </a:tr>
              <a:tr h="402336">
                <a:tc>
                  <a:txBody>
                    <a:bodyPr/>
                    <a:lstStyle/>
                    <a:p>
                      <a:pPr marL="0" indent="0">
                        <a:buNone/>
                      </a:pPr>
                      <a:r>
                        <a:rPr lang="en-US" sz="1050" dirty="0">
                          <a:solidFill>
                            <a:srgbClr val="156D4F"/>
                          </a:solidFill>
                          <a:latin typeface="Segoe UI" panose="020B0502040204020203" pitchFamily="34" charset="0"/>
                          <a:ea typeface="Segoe UI" panose="020B0502040204020203" pitchFamily="34" charset="-122"/>
                          <a:cs typeface="Segoe UI" panose="020B0502040204020203" pitchFamily="34" charset="-120"/>
                        </a:rPr>
                        <a:t>Digital Twin Simulation</a:t>
                      </a:r>
                      <a:endParaRPr lang="en-US" sz="1050" dirty="0">
                        <a:latin typeface="Segoe UI" panose="020B0502040204020203" pitchFamily="34" charset="0"/>
                        <a:ea typeface="Segoe UI" panose="020B0502040204020203" pitchFamily="34" charset="0"/>
                        <a:cs typeface="Segoe UI" panose="020B0502040204020203" pitchFamily="34" charset="0"/>
                      </a:endParaRPr>
                    </a:p>
                  </a:txBody>
                  <a:tcPr anchor="ctr">
                    <a:lnL w="6350" cap="flat" cmpd="sng" algn="ctr">
                      <a:solidFill>
                        <a:srgbClr val="156D4F"/>
                      </a:solidFill>
                      <a:prstDash val="solid"/>
                      <a:round/>
                      <a:headEnd type="none" w="med" len="med"/>
                      <a:tailEnd type="none" w="med" len="med"/>
                    </a:lnL>
                    <a:lnR w="6350" cap="flat" cmpd="sng" algn="ctr">
                      <a:solidFill>
                        <a:srgbClr val="156D4F"/>
                      </a:solidFill>
                      <a:prstDash val="solid"/>
                      <a:round/>
                      <a:headEnd type="none" w="med" len="med"/>
                      <a:tailEnd type="none" w="med" len="med"/>
                    </a:lnR>
                    <a:lnT w="6350" cap="flat" cmpd="sng" algn="ctr">
                      <a:solidFill>
                        <a:srgbClr val="156D4F"/>
                      </a:solidFill>
                      <a:prstDash val="solid"/>
                      <a:round/>
                      <a:headEnd type="none" w="med" len="med"/>
                      <a:tailEnd type="none" w="med" len="med"/>
                    </a:lnT>
                    <a:lnB w="6350" cap="flat" cmpd="sng" algn="ctr">
                      <a:solidFill>
                        <a:srgbClr val="156D4F"/>
                      </a:solidFill>
                      <a:prstDash val="solid"/>
                      <a:round/>
                      <a:headEnd type="none" w="med" len="med"/>
                      <a:tailEnd type="none" w="med" len="med"/>
                    </a:lnB>
                  </a:tcPr>
                </a:tc>
                <a:tc>
                  <a:txBody>
                    <a:bodyPr/>
                    <a:lstStyle/>
                    <a:p>
                      <a:pPr marL="0" indent="0">
                        <a:buNone/>
                      </a:pPr>
                      <a:r>
                        <a:rPr lang="en-US" sz="1050" dirty="0">
                          <a:solidFill>
                            <a:srgbClr val="156D4F"/>
                          </a:solidFill>
                          <a:latin typeface="Segoe UI" panose="020B0502040204020203" pitchFamily="34" charset="0"/>
                          <a:ea typeface="Segoe UI" panose="020B0502040204020203" pitchFamily="34" charset="-122"/>
                          <a:cs typeface="Segoe UI" panose="020B0502040204020203" pitchFamily="34" charset="-120"/>
                        </a:rPr>
                        <a:t>Scenario Playbook Engine</a:t>
                      </a:r>
                      <a:endParaRPr lang="en-US" sz="1050" dirty="0">
                        <a:latin typeface="Segoe UI" panose="020B0502040204020203" pitchFamily="34" charset="0"/>
                        <a:ea typeface="Segoe UI" panose="020B0502040204020203" pitchFamily="34" charset="0"/>
                        <a:cs typeface="Segoe UI" panose="020B0502040204020203" pitchFamily="34" charset="0"/>
                      </a:endParaRPr>
                    </a:p>
                  </a:txBody>
                  <a:tcPr anchor="ctr">
                    <a:lnL w="6350" cap="flat" cmpd="sng" algn="ctr">
                      <a:solidFill>
                        <a:srgbClr val="156D4F"/>
                      </a:solidFill>
                      <a:prstDash val="solid"/>
                      <a:round/>
                      <a:headEnd type="none" w="med" len="med"/>
                      <a:tailEnd type="none" w="med" len="med"/>
                    </a:lnL>
                    <a:lnR w="6350" cap="flat" cmpd="sng" algn="ctr">
                      <a:solidFill>
                        <a:srgbClr val="156D4F"/>
                      </a:solidFill>
                      <a:prstDash val="solid"/>
                      <a:round/>
                      <a:headEnd type="none" w="med" len="med"/>
                      <a:tailEnd type="none" w="med" len="med"/>
                    </a:lnR>
                    <a:lnT w="6350" cap="flat" cmpd="sng" algn="ctr">
                      <a:solidFill>
                        <a:srgbClr val="156D4F"/>
                      </a:solidFill>
                      <a:prstDash val="solid"/>
                      <a:round/>
                      <a:headEnd type="none" w="med" len="med"/>
                      <a:tailEnd type="none" w="med" len="med"/>
                    </a:lnT>
                    <a:lnB w="6350" cap="flat" cmpd="sng" algn="ctr">
                      <a:solidFill>
                        <a:srgbClr val="156D4F"/>
                      </a:solidFill>
                      <a:prstDash val="solid"/>
                      <a:round/>
                      <a:headEnd type="none" w="med" len="med"/>
                      <a:tailEnd type="none" w="med" len="med"/>
                    </a:lnB>
                  </a:tcPr>
                </a:tc>
                <a:tc>
                  <a:txBody>
                    <a:bodyPr/>
                    <a:lstStyle/>
                    <a:p>
                      <a:pPr marL="0" indent="0">
                        <a:buNone/>
                      </a:pPr>
                      <a:r>
                        <a:rPr lang="en-US" sz="1050" dirty="0">
                          <a:solidFill>
                            <a:srgbClr val="156D4F"/>
                          </a:solidFill>
                          <a:latin typeface="Segoe UI" panose="020B0502040204020203" pitchFamily="34" charset="0"/>
                          <a:ea typeface="Segoe UI" panose="020B0502040204020203" pitchFamily="34" charset="-122"/>
                          <a:cs typeface="Segoe UI" panose="020B0502040204020203" pitchFamily="34" charset="-120"/>
                        </a:rPr>
                        <a:t>Estimates impact before real-world adoption (solar panel, LED, transit).</a:t>
                      </a:r>
                      <a:endParaRPr lang="en-US" sz="1050" dirty="0">
                        <a:latin typeface="Segoe UI" panose="020B0502040204020203" pitchFamily="34" charset="0"/>
                        <a:ea typeface="Segoe UI" panose="020B0502040204020203" pitchFamily="34" charset="0"/>
                        <a:cs typeface="Segoe UI" panose="020B0502040204020203" pitchFamily="34" charset="0"/>
                      </a:endParaRPr>
                    </a:p>
                  </a:txBody>
                  <a:tcPr anchor="ctr">
                    <a:lnL w="6350" cap="flat" cmpd="sng" algn="ctr">
                      <a:solidFill>
                        <a:srgbClr val="156D4F"/>
                      </a:solidFill>
                      <a:prstDash val="solid"/>
                      <a:round/>
                      <a:headEnd type="none" w="med" len="med"/>
                      <a:tailEnd type="none" w="med" len="med"/>
                    </a:lnL>
                    <a:lnR w="6350" cap="flat" cmpd="sng" algn="ctr">
                      <a:solidFill>
                        <a:srgbClr val="156D4F"/>
                      </a:solidFill>
                      <a:prstDash val="solid"/>
                      <a:round/>
                      <a:headEnd type="none" w="med" len="med"/>
                      <a:tailEnd type="none" w="med" len="med"/>
                    </a:lnR>
                    <a:lnT w="6350" cap="flat" cmpd="sng" algn="ctr">
                      <a:solidFill>
                        <a:srgbClr val="156D4F"/>
                      </a:solidFill>
                      <a:prstDash val="solid"/>
                      <a:round/>
                      <a:headEnd type="none" w="med" len="med"/>
                      <a:tailEnd type="none" w="med" len="med"/>
                    </a:lnT>
                    <a:lnB w="6350" cap="flat" cmpd="sng" algn="ctr">
                      <a:solidFill>
                        <a:srgbClr val="156D4F"/>
                      </a:solidFill>
                      <a:prstDash val="solid"/>
                      <a:round/>
                      <a:headEnd type="none" w="med" len="med"/>
                      <a:tailEnd type="none" w="med" len="med"/>
                    </a:lnB>
                  </a:tcPr>
                </a:tc>
              </a:tr>
              <a:tr h="402336">
                <a:tc>
                  <a:txBody>
                    <a:bodyPr/>
                    <a:lstStyle/>
                    <a:p>
                      <a:pPr marL="0" indent="0">
                        <a:buNone/>
                      </a:pPr>
                      <a:r>
                        <a:rPr lang="en-US" sz="1050" dirty="0">
                          <a:solidFill>
                            <a:srgbClr val="156D4F"/>
                          </a:solidFill>
                          <a:latin typeface="Segoe UI" panose="020B0502040204020203" pitchFamily="34" charset="0"/>
                          <a:ea typeface="Segoe UI" panose="020B0502040204020203" pitchFamily="34" charset="-122"/>
                          <a:cs typeface="Segoe UI" panose="020B0502040204020203" pitchFamily="34" charset="-120"/>
                        </a:rPr>
                        <a:t>Explainable AI</a:t>
                      </a:r>
                      <a:endParaRPr lang="en-US" sz="1050" dirty="0">
                        <a:latin typeface="Segoe UI" panose="020B0502040204020203" pitchFamily="34" charset="0"/>
                        <a:ea typeface="Segoe UI" panose="020B0502040204020203" pitchFamily="34" charset="0"/>
                        <a:cs typeface="Segoe UI" panose="020B0502040204020203" pitchFamily="34" charset="0"/>
                      </a:endParaRPr>
                    </a:p>
                  </a:txBody>
                  <a:tcPr anchor="ctr">
                    <a:lnL w="6350" cap="flat" cmpd="sng" algn="ctr">
                      <a:solidFill>
                        <a:srgbClr val="156D4F"/>
                      </a:solidFill>
                      <a:prstDash val="solid"/>
                      <a:round/>
                      <a:headEnd type="none" w="med" len="med"/>
                      <a:tailEnd type="none" w="med" len="med"/>
                    </a:lnL>
                    <a:lnR w="6350" cap="flat" cmpd="sng" algn="ctr">
                      <a:solidFill>
                        <a:srgbClr val="156D4F"/>
                      </a:solidFill>
                      <a:prstDash val="solid"/>
                      <a:round/>
                      <a:headEnd type="none" w="med" len="med"/>
                      <a:tailEnd type="none" w="med" len="med"/>
                    </a:lnR>
                    <a:lnT w="6350" cap="flat" cmpd="sng" algn="ctr">
                      <a:solidFill>
                        <a:srgbClr val="156D4F"/>
                      </a:solidFill>
                      <a:prstDash val="solid"/>
                      <a:round/>
                      <a:headEnd type="none" w="med" len="med"/>
                      <a:tailEnd type="none" w="med" len="med"/>
                    </a:lnT>
                    <a:lnB w="6350" cap="flat" cmpd="sng" algn="ctr">
                      <a:solidFill>
                        <a:srgbClr val="156D4F"/>
                      </a:solidFill>
                      <a:prstDash val="solid"/>
                      <a:round/>
                      <a:headEnd type="none" w="med" len="med"/>
                      <a:tailEnd type="none" w="med" len="med"/>
                    </a:lnB>
                  </a:tcPr>
                </a:tc>
                <a:tc>
                  <a:txBody>
                    <a:bodyPr/>
                    <a:lstStyle/>
                    <a:p>
                      <a:pPr marL="0" indent="0">
                        <a:buNone/>
                      </a:pPr>
                      <a:r>
                        <a:rPr lang="en-US" sz="1050" dirty="0">
                          <a:solidFill>
                            <a:srgbClr val="156D4F"/>
                          </a:solidFill>
                          <a:latin typeface="Segoe UI" panose="020B0502040204020203" pitchFamily="34" charset="0"/>
                          <a:ea typeface="Segoe UI" panose="020B0502040204020203" pitchFamily="34" charset="-122"/>
                          <a:cs typeface="Segoe UI" panose="020B0502040204020203" pitchFamily="34" charset="-120"/>
                        </a:rPr>
                        <a:t>GenAI Prompt Reasoning</a:t>
                      </a:r>
                      <a:endParaRPr lang="en-US" sz="1050" dirty="0">
                        <a:latin typeface="Segoe UI" panose="020B0502040204020203" pitchFamily="34" charset="0"/>
                        <a:ea typeface="Segoe UI" panose="020B0502040204020203" pitchFamily="34" charset="0"/>
                        <a:cs typeface="Segoe UI" panose="020B0502040204020203" pitchFamily="34" charset="0"/>
                      </a:endParaRPr>
                    </a:p>
                  </a:txBody>
                  <a:tcPr anchor="ctr">
                    <a:lnL w="6350" cap="flat" cmpd="sng" algn="ctr">
                      <a:solidFill>
                        <a:srgbClr val="156D4F"/>
                      </a:solidFill>
                      <a:prstDash val="solid"/>
                      <a:round/>
                      <a:headEnd type="none" w="med" len="med"/>
                      <a:tailEnd type="none" w="med" len="med"/>
                    </a:lnL>
                    <a:lnR w="6350" cap="flat" cmpd="sng" algn="ctr">
                      <a:solidFill>
                        <a:srgbClr val="156D4F"/>
                      </a:solidFill>
                      <a:prstDash val="solid"/>
                      <a:round/>
                      <a:headEnd type="none" w="med" len="med"/>
                      <a:tailEnd type="none" w="med" len="med"/>
                    </a:lnR>
                    <a:lnT w="6350" cap="flat" cmpd="sng" algn="ctr">
                      <a:solidFill>
                        <a:srgbClr val="156D4F"/>
                      </a:solidFill>
                      <a:prstDash val="solid"/>
                      <a:round/>
                      <a:headEnd type="none" w="med" len="med"/>
                      <a:tailEnd type="none" w="med" len="med"/>
                    </a:lnT>
                    <a:lnB w="6350" cap="flat" cmpd="sng" algn="ctr">
                      <a:solidFill>
                        <a:srgbClr val="156D4F"/>
                      </a:solidFill>
                      <a:prstDash val="solid"/>
                      <a:round/>
                      <a:headEnd type="none" w="med" len="med"/>
                      <a:tailEnd type="none" w="med" len="med"/>
                    </a:lnB>
                  </a:tcPr>
                </a:tc>
                <a:tc>
                  <a:txBody>
                    <a:bodyPr/>
                    <a:lstStyle/>
                    <a:p>
                      <a:pPr marL="0" indent="0">
                        <a:buNone/>
                      </a:pPr>
                      <a:r>
                        <a:rPr lang="en-US" sz="1050" dirty="0">
                          <a:solidFill>
                            <a:srgbClr val="156D4F"/>
                          </a:solidFill>
                          <a:latin typeface="Segoe UI" panose="020B0502040204020203" pitchFamily="34" charset="0"/>
                          <a:ea typeface="Segoe UI" panose="020B0502040204020203" pitchFamily="34" charset="-122"/>
                          <a:cs typeface="Segoe UI" panose="020B0502040204020203" pitchFamily="34" charset="-120"/>
                        </a:rPr>
                        <a:t>Interprets data metrics and translates raw scores into structured advice.</a:t>
                      </a:r>
                      <a:endParaRPr lang="en-US" sz="1050" dirty="0">
                        <a:latin typeface="Segoe UI" panose="020B0502040204020203" pitchFamily="34" charset="0"/>
                        <a:ea typeface="Segoe UI" panose="020B0502040204020203" pitchFamily="34" charset="0"/>
                        <a:cs typeface="Segoe UI" panose="020B0502040204020203" pitchFamily="34" charset="0"/>
                      </a:endParaRPr>
                    </a:p>
                  </a:txBody>
                  <a:tcPr anchor="ctr">
                    <a:lnL w="6350" cap="flat" cmpd="sng" algn="ctr">
                      <a:solidFill>
                        <a:srgbClr val="156D4F"/>
                      </a:solidFill>
                      <a:prstDash val="solid"/>
                      <a:round/>
                      <a:headEnd type="none" w="med" len="med"/>
                      <a:tailEnd type="none" w="med" len="med"/>
                    </a:lnL>
                    <a:lnR w="6350" cap="flat" cmpd="sng" algn="ctr">
                      <a:solidFill>
                        <a:srgbClr val="156D4F"/>
                      </a:solidFill>
                      <a:prstDash val="solid"/>
                      <a:round/>
                      <a:headEnd type="none" w="med" len="med"/>
                      <a:tailEnd type="none" w="med" len="med"/>
                    </a:lnR>
                    <a:lnT w="6350" cap="flat" cmpd="sng" algn="ctr">
                      <a:solidFill>
                        <a:srgbClr val="156D4F"/>
                      </a:solidFill>
                      <a:prstDash val="solid"/>
                      <a:round/>
                      <a:headEnd type="none" w="med" len="med"/>
                      <a:tailEnd type="none" w="med" len="med"/>
                    </a:lnT>
                    <a:lnB w="6350" cap="flat" cmpd="sng" algn="ctr">
                      <a:solidFill>
                        <a:srgbClr val="156D4F"/>
                      </a:solidFill>
                      <a:prstDash val="solid"/>
                      <a:round/>
                      <a:headEnd type="none" w="med" len="med"/>
                      <a:tailEnd type="none" w="med" len="med"/>
                    </a:lnB>
                  </a:tcPr>
                </a:tc>
              </a:tr>
              <a:tr h="402336">
                <a:tc>
                  <a:txBody>
                    <a:bodyPr/>
                    <a:lstStyle/>
                    <a:p>
                      <a:pPr marL="0" indent="0">
                        <a:buNone/>
                      </a:pPr>
                      <a:r>
                        <a:rPr lang="en-US" sz="1050" dirty="0">
                          <a:solidFill>
                            <a:srgbClr val="156D4F"/>
                          </a:solidFill>
                          <a:latin typeface="Segoe UI" panose="020B0502040204020203" pitchFamily="34" charset="0"/>
                          <a:ea typeface="Segoe UI" panose="020B0502040204020203" pitchFamily="34" charset="-122"/>
                          <a:cs typeface="Segoe UI" panose="020B0502040204020203" pitchFamily="34" charset="-120"/>
                        </a:rPr>
                        <a:t>Adaptive Coach</a:t>
                      </a:r>
                      <a:endParaRPr lang="en-US" sz="1050" dirty="0">
                        <a:latin typeface="Segoe UI" panose="020B0502040204020203" pitchFamily="34" charset="0"/>
                        <a:ea typeface="Segoe UI" panose="020B0502040204020203" pitchFamily="34" charset="0"/>
                        <a:cs typeface="Segoe UI" panose="020B0502040204020203" pitchFamily="34" charset="0"/>
                      </a:endParaRPr>
                    </a:p>
                  </a:txBody>
                  <a:tcPr anchor="ctr">
                    <a:lnL w="6350" cap="flat" cmpd="sng" algn="ctr">
                      <a:solidFill>
                        <a:srgbClr val="156D4F"/>
                      </a:solidFill>
                      <a:prstDash val="solid"/>
                      <a:round/>
                      <a:headEnd type="none" w="med" len="med"/>
                      <a:tailEnd type="none" w="med" len="med"/>
                    </a:lnL>
                    <a:lnR w="6350" cap="flat" cmpd="sng" algn="ctr">
                      <a:solidFill>
                        <a:srgbClr val="156D4F"/>
                      </a:solidFill>
                      <a:prstDash val="solid"/>
                      <a:round/>
                      <a:headEnd type="none" w="med" len="med"/>
                      <a:tailEnd type="none" w="med" len="med"/>
                    </a:lnR>
                    <a:lnT w="6350" cap="flat" cmpd="sng" algn="ctr">
                      <a:solidFill>
                        <a:srgbClr val="156D4F"/>
                      </a:solidFill>
                      <a:prstDash val="solid"/>
                      <a:round/>
                      <a:headEnd type="none" w="med" len="med"/>
                      <a:tailEnd type="none" w="med" len="med"/>
                    </a:lnT>
                    <a:lnB w="6350" cap="flat" cmpd="sng" algn="ctr">
                      <a:solidFill>
                        <a:srgbClr val="156D4F"/>
                      </a:solidFill>
                      <a:prstDash val="solid"/>
                      <a:round/>
                      <a:headEnd type="none" w="med" len="med"/>
                      <a:tailEnd type="none" w="med" len="med"/>
                    </a:lnB>
                  </a:tcPr>
                </a:tc>
                <a:tc>
                  <a:txBody>
                    <a:bodyPr/>
                    <a:lstStyle/>
                    <a:p>
                      <a:pPr marL="0" indent="0">
                        <a:buNone/>
                      </a:pPr>
                      <a:r>
                        <a:rPr lang="en-US" sz="1050" dirty="0">
                          <a:solidFill>
                            <a:srgbClr val="156D4F"/>
                          </a:solidFill>
                          <a:latin typeface="Segoe UI" panose="020B0502040204020203" pitchFamily="34" charset="0"/>
                          <a:ea typeface="Segoe UI" panose="020B0502040204020203" pitchFamily="34" charset="-122"/>
                          <a:cs typeface="Segoe UI" panose="020B0502040204020203" pitchFamily="34" charset="-120"/>
                        </a:rPr>
                        <a:t>Behavior Response Learning</a:t>
                      </a:r>
                      <a:endParaRPr lang="en-US" sz="1050" dirty="0">
                        <a:latin typeface="Segoe UI" panose="020B0502040204020203" pitchFamily="34" charset="0"/>
                        <a:ea typeface="Segoe UI" panose="020B0502040204020203" pitchFamily="34" charset="0"/>
                        <a:cs typeface="Segoe UI" panose="020B0502040204020203" pitchFamily="34" charset="0"/>
                      </a:endParaRPr>
                    </a:p>
                  </a:txBody>
                  <a:tcPr anchor="ctr">
                    <a:lnL w="6350" cap="flat" cmpd="sng" algn="ctr">
                      <a:solidFill>
                        <a:srgbClr val="156D4F"/>
                      </a:solidFill>
                      <a:prstDash val="solid"/>
                      <a:round/>
                      <a:headEnd type="none" w="med" len="med"/>
                      <a:tailEnd type="none" w="med" len="med"/>
                    </a:lnL>
                    <a:lnR w="6350" cap="flat" cmpd="sng" algn="ctr">
                      <a:solidFill>
                        <a:srgbClr val="156D4F"/>
                      </a:solidFill>
                      <a:prstDash val="solid"/>
                      <a:round/>
                      <a:headEnd type="none" w="med" len="med"/>
                      <a:tailEnd type="none" w="med" len="med"/>
                    </a:lnR>
                    <a:lnT w="6350" cap="flat" cmpd="sng" algn="ctr">
                      <a:solidFill>
                        <a:srgbClr val="156D4F"/>
                      </a:solidFill>
                      <a:prstDash val="solid"/>
                      <a:round/>
                      <a:headEnd type="none" w="med" len="med"/>
                      <a:tailEnd type="none" w="med" len="med"/>
                    </a:lnT>
                    <a:lnB w="6350" cap="flat" cmpd="sng" algn="ctr">
                      <a:solidFill>
                        <a:srgbClr val="156D4F"/>
                      </a:solidFill>
                      <a:prstDash val="solid"/>
                      <a:round/>
                      <a:headEnd type="none" w="med" len="med"/>
                      <a:tailEnd type="none" w="med" len="med"/>
                    </a:lnB>
                  </a:tcPr>
                </a:tc>
                <a:tc>
                  <a:txBody>
                    <a:bodyPr/>
                    <a:lstStyle/>
                    <a:p>
                      <a:pPr marL="0" indent="0">
                        <a:buNone/>
                      </a:pPr>
                      <a:r>
                        <a:rPr lang="en-US" sz="1050" dirty="0">
                          <a:solidFill>
                            <a:srgbClr val="156D4F"/>
                          </a:solidFill>
                          <a:latin typeface="Segoe UI" panose="020B0502040204020203" pitchFamily="34" charset="0"/>
                          <a:ea typeface="Segoe UI" panose="020B0502040204020203" pitchFamily="34" charset="-122"/>
                          <a:cs typeface="Segoe UI" panose="020B0502040204020203" pitchFamily="34" charset="-120"/>
                        </a:rPr>
                        <a:t>Adapts coaching tone and suggestions based on observed user actions.</a:t>
                      </a:r>
                      <a:endParaRPr lang="en-US" sz="1050" dirty="0">
                        <a:latin typeface="Segoe UI" panose="020B0502040204020203" pitchFamily="34" charset="0"/>
                        <a:ea typeface="Segoe UI" panose="020B0502040204020203" pitchFamily="34" charset="0"/>
                        <a:cs typeface="Segoe UI" panose="020B0502040204020203" pitchFamily="34" charset="0"/>
                      </a:endParaRPr>
                    </a:p>
                  </a:txBody>
                  <a:tcPr anchor="ctr">
                    <a:lnL w="6350" cap="flat" cmpd="sng" algn="ctr">
                      <a:solidFill>
                        <a:srgbClr val="156D4F"/>
                      </a:solidFill>
                      <a:prstDash val="solid"/>
                      <a:round/>
                      <a:headEnd type="none" w="med" len="med"/>
                      <a:tailEnd type="none" w="med" len="med"/>
                    </a:lnL>
                    <a:lnR w="6350" cap="flat" cmpd="sng" algn="ctr">
                      <a:solidFill>
                        <a:srgbClr val="156D4F"/>
                      </a:solidFill>
                      <a:prstDash val="solid"/>
                      <a:round/>
                      <a:headEnd type="none" w="med" len="med"/>
                      <a:tailEnd type="none" w="med" len="med"/>
                    </a:lnR>
                    <a:lnT w="6350" cap="flat" cmpd="sng" algn="ctr">
                      <a:solidFill>
                        <a:srgbClr val="156D4F"/>
                      </a:solidFill>
                      <a:prstDash val="solid"/>
                      <a:round/>
                      <a:headEnd type="none" w="med" len="med"/>
                      <a:tailEnd type="none" w="med" len="med"/>
                    </a:lnT>
                    <a:lnB w="6350" cap="flat" cmpd="sng" algn="ctr">
                      <a:solidFill>
                        <a:srgbClr val="156D4F"/>
                      </a:solidFill>
                      <a:prstDash val="solid"/>
                      <a:round/>
                      <a:headEnd type="none" w="med" len="med"/>
                      <a:tailEnd type="none" w="med" len="med"/>
                    </a:lnB>
                  </a:tcPr>
                </a:tc>
              </a:tr>
            </a:tbl>
          </a:graphicData>
        </a:graphic>
      </p:graphicFrame>
      <p:sp>
        <p:nvSpPr>
          <p:cNvPr id="6" name="Text 3"/>
          <p:cNvSpPr/>
          <p:nvPr/>
        </p:nvSpPr>
        <p:spPr>
          <a:xfrm>
            <a:off x="548640" y="4574540"/>
            <a:ext cx="6858000" cy="274320"/>
          </a:xfrm>
          <a:prstGeom prst="rect">
            <a:avLst/>
          </a:prstGeom>
          <a:noFill/>
        </p:spPr>
        <p:txBody>
          <a:bodyPr wrap="square" lIns="0" tIns="0" rIns="0" bIns="0" rtlCol="0" anchor="ctr"/>
          <a:lstStyle/>
          <a:p>
            <a:pPr marL="0" indent="0">
              <a:buNone/>
            </a:pPr>
            <a:r>
              <a:rPr lang="en-US" sz="1500" b="1" kern="0" spc="100" dirty="0">
                <a:solidFill>
                  <a:srgbClr val="156D4F"/>
                </a:solidFill>
                <a:latin typeface="Segoe UI" panose="020B0502040204020203" pitchFamily="34" charset="0"/>
                <a:ea typeface="Segoe UI" panose="020B0502040204020203" pitchFamily="34" charset="-122"/>
                <a:cs typeface="Segoe UI" panose="020B0502040204020203" pitchFamily="34" charset="-120"/>
              </a:rPr>
              <a:t>CORE INTELLIGENT CAPABILITIES &amp; METRICS</a:t>
            </a:r>
            <a:endParaRPr lang="en-US" sz="1500" dirty="0"/>
          </a:p>
        </p:txBody>
      </p:sp>
      <p:sp>
        <p:nvSpPr>
          <p:cNvPr id="7" name="Text 4"/>
          <p:cNvSpPr/>
          <p:nvPr/>
        </p:nvSpPr>
        <p:spPr>
          <a:xfrm>
            <a:off x="548640" y="4754880"/>
            <a:ext cx="6858000" cy="594360"/>
          </a:xfrm>
          <a:prstGeom prst="rect">
            <a:avLst/>
          </a:prstGeom>
          <a:noFill/>
        </p:spPr>
        <p:txBody>
          <a:bodyPr wrap="square" lIns="0" tIns="0" rIns="0" bIns="0" rtlCol="0" anchor="ctr"/>
          <a:lstStyle/>
          <a:p>
            <a:pPr marL="0" indent="0" algn="just">
              <a:lnSpc>
                <a:spcPct val="120000"/>
              </a:lnSpc>
              <a:buNone/>
            </a:pPr>
            <a:r>
              <a:rPr lang="en-US" sz="1300" b="1" dirty="0">
                <a:solidFill>
                  <a:srgbClr val="156D4F"/>
                </a:solidFill>
                <a:latin typeface="Segoe UI" panose="020B0502040204020203" pitchFamily="34" charset="0"/>
                <a:ea typeface="Segoe UI" panose="020B0502040204020203" pitchFamily="34" charset="-122"/>
                <a:cs typeface="Segoe UI" panose="020B0502040204020203" pitchFamily="34" charset="-120"/>
              </a:rPr>
              <a:t>Cross-Domain Optimization:  </a:t>
            </a:r>
            <a:r>
              <a:rPr lang="en-US" sz="1300" dirty="0">
                <a:solidFill>
                  <a:srgbClr val="364327"/>
                </a:solidFill>
                <a:latin typeface="Segoe UI" panose="020B0502040204020203" pitchFamily="34" charset="0"/>
                <a:ea typeface="Segoe UI" panose="020B0502040204020203" pitchFamily="34" charset="-122"/>
                <a:cs typeface="Segoe UI" panose="020B0502040204020203" pitchFamily="34" charset="-120"/>
              </a:rPr>
              <a:t>Simultaneously evaluates multiple resources (carbon, water, costs) using Google OR-Tools solvers to avoid contradictory advice.</a:t>
            </a:r>
            <a:endParaRPr lang="en-US" sz="1300" dirty="0"/>
          </a:p>
        </p:txBody>
      </p:sp>
      <p:sp>
        <p:nvSpPr>
          <p:cNvPr id="8" name="Text 5"/>
          <p:cNvSpPr/>
          <p:nvPr/>
        </p:nvSpPr>
        <p:spPr>
          <a:xfrm>
            <a:off x="548640" y="5358384"/>
            <a:ext cx="6858000" cy="594360"/>
          </a:xfrm>
          <a:prstGeom prst="rect">
            <a:avLst/>
          </a:prstGeom>
          <a:noFill/>
        </p:spPr>
        <p:txBody>
          <a:bodyPr wrap="square" lIns="0" tIns="0" rIns="0" bIns="0" rtlCol="0" anchor="ctr"/>
          <a:lstStyle/>
          <a:p>
            <a:pPr marL="0" indent="0" algn="just">
              <a:lnSpc>
                <a:spcPct val="120000"/>
              </a:lnSpc>
              <a:buNone/>
            </a:pPr>
            <a:r>
              <a:rPr lang="en-US" sz="1300" b="1" dirty="0">
                <a:solidFill>
                  <a:srgbClr val="156D4F"/>
                </a:solidFill>
                <a:latin typeface="Segoe UI" panose="020B0502040204020203" pitchFamily="34" charset="0"/>
                <a:ea typeface="Segoe UI" panose="020B0502040204020203" pitchFamily="34" charset="-122"/>
                <a:cs typeface="Segoe UI" panose="020B0502040204020203" pitchFamily="34" charset="-120"/>
              </a:rPr>
              <a:t>Adaptive Intervention Engine:  </a:t>
            </a:r>
            <a:r>
              <a:rPr lang="en-US" sz="1300" dirty="0">
                <a:solidFill>
                  <a:srgbClr val="364327"/>
                </a:solidFill>
                <a:latin typeface="Segoe UI" panose="020B0502040204020203" pitchFamily="34" charset="0"/>
                <a:ea typeface="Segoe UI" panose="020B0502040204020203" pitchFamily="34" charset="-122"/>
                <a:cs typeface="Segoe UI" panose="020B0502040204020203" pitchFamily="34" charset="-120"/>
              </a:rPr>
              <a:t>Monitors user adherence to recommended actions, dynamically updating future suggestion routes to match behavior patterns.</a:t>
            </a:r>
            <a:endParaRPr lang="en-US" sz="1300" dirty="0"/>
          </a:p>
        </p:txBody>
      </p:sp>
      <p:sp>
        <p:nvSpPr>
          <p:cNvPr id="9" name="Shape 6"/>
          <p:cNvSpPr/>
          <p:nvPr/>
        </p:nvSpPr>
        <p:spPr>
          <a:xfrm>
            <a:off x="7910195" y="1737360"/>
            <a:ext cx="3748405" cy="3605530"/>
          </a:xfrm>
          <a:prstGeom prst="roundRect">
            <a:avLst>
              <a:gd name="adj" fmla="val 2299"/>
            </a:avLst>
          </a:prstGeom>
          <a:solidFill>
            <a:srgbClr val="FFFFFF"/>
          </a:solidFill>
          <a:effectLst>
            <a:outerShdw blurRad="101600" dist="38100" dir="2700000" algn="bl" rotWithShape="0">
              <a:srgbClr val="000000">
                <a:alpha val="12000"/>
              </a:srgbClr>
            </a:outerShdw>
          </a:effectLst>
        </p:spPr>
      </p:sp>
      <p:pic>
        <p:nvPicPr>
          <p:cNvPr id="10" name="Image 0" descr="./icons/lock_white.png"/>
          <p:cNvPicPr>
            <a:picLocks noChangeAspect="1"/>
          </p:cNvPicPr>
          <p:nvPr/>
        </p:nvPicPr>
        <p:blipFill>
          <a:blip r:embed="rId1"/>
          <a:stretch>
            <a:fillRect/>
          </a:stretch>
        </p:blipFill>
        <p:spPr>
          <a:xfrm>
            <a:off x="7909560" y="1920240"/>
            <a:ext cx="365760" cy="365760"/>
          </a:xfrm>
          <a:prstGeom prst="rect">
            <a:avLst/>
          </a:prstGeom>
        </p:spPr>
      </p:pic>
      <p:sp>
        <p:nvSpPr>
          <p:cNvPr id="11" name="Text 7"/>
          <p:cNvSpPr/>
          <p:nvPr/>
        </p:nvSpPr>
        <p:spPr>
          <a:xfrm>
            <a:off x="8366760" y="1920240"/>
            <a:ext cx="3200400" cy="365760"/>
          </a:xfrm>
          <a:prstGeom prst="rect">
            <a:avLst/>
          </a:prstGeom>
          <a:noFill/>
        </p:spPr>
        <p:txBody>
          <a:bodyPr wrap="square" lIns="0" tIns="0" rIns="0" bIns="0" rtlCol="0" anchor="ctr"/>
          <a:lstStyle/>
          <a:p>
            <a:pPr marL="0" indent="0">
              <a:buNone/>
            </a:pPr>
            <a:r>
              <a:rPr lang="en-US" sz="1550" b="1" dirty="0">
                <a:solidFill>
                  <a:srgbClr val="156D4F"/>
                </a:solidFill>
                <a:latin typeface="Segoe UI" panose="020B0502040204020203" pitchFamily="34" charset="0"/>
                <a:ea typeface="Segoe UI" panose="020B0502040204020203" pitchFamily="34" charset="-122"/>
                <a:cs typeface="Segoe UI" panose="020B0502040204020203" pitchFamily="34" charset="-120"/>
              </a:rPr>
              <a:t>EVALUATION &amp; VERIFICATION</a:t>
            </a:r>
            <a:endParaRPr lang="en-US" sz="1550" dirty="0"/>
          </a:p>
        </p:txBody>
      </p:sp>
      <p:pic>
        <p:nvPicPr>
          <p:cNvPr id="12" name="Image 1" descr="./icons/check_dark.png"/>
          <p:cNvPicPr>
            <a:picLocks noChangeAspect="1"/>
          </p:cNvPicPr>
          <p:nvPr/>
        </p:nvPicPr>
        <p:blipFill>
          <a:blip r:embed="rId2"/>
          <a:stretch>
            <a:fillRect/>
          </a:stretch>
        </p:blipFill>
        <p:spPr>
          <a:xfrm>
            <a:off x="7909560" y="2468880"/>
            <a:ext cx="146304" cy="146304"/>
          </a:xfrm>
          <a:prstGeom prst="rect">
            <a:avLst/>
          </a:prstGeom>
        </p:spPr>
      </p:pic>
      <p:sp>
        <p:nvSpPr>
          <p:cNvPr id="5" name="Text 8"/>
          <p:cNvSpPr/>
          <p:nvPr/>
        </p:nvSpPr>
        <p:spPr>
          <a:xfrm>
            <a:off x="8138160" y="2423160"/>
            <a:ext cx="3383280" cy="411480"/>
          </a:xfrm>
          <a:prstGeom prst="rect">
            <a:avLst/>
          </a:prstGeom>
          <a:noFill/>
        </p:spPr>
        <p:txBody>
          <a:bodyPr wrap="square" lIns="0" tIns="0" rIns="0" bIns="0" rtlCol="0" anchor="ctr"/>
          <a:lstStyle/>
          <a:p>
            <a:pPr marL="0" indent="0" algn="just">
              <a:lnSpc>
                <a:spcPct val="115000"/>
              </a:lnSpc>
              <a:buNone/>
            </a:pPr>
            <a:r>
              <a:rPr lang="en-US" sz="1350" dirty="0">
                <a:solidFill>
                  <a:srgbClr val="364327"/>
                </a:solidFill>
                <a:latin typeface="Segoe UI" panose="020B0502040204020203" pitchFamily="34" charset="0"/>
                <a:ea typeface="Segoe UI" panose="020B0502040204020203" pitchFamily="34" charset="-122"/>
                <a:cs typeface="Segoe UI" panose="020B0502040204020203" pitchFamily="34" charset="-120"/>
              </a:rPr>
              <a:t>Behavioral anomaly detectors flagging high-consumption periods.</a:t>
            </a:r>
            <a:endParaRPr lang="en-US" sz="1350" dirty="0"/>
          </a:p>
        </p:txBody>
      </p:sp>
      <p:pic>
        <p:nvPicPr>
          <p:cNvPr id="14" name="Image 2" descr="./icons/check_dark.png"/>
          <p:cNvPicPr>
            <a:picLocks noChangeAspect="1"/>
          </p:cNvPicPr>
          <p:nvPr/>
        </p:nvPicPr>
        <p:blipFill>
          <a:blip r:embed="rId2"/>
          <a:stretch>
            <a:fillRect/>
          </a:stretch>
        </p:blipFill>
        <p:spPr>
          <a:xfrm>
            <a:off x="7909560" y="2944368"/>
            <a:ext cx="146304" cy="146304"/>
          </a:xfrm>
          <a:prstGeom prst="rect">
            <a:avLst/>
          </a:prstGeom>
        </p:spPr>
      </p:pic>
      <p:sp>
        <p:nvSpPr>
          <p:cNvPr id="15" name="Text 9"/>
          <p:cNvSpPr/>
          <p:nvPr/>
        </p:nvSpPr>
        <p:spPr>
          <a:xfrm>
            <a:off x="8138160" y="2898648"/>
            <a:ext cx="3383280" cy="411480"/>
          </a:xfrm>
          <a:prstGeom prst="rect">
            <a:avLst/>
          </a:prstGeom>
          <a:noFill/>
        </p:spPr>
        <p:txBody>
          <a:bodyPr wrap="square" lIns="0" tIns="0" rIns="0" bIns="0" rtlCol="0" anchor="ctr"/>
          <a:lstStyle/>
          <a:p>
            <a:pPr marL="0" indent="0" algn="just">
              <a:lnSpc>
                <a:spcPct val="115000"/>
              </a:lnSpc>
              <a:buNone/>
            </a:pPr>
            <a:r>
              <a:rPr lang="en-US" sz="1350" dirty="0">
                <a:solidFill>
                  <a:srgbClr val="364327"/>
                </a:solidFill>
                <a:latin typeface="Segoe UI" panose="020B0502040204020203" pitchFamily="34" charset="0"/>
                <a:ea typeface="Segoe UI" panose="020B0502040204020203" pitchFamily="34" charset="-122"/>
                <a:cs typeface="Segoe UI" panose="020B0502040204020203" pitchFamily="34" charset="-120"/>
              </a:rPr>
              <a:t>Digital Twin algorithms simulating LED, solar, and public transit.</a:t>
            </a:r>
            <a:endParaRPr lang="en-US" sz="1350" dirty="0"/>
          </a:p>
        </p:txBody>
      </p:sp>
      <p:pic>
        <p:nvPicPr>
          <p:cNvPr id="16" name="Image 3" descr="./icons/check_dark.png"/>
          <p:cNvPicPr>
            <a:picLocks noChangeAspect="1"/>
          </p:cNvPicPr>
          <p:nvPr/>
        </p:nvPicPr>
        <p:blipFill>
          <a:blip r:embed="rId2"/>
          <a:stretch>
            <a:fillRect/>
          </a:stretch>
        </p:blipFill>
        <p:spPr>
          <a:xfrm>
            <a:off x="7909560" y="3419856"/>
            <a:ext cx="146304" cy="146304"/>
          </a:xfrm>
          <a:prstGeom prst="rect">
            <a:avLst/>
          </a:prstGeom>
        </p:spPr>
      </p:pic>
      <p:sp>
        <p:nvSpPr>
          <p:cNvPr id="17" name="Text 10"/>
          <p:cNvSpPr/>
          <p:nvPr/>
        </p:nvSpPr>
        <p:spPr>
          <a:xfrm>
            <a:off x="8138160" y="3374136"/>
            <a:ext cx="3383280" cy="411480"/>
          </a:xfrm>
          <a:prstGeom prst="rect">
            <a:avLst/>
          </a:prstGeom>
          <a:noFill/>
        </p:spPr>
        <p:txBody>
          <a:bodyPr wrap="square" lIns="0" tIns="0" rIns="0" bIns="0" rtlCol="0" anchor="ctr"/>
          <a:lstStyle/>
          <a:p>
            <a:pPr marL="0" indent="0" algn="just">
              <a:lnSpc>
                <a:spcPct val="115000"/>
              </a:lnSpc>
              <a:buNone/>
            </a:pPr>
            <a:r>
              <a:rPr lang="en-US" sz="1350" dirty="0">
                <a:solidFill>
                  <a:srgbClr val="364327"/>
                </a:solidFill>
                <a:latin typeface="Segoe UI" panose="020B0502040204020203" pitchFamily="34" charset="0"/>
                <a:ea typeface="Segoe UI" panose="020B0502040204020203" pitchFamily="34" charset="-122"/>
                <a:cs typeface="Segoe UI" panose="020B0502040204020203" pitchFamily="34" charset="-120"/>
              </a:rPr>
              <a:t>Google OR-Tools solver code calculating multi-resource trade-offs.</a:t>
            </a:r>
            <a:endParaRPr lang="en-US" sz="1350" dirty="0"/>
          </a:p>
        </p:txBody>
      </p:sp>
      <p:pic>
        <p:nvPicPr>
          <p:cNvPr id="18" name="Image 4" descr="./icons/check_dark.png"/>
          <p:cNvPicPr>
            <a:picLocks noChangeAspect="1"/>
          </p:cNvPicPr>
          <p:nvPr/>
        </p:nvPicPr>
        <p:blipFill>
          <a:blip r:embed="rId2"/>
          <a:stretch>
            <a:fillRect/>
          </a:stretch>
        </p:blipFill>
        <p:spPr>
          <a:xfrm>
            <a:off x="7909560" y="3895344"/>
            <a:ext cx="146304" cy="146304"/>
          </a:xfrm>
          <a:prstGeom prst="rect">
            <a:avLst/>
          </a:prstGeom>
        </p:spPr>
      </p:pic>
      <p:sp>
        <p:nvSpPr>
          <p:cNvPr id="19" name="Text 11"/>
          <p:cNvSpPr/>
          <p:nvPr/>
        </p:nvSpPr>
        <p:spPr>
          <a:xfrm>
            <a:off x="8138160" y="3849624"/>
            <a:ext cx="3383280" cy="411480"/>
          </a:xfrm>
          <a:prstGeom prst="rect">
            <a:avLst/>
          </a:prstGeom>
          <a:noFill/>
        </p:spPr>
        <p:txBody>
          <a:bodyPr wrap="square" lIns="0" tIns="0" rIns="0" bIns="0" rtlCol="0" anchor="ctr"/>
          <a:lstStyle/>
          <a:p>
            <a:pPr marL="0" indent="0" algn="just">
              <a:lnSpc>
                <a:spcPct val="115000"/>
              </a:lnSpc>
              <a:buNone/>
            </a:pPr>
            <a:r>
              <a:rPr lang="en-US" sz="1350" dirty="0">
                <a:solidFill>
                  <a:srgbClr val="364327"/>
                </a:solidFill>
                <a:latin typeface="Segoe UI" panose="020B0502040204020203" pitchFamily="34" charset="0"/>
                <a:ea typeface="Segoe UI" panose="020B0502040204020203" pitchFamily="34" charset="-122"/>
                <a:cs typeface="Segoe UI" panose="020B0502040204020203" pitchFamily="34" charset="-120"/>
              </a:rPr>
              <a:t>Generative AI connectors explaining score increases dynamically.</a:t>
            </a:r>
            <a:endParaRPr lang="en-US" sz="1350" dirty="0"/>
          </a:p>
        </p:txBody>
      </p:sp>
      <p:pic>
        <p:nvPicPr>
          <p:cNvPr id="20" name="Image 5" descr="./icons/check_dark.png"/>
          <p:cNvPicPr>
            <a:picLocks noChangeAspect="1"/>
          </p:cNvPicPr>
          <p:nvPr/>
        </p:nvPicPr>
        <p:blipFill>
          <a:blip r:embed="rId2"/>
          <a:stretch>
            <a:fillRect/>
          </a:stretch>
        </p:blipFill>
        <p:spPr>
          <a:xfrm>
            <a:off x="7909560" y="4370832"/>
            <a:ext cx="146304" cy="146304"/>
          </a:xfrm>
          <a:prstGeom prst="rect">
            <a:avLst/>
          </a:prstGeom>
        </p:spPr>
      </p:pic>
      <p:sp>
        <p:nvSpPr>
          <p:cNvPr id="21" name="Text 12"/>
          <p:cNvSpPr/>
          <p:nvPr/>
        </p:nvSpPr>
        <p:spPr>
          <a:xfrm>
            <a:off x="8138160" y="4325112"/>
            <a:ext cx="3383280" cy="411480"/>
          </a:xfrm>
          <a:prstGeom prst="rect">
            <a:avLst/>
          </a:prstGeom>
          <a:noFill/>
        </p:spPr>
        <p:txBody>
          <a:bodyPr wrap="square" lIns="0" tIns="0" rIns="0" bIns="0" rtlCol="0" anchor="ctr"/>
          <a:lstStyle/>
          <a:p>
            <a:pPr marL="0" indent="0" algn="just">
              <a:lnSpc>
                <a:spcPct val="115000"/>
              </a:lnSpc>
              <a:buNone/>
            </a:pPr>
            <a:r>
              <a:rPr lang="en-US" sz="1350" dirty="0">
                <a:solidFill>
                  <a:srgbClr val="364327"/>
                </a:solidFill>
                <a:latin typeface="Segoe UI" panose="020B0502040204020203" pitchFamily="34" charset="0"/>
                <a:ea typeface="Segoe UI" panose="020B0502040204020203" pitchFamily="34" charset="-122"/>
                <a:cs typeface="Segoe UI" panose="020B0502040204020203" pitchFamily="34" charset="-120"/>
              </a:rPr>
              <a:t>Evidence checker evaluating uploaded receipt and geo-coordinate files.</a:t>
            </a:r>
            <a:endParaRPr lang="en-US" sz="1350" dirty="0"/>
          </a:p>
        </p:txBody>
      </p:sp>
      <p:pic>
        <p:nvPicPr>
          <p:cNvPr id="22" name="Image 6" descr="./icons/check_dark.png"/>
          <p:cNvPicPr>
            <a:picLocks noChangeAspect="1"/>
          </p:cNvPicPr>
          <p:nvPr/>
        </p:nvPicPr>
        <p:blipFill>
          <a:blip r:embed="rId2"/>
          <a:stretch>
            <a:fillRect/>
          </a:stretch>
        </p:blipFill>
        <p:spPr>
          <a:xfrm>
            <a:off x="7909560" y="4846320"/>
            <a:ext cx="146304" cy="146304"/>
          </a:xfrm>
          <a:prstGeom prst="rect">
            <a:avLst/>
          </a:prstGeom>
        </p:spPr>
      </p:pic>
      <p:sp>
        <p:nvSpPr>
          <p:cNvPr id="23" name="Text 13"/>
          <p:cNvSpPr/>
          <p:nvPr/>
        </p:nvSpPr>
        <p:spPr>
          <a:xfrm>
            <a:off x="8138160" y="4800600"/>
            <a:ext cx="3383280" cy="411480"/>
          </a:xfrm>
          <a:prstGeom prst="rect">
            <a:avLst/>
          </a:prstGeom>
          <a:noFill/>
        </p:spPr>
        <p:txBody>
          <a:bodyPr wrap="square" lIns="0" tIns="0" rIns="0" bIns="0" rtlCol="0" anchor="ctr"/>
          <a:lstStyle/>
          <a:p>
            <a:pPr marL="0" indent="0" algn="just">
              <a:lnSpc>
                <a:spcPct val="115000"/>
              </a:lnSpc>
              <a:buNone/>
            </a:pPr>
            <a:r>
              <a:rPr lang="en-US" sz="1350" dirty="0">
                <a:solidFill>
                  <a:srgbClr val="364327"/>
                </a:solidFill>
                <a:latin typeface="Segoe UI" panose="020B0502040204020203" pitchFamily="34" charset="0"/>
                <a:ea typeface="Segoe UI" panose="020B0502040204020203" pitchFamily="34" charset="-122"/>
                <a:cs typeface="Segoe UI" panose="020B0502040204020203" pitchFamily="34" charset="-120"/>
              </a:rPr>
              <a:t>Redis cache setups managing fast updates of dashboard metrics.</a:t>
            </a:r>
            <a:endParaRPr lang="en-US" sz="1350" dirty="0"/>
          </a:p>
        </p:txBody>
      </p:sp>
      <p:sp>
        <p:nvSpPr>
          <p:cNvPr id="24" name="Shape 14"/>
          <p:cNvSpPr/>
          <p:nvPr/>
        </p:nvSpPr>
        <p:spPr>
          <a:xfrm>
            <a:off x="530352" y="6364224"/>
            <a:ext cx="237744" cy="237744"/>
          </a:xfrm>
          <a:prstGeom prst="ellipse">
            <a:avLst/>
          </a:prstGeom>
          <a:solidFill>
            <a:srgbClr val="156D4F"/>
          </a:solidFill>
        </p:spPr>
      </p:sp>
      <p:pic>
        <p:nvPicPr>
          <p:cNvPr id="25" name="Image 7" descr="./icons/arrow_left_white.png">
            <a:hlinkClick r:id="rId3" action="ppaction://hlinksldjump"/>
          </p:cNvPr>
          <p:cNvPicPr>
            <a:picLocks noChangeAspect="1"/>
          </p:cNvPicPr>
          <p:nvPr/>
        </p:nvPicPr>
        <p:blipFill>
          <a:blip r:embed="rId4"/>
          <a:stretch>
            <a:fillRect/>
          </a:stretch>
        </p:blipFill>
        <p:spPr>
          <a:xfrm>
            <a:off x="548640" y="6382512"/>
            <a:ext cx="201168" cy="201168"/>
          </a:xfrm>
          <a:prstGeom prst="rect">
            <a:avLst/>
          </a:prstGeom>
        </p:spPr>
      </p:pic>
      <p:sp>
        <p:nvSpPr>
          <p:cNvPr id="26" name="Shape 15">
            <a:hlinkClick r:id="rId3" action="ppaction://hlinksldjump"/>
          </p:cNvPr>
          <p:cNvSpPr/>
          <p:nvPr/>
        </p:nvSpPr>
        <p:spPr>
          <a:xfrm>
            <a:off x="530352" y="6355080"/>
            <a:ext cx="2377440" cy="365760"/>
          </a:xfrm>
          <a:prstGeom prst="rect">
            <a:avLst/>
          </a:prstGeom>
          <a:solidFill>
            <a:srgbClr val="364327">
              <a:alpha val="0"/>
            </a:srgbClr>
          </a:solidFill>
        </p:spPr>
      </p:sp>
      <p:sp>
        <p:nvSpPr>
          <p:cNvPr id="27" name="Text 16">
            <a:hlinkClick r:id="rId3" action="ppaction://hlinksldjump"/>
          </p:cNvPr>
          <p:cNvSpPr/>
          <p:nvPr/>
        </p:nvSpPr>
        <p:spPr>
          <a:xfrm>
            <a:off x="841248" y="6355080"/>
            <a:ext cx="2377440" cy="365760"/>
          </a:xfrm>
          <a:prstGeom prst="rect">
            <a:avLst/>
          </a:prstGeom>
          <a:noFill/>
        </p:spPr>
        <p:txBody>
          <a:bodyPr wrap="square" lIns="0" tIns="0" rIns="0" bIns="0" rtlCol="0" anchor="ctr"/>
          <a:lstStyle/>
          <a:p>
            <a:pPr marL="0" indent="0">
              <a:buNone/>
            </a:pPr>
            <a:r>
              <a:rPr lang="en-US" sz="1100" b="1" u="sng" dirty="0">
                <a:solidFill>
                  <a:srgbClr val="156D4F"/>
                </a:solidFill>
                <a:latin typeface="Segoe UI" panose="020B0502040204020203" pitchFamily="34" charset="0"/>
                <a:ea typeface="Segoe UI" panose="020B0502040204020203" pitchFamily="34" charset="-122"/>
                <a:cs typeface="Segoe UI" panose="020B0502040204020203" pitchFamily="34" charset="-120"/>
                <a:hlinkClick r:id="rId3" action="ppaction://hlinksldjump"/>
              </a:rPr>
              <a:t>BACK TO REVIEW BOARD</a:t>
            </a:r>
            <a:endParaRPr lang="en-US" sz="1100" dirty="0"/>
          </a:p>
        </p:txBody>
      </p:sp>
      <p:sp>
        <p:nvSpPr>
          <p:cNvPr id="28" name="Text 17"/>
          <p:cNvSpPr/>
          <p:nvPr/>
        </p:nvSpPr>
        <p:spPr>
          <a:xfrm>
            <a:off x="8595360" y="6382512"/>
            <a:ext cx="3017520" cy="274320"/>
          </a:xfrm>
          <a:prstGeom prst="rect">
            <a:avLst/>
          </a:prstGeom>
          <a:noFill/>
        </p:spPr>
        <p:txBody>
          <a:bodyPr wrap="square" lIns="0" tIns="0" rIns="0" bIns="0" rtlCol="0" anchor="ctr"/>
          <a:lstStyle/>
          <a:p>
            <a:pPr marL="0" indent="0" algn="r">
              <a:buNone/>
            </a:pPr>
            <a:r>
              <a:rPr lang="en-US" sz="1000" dirty="0">
                <a:solidFill>
                  <a:srgbClr val="364327"/>
                </a:solidFill>
                <a:latin typeface="Segoe UI" panose="020B0502040204020203" pitchFamily="34" charset="0"/>
                <a:ea typeface="Segoe UI" panose="020B0502040204020203" pitchFamily="34" charset="-122"/>
                <a:cs typeface="Segoe UI" panose="020B0502040204020203" pitchFamily="34" charset="-120"/>
              </a:rPr>
              <a:t>EcoSphere · Intelligent Engines</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C7C396"/>
        </a:solidFill>
        <a:effectLst/>
      </p:bgPr>
    </p:bg>
    <p:spTree>
      <p:nvGrpSpPr>
        <p:cNvPr id="1" name=""/>
        <p:cNvGrpSpPr/>
        <p:nvPr/>
      </p:nvGrpSpPr>
      <p:grpSpPr>
        <a:xfrm>
          <a:off x="0" y="0"/>
          <a:ext cx="0" cy="0"/>
          <a:chOff x="0" y="0"/>
          <a:chExt cx="0" cy="0"/>
        </a:xfrm>
      </p:grpSpPr>
      <p:sp>
        <p:nvSpPr>
          <p:cNvPr id="2" name="Text 0"/>
          <p:cNvSpPr/>
          <p:nvPr/>
        </p:nvSpPr>
        <p:spPr>
          <a:xfrm>
            <a:off x="548640" y="384048"/>
            <a:ext cx="8229600" cy="274320"/>
          </a:xfrm>
          <a:prstGeom prst="rect">
            <a:avLst/>
          </a:prstGeom>
          <a:noFill/>
        </p:spPr>
        <p:txBody>
          <a:bodyPr wrap="square" lIns="0" tIns="0" rIns="0" bIns="0" rtlCol="0" anchor="ctr"/>
          <a:lstStyle/>
          <a:p>
            <a:pPr marL="0" indent="0">
              <a:buNone/>
            </a:pPr>
            <a:r>
              <a:rPr lang="en-US" sz="1200" b="1" kern="0" spc="200" dirty="0">
                <a:solidFill>
                  <a:srgbClr val="156D4F"/>
                </a:solidFill>
                <a:latin typeface="Segoe UI" panose="020B0502040204020203" pitchFamily="34" charset="0"/>
                <a:ea typeface="Segoe UI" panose="020B0502040204020203" pitchFamily="34" charset="-122"/>
                <a:cs typeface="Segoe UI" panose="020B0502040204020203" pitchFamily="34" charset="-120"/>
              </a:rPr>
              <a:t>SECTION 06 · TEAM STRUCTURE</a:t>
            </a:r>
            <a:endParaRPr lang="en-US" sz="1200" dirty="0"/>
          </a:p>
        </p:txBody>
      </p:sp>
      <p:sp>
        <p:nvSpPr>
          <p:cNvPr id="3" name="Text 1"/>
          <p:cNvSpPr/>
          <p:nvPr/>
        </p:nvSpPr>
        <p:spPr>
          <a:xfrm>
            <a:off x="548640" y="640080"/>
            <a:ext cx="9601200" cy="640080"/>
          </a:xfrm>
          <a:prstGeom prst="rect">
            <a:avLst/>
          </a:prstGeom>
          <a:noFill/>
        </p:spPr>
        <p:txBody>
          <a:bodyPr wrap="square" lIns="0" tIns="0" rIns="0" bIns="0" rtlCol="0" anchor="ctr"/>
          <a:lstStyle/>
          <a:p>
            <a:pPr marL="0" indent="0">
              <a:buNone/>
            </a:pPr>
            <a:r>
              <a:rPr lang="en-US" sz="2800" b="1" dirty="0">
                <a:solidFill>
                  <a:srgbClr val="156D4F"/>
                </a:solidFill>
                <a:latin typeface="Georgia" panose="02040502050405020303" pitchFamily="34" charset="0"/>
                <a:ea typeface="Georgia" panose="02040502050405020303" pitchFamily="34" charset="-122"/>
                <a:cs typeface="Georgia" panose="02040502050405020303" pitchFamily="34" charset="-120"/>
              </a:rPr>
              <a:t>Team Structure &amp; Developer Roles</a:t>
            </a:r>
            <a:endParaRPr lang="en-US" sz="2800" dirty="0"/>
          </a:p>
        </p:txBody>
      </p:sp>
      <p:sp>
        <p:nvSpPr>
          <p:cNvPr id="4" name="Text 2"/>
          <p:cNvSpPr/>
          <p:nvPr/>
        </p:nvSpPr>
        <p:spPr>
          <a:xfrm>
            <a:off x="548640" y="1280160"/>
            <a:ext cx="10607040" cy="320040"/>
          </a:xfrm>
          <a:prstGeom prst="rect">
            <a:avLst/>
          </a:prstGeom>
          <a:noFill/>
        </p:spPr>
        <p:txBody>
          <a:bodyPr wrap="square" lIns="0" tIns="0" rIns="0" bIns="0" rtlCol="0" anchor="ctr"/>
          <a:lstStyle/>
          <a:p>
            <a:pPr marL="0" indent="0" algn="just">
              <a:buNone/>
            </a:pPr>
            <a:r>
              <a:rPr lang="en-US" sz="1250" dirty="0">
                <a:solidFill>
                  <a:srgbClr val="156D4F"/>
                </a:solidFill>
                <a:latin typeface="Segoe UI" panose="020B0502040204020203" pitchFamily="34" charset="0"/>
                <a:ea typeface="Segoe UI" panose="020B0502040204020203" pitchFamily="34" charset="-122"/>
                <a:cs typeface="Segoe UI" panose="020B0502040204020203" pitchFamily="34" charset="-120"/>
              </a:rPr>
              <a:t>EcoSphere is designed and developed by a coordinated 4-member final-year project team.</a:t>
            </a:r>
            <a:endParaRPr lang="en-US" sz="1250" dirty="0"/>
          </a:p>
        </p:txBody>
      </p:sp>
      <p:sp>
        <p:nvSpPr>
          <p:cNvPr id="5" name="Shape 3"/>
          <p:cNvSpPr/>
          <p:nvPr/>
        </p:nvSpPr>
        <p:spPr>
          <a:xfrm>
            <a:off x="548640" y="1645920"/>
            <a:ext cx="2606040" cy="4023360"/>
          </a:xfrm>
          <a:prstGeom prst="roundRect">
            <a:avLst>
              <a:gd name="adj" fmla="val 2807"/>
            </a:avLst>
          </a:prstGeom>
          <a:solidFill>
            <a:srgbClr val="FFFFFF"/>
          </a:solidFill>
          <a:effectLst>
            <a:outerShdw blurRad="76200" dist="25400" dir="2700000" algn="bl" rotWithShape="0">
              <a:srgbClr val="000000">
                <a:alpha val="8000"/>
              </a:srgbClr>
            </a:outerShdw>
          </a:effectLst>
        </p:spPr>
      </p:sp>
      <p:sp>
        <p:nvSpPr>
          <p:cNvPr id="6" name="Shape 4"/>
          <p:cNvSpPr/>
          <p:nvPr/>
        </p:nvSpPr>
        <p:spPr>
          <a:xfrm>
            <a:off x="548640" y="1645920"/>
            <a:ext cx="2606040" cy="502920"/>
          </a:xfrm>
          <a:prstGeom prst="roundRect">
            <a:avLst>
              <a:gd name="adj" fmla="val 14545"/>
            </a:avLst>
          </a:prstGeom>
          <a:solidFill>
            <a:srgbClr val="C7C396"/>
          </a:solidFill>
        </p:spPr>
      </p:sp>
      <p:sp>
        <p:nvSpPr>
          <p:cNvPr id="7" name="Shape 5"/>
          <p:cNvSpPr/>
          <p:nvPr/>
        </p:nvSpPr>
        <p:spPr>
          <a:xfrm>
            <a:off x="548640" y="1874520"/>
            <a:ext cx="2606040" cy="274320"/>
          </a:xfrm>
          <a:prstGeom prst="rect">
            <a:avLst/>
          </a:prstGeom>
          <a:solidFill>
            <a:srgbClr val="C7C396"/>
          </a:solidFill>
        </p:spPr>
      </p:sp>
      <p:sp>
        <p:nvSpPr>
          <p:cNvPr id="8" name="Text 6"/>
          <p:cNvSpPr/>
          <p:nvPr/>
        </p:nvSpPr>
        <p:spPr>
          <a:xfrm>
            <a:off x="685800" y="1645920"/>
            <a:ext cx="1965960" cy="502920"/>
          </a:xfrm>
          <a:prstGeom prst="rect">
            <a:avLst/>
          </a:prstGeom>
          <a:noFill/>
        </p:spPr>
        <p:txBody>
          <a:bodyPr wrap="square" lIns="0" tIns="0" rIns="0" bIns="0" rtlCol="0" anchor="ctr"/>
          <a:lstStyle/>
          <a:p>
            <a:pPr marL="0" indent="0" algn="l">
              <a:buNone/>
            </a:pPr>
            <a:r>
              <a:rPr lang="en-US" sz="1550" b="1" dirty="0">
                <a:solidFill>
                  <a:srgbClr val="156D4F"/>
                </a:solidFill>
                <a:latin typeface="Segoe UI" panose="020B0502040204020203" pitchFamily="34" charset="0"/>
                <a:ea typeface="Segoe UI" panose="020B0502040204020203" pitchFamily="34" charset="-122"/>
                <a:cs typeface="Segoe UI" panose="020B0502040204020203" pitchFamily="34" charset="-120"/>
              </a:rPr>
              <a:t>Gangash12</a:t>
            </a:r>
            <a:endParaRPr lang="en-US" sz="1550" dirty="0"/>
          </a:p>
        </p:txBody>
      </p:sp>
      <p:sp>
        <p:nvSpPr>
          <p:cNvPr id="9" name="Shape 7"/>
          <p:cNvSpPr/>
          <p:nvPr/>
        </p:nvSpPr>
        <p:spPr>
          <a:xfrm>
            <a:off x="2651760" y="1737360"/>
            <a:ext cx="320040" cy="320040"/>
          </a:xfrm>
          <a:prstGeom prst="ellipse">
            <a:avLst/>
          </a:prstGeom>
          <a:solidFill>
            <a:srgbClr val="156D4F"/>
          </a:solidFill>
          <a:effectLst>
            <a:outerShdw blurRad="76200" dist="25400" dir="2700000" algn="bl" rotWithShape="0">
              <a:srgbClr val="000000">
                <a:alpha val="8000"/>
              </a:srgbClr>
            </a:outerShdw>
          </a:effectLst>
        </p:spPr>
      </p:sp>
      <p:pic>
        <p:nvPicPr>
          <p:cNvPr id="10" name="Image 0" descr="./icons/gateway_dark.png"/>
          <p:cNvPicPr>
            <a:picLocks noChangeAspect="1"/>
          </p:cNvPicPr>
          <p:nvPr/>
        </p:nvPicPr>
        <p:blipFill>
          <a:blip r:embed="rId1"/>
          <a:stretch>
            <a:fillRect/>
          </a:stretch>
        </p:blipFill>
        <p:spPr>
          <a:xfrm>
            <a:off x="2734970" y="1820570"/>
            <a:ext cx="153619" cy="153619"/>
          </a:xfrm>
          <a:prstGeom prst="rect">
            <a:avLst/>
          </a:prstGeom>
        </p:spPr>
      </p:pic>
      <p:sp>
        <p:nvSpPr>
          <p:cNvPr id="11" name="Text 8"/>
          <p:cNvSpPr/>
          <p:nvPr/>
        </p:nvSpPr>
        <p:spPr>
          <a:xfrm>
            <a:off x="685800" y="2286000"/>
            <a:ext cx="2331720" cy="457200"/>
          </a:xfrm>
          <a:prstGeom prst="rect">
            <a:avLst/>
          </a:prstGeom>
          <a:noFill/>
        </p:spPr>
        <p:txBody>
          <a:bodyPr wrap="square" lIns="0" tIns="0" rIns="0" bIns="0" rtlCol="0" anchor="ctr"/>
          <a:lstStyle/>
          <a:p>
            <a:pPr marL="0" indent="0">
              <a:buNone/>
            </a:pPr>
            <a:r>
              <a:rPr lang="en-US" sz="1300" b="1" dirty="0">
                <a:solidFill>
                  <a:srgbClr val="156D4F"/>
                </a:solidFill>
                <a:latin typeface="Georgia" panose="02040502050405020303" pitchFamily="34" charset="0"/>
                <a:ea typeface="Georgia" panose="02040502050405020303" pitchFamily="34" charset="-122"/>
                <a:cs typeface="Georgia" panose="02040502050405020303" pitchFamily="34" charset="-120"/>
              </a:rPr>
              <a:t>UI/UX Engineer &amp; Frontend Developer</a:t>
            </a:r>
            <a:endParaRPr lang="en-US" sz="1300" dirty="0"/>
          </a:p>
        </p:txBody>
      </p:sp>
      <p:sp>
        <p:nvSpPr>
          <p:cNvPr id="12" name="Text 9"/>
          <p:cNvSpPr/>
          <p:nvPr/>
        </p:nvSpPr>
        <p:spPr>
          <a:xfrm>
            <a:off x="685800" y="2880360"/>
            <a:ext cx="2331720" cy="2560320"/>
          </a:xfrm>
          <a:prstGeom prst="rect">
            <a:avLst/>
          </a:prstGeom>
          <a:noFill/>
        </p:spPr>
        <p:txBody>
          <a:bodyPr wrap="square" lIns="0" tIns="0" rIns="0" bIns="0" rtlCol="0" anchor="ctr"/>
          <a:lstStyle/>
          <a:p>
            <a:pPr marL="0" indent="0" algn="l">
              <a:lnSpc>
                <a:spcPct val="120000"/>
              </a:lnSpc>
              <a:buNone/>
            </a:pPr>
            <a:r>
              <a:rPr lang="en-US" sz="1200" dirty="0">
                <a:solidFill>
                  <a:srgbClr val="364327"/>
                </a:solidFill>
                <a:latin typeface="Bahnschrift Light SemiCondensed" panose="020B0502040204020203" charset="0"/>
                <a:ea typeface="Segoe UI" panose="020B0502040204020203" pitchFamily="34" charset="-122"/>
                <a:cs typeface="Bahnschrift Light SemiCondensed" panose="020B0502040204020203" charset="0"/>
              </a:rPr>
              <a:t>• Designed the layout, user interactions, and visual palettes.</a:t>
            </a:r>
            <a:endParaRPr lang="en-US" sz="1200" dirty="0">
              <a:latin typeface="Bahnschrift Light SemiCondensed" panose="020B0502040204020203" charset="0"/>
              <a:cs typeface="Bahnschrift Light SemiCondensed" panose="020B0502040204020203" charset="0"/>
            </a:endParaRPr>
          </a:p>
          <a:p>
            <a:pPr marL="0" indent="0" algn="l">
              <a:lnSpc>
                <a:spcPct val="120000"/>
              </a:lnSpc>
              <a:buNone/>
            </a:pPr>
            <a:r>
              <a:rPr lang="en-US" sz="1200" dirty="0">
                <a:solidFill>
                  <a:srgbClr val="364327"/>
                </a:solidFill>
                <a:latin typeface="Bahnschrift Light SemiCondensed" panose="020B0502040204020203" charset="0"/>
                <a:ea typeface="Segoe UI" panose="020B0502040204020203" pitchFamily="34" charset="-122"/>
                <a:cs typeface="Bahnschrift Light SemiCondensed" panose="020B0502040204020203" charset="0"/>
              </a:rPr>
              <a:t>• Built React.js client screens, logs, and interactive dashboards.</a:t>
            </a:r>
            <a:endParaRPr lang="en-US" sz="1200" dirty="0">
              <a:latin typeface="Bahnschrift Light SemiCondensed" panose="020B0502040204020203" charset="0"/>
              <a:cs typeface="Bahnschrift Light SemiCondensed" panose="020B0502040204020203" charset="0"/>
            </a:endParaRPr>
          </a:p>
          <a:p>
            <a:pPr marL="0" indent="0" algn="l">
              <a:lnSpc>
                <a:spcPct val="120000"/>
              </a:lnSpc>
              <a:buNone/>
            </a:pPr>
            <a:r>
              <a:rPr lang="en-US" sz="1200" dirty="0">
                <a:solidFill>
                  <a:srgbClr val="364327"/>
                </a:solidFill>
                <a:latin typeface="Bahnschrift Light SemiCondensed" panose="020B0502040204020203" charset="0"/>
                <a:ea typeface="Segoe UI" panose="020B0502040204020203" pitchFamily="34" charset="-122"/>
                <a:cs typeface="Bahnschrift Light SemiCondensed" panose="020B0502040204020203" charset="0"/>
              </a:rPr>
              <a:t>• Integrated responsive interfaces using Tailwind CSS and Material UI.</a:t>
            </a:r>
            <a:endParaRPr lang="en-US" sz="1200" dirty="0">
              <a:latin typeface="Bahnschrift Light SemiCondensed" panose="020B0502040204020203" charset="0"/>
              <a:cs typeface="Bahnschrift Light SemiCondensed" panose="020B0502040204020203" charset="0"/>
            </a:endParaRPr>
          </a:p>
          <a:p>
            <a:pPr marL="0" indent="0" algn="l">
              <a:lnSpc>
                <a:spcPct val="120000"/>
              </a:lnSpc>
              <a:buNone/>
            </a:pPr>
            <a:r>
              <a:rPr lang="en-US" sz="1200" dirty="0">
                <a:solidFill>
                  <a:srgbClr val="364327"/>
                </a:solidFill>
                <a:latin typeface="Bahnschrift Light SemiCondensed" panose="020B0502040204020203" charset="0"/>
                <a:ea typeface="Segoe UI" panose="020B0502040204020203" pitchFamily="34" charset="-122"/>
                <a:cs typeface="Bahnschrift Light SemiCondensed" panose="020B0502040204020203" charset="0"/>
              </a:rPr>
              <a:t>• Programmed charts using Apache ECharts and map overlays.</a:t>
            </a:r>
            <a:endParaRPr lang="en-US" sz="1200" dirty="0">
              <a:solidFill>
                <a:srgbClr val="364327"/>
              </a:solidFill>
              <a:latin typeface="Bahnschrift Light SemiCondensed" panose="020B0502040204020203" charset="0"/>
              <a:ea typeface="Segoe UI" panose="020B0502040204020203" pitchFamily="34" charset="-122"/>
              <a:cs typeface="Bahnschrift Light SemiCondensed" panose="020B0502040204020203" charset="0"/>
            </a:endParaRPr>
          </a:p>
        </p:txBody>
      </p:sp>
      <p:sp>
        <p:nvSpPr>
          <p:cNvPr id="13" name="Shape 10"/>
          <p:cNvSpPr/>
          <p:nvPr/>
        </p:nvSpPr>
        <p:spPr>
          <a:xfrm>
            <a:off x="3291840" y="1645920"/>
            <a:ext cx="2606040" cy="4023360"/>
          </a:xfrm>
          <a:prstGeom prst="roundRect">
            <a:avLst>
              <a:gd name="adj" fmla="val 2807"/>
            </a:avLst>
          </a:prstGeom>
          <a:solidFill>
            <a:srgbClr val="FFFFFF"/>
          </a:solidFill>
          <a:effectLst>
            <a:outerShdw blurRad="76200" dist="25400" dir="2700000" algn="bl" rotWithShape="0">
              <a:srgbClr val="000000">
                <a:alpha val="8000"/>
              </a:srgbClr>
            </a:outerShdw>
          </a:effectLst>
        </p:spPr>
      </p:sp>
      <p:sp>
        <p:nvSpPr>
          <p:cNvPr id="14" name="Shape 11"/>
          <p:cNvSpPr/>
          <p:nvPr/>
        </p:nvSpPr>
        <p:spPr>
          <a:xfrm>
            <a:off x="3291840" y="1645920"/>
            <a:ext cx="2606040" cy="502920"/>
          </a:xfrm>
          <a:prstGeom prst="roundRect">
            <a:avLst>
              <a:gd name="adj" fmla="val 14545"/>
            </a:avLst>
          </a:prstGeom>
          <a:solidFill>
            <a:srgbClr val="C7C396"/>
          </a:solidFill>
        </p:spPr>
      </p:sp>
      <p:sp>
        <p:nvSpPr>
          <p:cNvPr id="15" name="Shape 12"/>
          <p:cNvSpPr/>
          <p:nvPr/>
        </p:nvSpPr>
        <p:spPr>
          <a:xfrm>
            <a:off x="3291840" y="1874520"/>
            <a:ext cx="2606040" cy="274320"/>
          </a:xfrm>
          <a:prstGeom prst="rect">
            <a:avLst/>
          </a:prstGeom>
          <a:solidFill>
            <a:srgbClr val="C7C396"/>
          </a:solidFill>
        </p:spPr>
      </p:sp>
      <p:sp>
        <p:nvSpPr>
          <p:cNvPr id="16" name="Text 13"/>
          <p:cNvSpPr/>
          <p:nvPr/>
        </p:nvSpPr>
        <p:spPr>
          <a:xfrm>
            <a:off x="3429000" y="1645920"/>
            <a:ext cx="1965960" cy="502920"/>
          </a:xfrm>
          <a:prstGeom prst="rect">
            <a:avLst/>
          </a:prstGeom>
          <a:noFill/>
        </p:spPr>
        <p:txBody>
          <a:bodyPr wrap="square" lIns="0" tIns="0" rIns="0" bIns="0" rtlCol="0" anchor="ctr"/>
          <a:lstStyle/>
          <a:p>
            <a:pPr marL="0" indent="0" algn="l">
              <a:buNone/>
            </a:pPr>
            <a:r>
              <a:rPr lang="en-US" sz="1550" b="1" dirty="0">
                <a:solidFill>
                  <a:srgbClr val="156D4F"/>
                </a:solidFill>
                <a:latin typeface="Segoe UI" panose="020B0502040204020203" pitchFamily="34" charset="0"/>
                <a:ea typeface="Segoe UI" panose="020B0502040204020203" pitchFamily="34" charset="-122"/>
                <a:cs typeface="Segoe UI" panose="020B0502040204020203" pitchFamily="34" charset="-120"/>
              </a:rPr>
              <a:t>Girijesh</a:t>
            </a:r>
            <a:endParaRPr lang="en-US" sz="1550" dirty="0"/>
          </a:p>
        </p:txBody>
      </p:sp>
      <p:sp>
        <p:nvSpPr>
          <p:cNvPr id="17" name="Shape 14"/>
          <p:cNvSpPr/>
          <p:nvPr/>
        </p:nvSpPr>
        <p:spPr>
          <a:xfrm>
            <a:off x="5394960" y="1737360"/>
            <a:ext cx="320040" cy="320040"/>
          </a:xfrm>
          <a:prstGeom prst="ellipse">
            <a:avLst/>
          </a:prstGeom>
          <a:solidFill>
            <a:srgbClr val="156D4F"/>
          </a:solidFill>
          <a:effectLst>
            <a:outerShdw blurRad="76200" dist="25400" dir="2700000" algn="bl" rotWithShape="0">
              <a:srgbClr val="000000">
                <a:alpha val="8000"/>
              </a:srgbClr>
            </a:outerShdw>
          </a:effectLst>
        </p:spPr>
      </p:sp>
      <p:pic>
        <p:nvPicPr>
          <p:cNvPr id="18" name="Image 1" descr="./icons/lock_white.png"/>
          <p:cNvPicPr>
            <a:picLocks noChangeAspect="1"/>
          </p:cNvPicPr>
          <p:nvPr/>
        </p:nvPicPr>
        <p:blipFill>
          <a:blip r:embed="rId2"/>
          <a:stretch>
            <a:fillRect/>
          </a:stretch>
        </p:blipFill>
        <p:spPr>
          <a:xfrm>
            <a:off x="5478170" y="1820570"/>
            <a:ext cx="153619" cy="153619"/>
          </a:xfrm>
          <a:prstGeom prst="rect">
            <a:avLst/>
          </a:prstGeom>
        </p:spPr>
      </p:pic>
      <p:sp>
        <p:nvSpPr>
          <p:cNvPr id="19" name="Text 15"/>
          <p:cNvSpPr/>
          <p:nvPr/>
        </p:nvSpPr>
        <p:spPr>
          <a:xfrm>
            <a:off x="3429000" y="2286000"/>
            <a:ext cx="2331720" cy="457200"/>
          </a:xfrm>
          <a:prstGeom prst="rect">
            <a:avLst/>
          </a:prstGeom>
          <a:noFill/>
        </p:spPr>
        <p:txBody>
          <a:bodyPr wrap="square" lIns="0" tIns="0" rIns="0" bIns="0" rtlCol="0" anchor="ctr"/>
          <a:lstStyle/>
          <a:p>
            <a:pPr marL="0" indent="0">
              <a:buNone/>
            </a:pPr>
            <a:r>
              <a:rPr lang="en-US" sz="1300" b="1" dirty="0">
                <a:solidFill>
                  <a:srgbClr val="156D4F"/>
                </a:solidFill>
                <a:latin typeface="Georgia" panose="02040502050405020303" pitchFamily="34" charset="0"/>
                <a:ea typeface="Georgia" panose="02040502050405020303" pitchFamily="34" charset="-122"/>
                <a:cs typeface="Georgia" panose="02040502050405020303" pitchFamily="34" charset="-120"/>
              </a:rPr>
              <a:t>Software Developer &amp; Tester</a:t>
            </a:r>
            <a:endParaRPr lang="en-US" sz="1300" dirty="0"/>
          </a:p>
        </p:txBody>
      </p:sp>
      <p:sp>
        <p:nvSpPr>
          <p:cNvPr id="20" name="Text 16"/>
          <p:cNvSpPr/>
          <p:nvPr/>
        </p:nvSpPr>
        <p:spPr>
          <a:xfrm>
            <a:off x="3429000" y="2880360"/>
            <a:ext cx="2331720" cy="2560320"/>
          </a:xfrm>
          <a:prstGeom prst="rect">
            <a:avLst/>
          </a:prstGeom>
          <a:noFill/>
        </p:spPr>
        <p:txBody>
          <a:bodyPr wrap="square" lIns="0" tIns="0" rIns="0" bIns="0" rtlCol="0" anchor="ctr"/>
          <a:lstStyle/>
          <a:p>
            <a:pPr marL="0" indent="0" algn="l">
              <a:lnSpc>
                <a:spcPct val="120000"/>
              </a:lnSpc>
              <a:buNone/>
            </a:pPr>
            <a:r>
              <a:rPr lang="en-US" sz="1200" dirty="0">
                <a:solidFill>
                  <a:srgbClr val="364327"/>
                </a:solidFill>
                <a:latin typeface="Bahnschrift Light SemiCondensed" panose="020B0502040204020203" charset="0"/>
                <a:ea typeface="Segoe UI" panose="020B0502040204020203" pitchFamily="34" charset="-122"/>
                <a:cs typeface="Bahnschrift Light SemiCondensed" panose="020B0502040204020203" charset="0"/>
              </a:rPr>
              <a:t>• Developed assigned application modules and backend routes.</a:t>
            </a:r>
            <a:endParaRPr lang="en-US" sz="1200" dirty="0">
              <a:latin typeface="Bahnschrift Light SemiCondensed" panose="020B0502040204020203" charset="0"/>
              <a:cs typeface="Bahnschrift Light SemiCondensed" panose="020B0502040204020203" charset="0"/>
            </a:endParaRPr>
          </a:p>
          <a:p>
            <a:pPr marL="0" indent="0" algn="l">
              <a:lnSpc>
                <a:spcPct val="120000"/>
              </a:lnSpc>
              <a:buNone/>
            </a:pPr>
            <a:r>
              <a:rPr lang="en-US" sz="1200" dirty="0">
                <a:solidFill>
                  <a:srgbClr val="364327"/>
                </a:solidFill>
                <a:latin typeface="Bahnschrift Light SemiCondensed" panose="020B0502040204020203" charset="0"/>
                <a:ea typeface="Segoe UI" panose="020B0502040204020203" pitchFamily="34" charset="-122"/>
                <a:cs typeface="Bahnschrift Light SemiCondensed" panose="020B0502040204020203" charset="0"/>
              </a:rPr>
              <a:t>• Wrote unit tests and executed integration and end-to-end testing.</a:t>
            </a:r>
            <a:endParaRPr lang="en-US" sz="1200" dirty="0">
              <a:latin typeface="Bahnschrift Light SemiCondensed" panose="020B0502040204020203" charset="0"/>
              <a:cs typeface="Bahnschrift Light SemiCondensed" panose="020B0502040204020203" charset="0"/>
            </a:endParaRPr>
          </a:p>
          <a:p>
            <a:pPr marL="0" indent="0" algn="l">
              <a:lnSpc>
                <a:spcPct val="120000"/>
              </a:lnSpc>
              <a:buNone/>
            </a:pPr>
            <a:r>
              <a:rPr lang="en-US" sz="1200" dirty="0">
                <a:solidFill>
                  <a:srgbClr val="364327"/>
                </a:solidFill>
                <a:latin typeface="Bahnschrift Light SemiCondensed" panose="020B0502040204020203" charset="0"/>
                <a:ea typeface="Segoe UI" panose="020B0502040204020203" pitchFamily="34" charset="-122"/>
                <a:cs typeface="Bahnschrift Light SemiCondensed" panose="020B0502040204020203" charset="0"/>
              </a:rPr>
              <a:t>• Handled QA processes, bug reporting, and functional verification.</a:t>
            </a:r>
            <a:endParaRPr lang="en-US" sz="1200" dirty="0">
              <a:latin typeface="Bahnschrift Light SemiCondensed" panose="020B0502040204020203" charset="0"/>
              <a:cs typeface="Bahnschrift Light SemiCondensed" panose="020B0502040204020203" charset="0"/>
            </a:endParaRPr>
          </a:p>
          <a:p>
            <a:pPr marL="0" indent="0" algn="l">
              <a:lnSpc>
                <a:spcPct val="120000"/>
              </a:lnSpc>
              <a:buNone/>
            </a:pPr>
            <a:r>
              <a:rPr lang="en-US" sz="1200" dirty="0">
                <a:solidFill>
                  <a:srgbClr val="364327"/>
                </a:solidFill>
                <a:latin typeface="Bahnschrift Light SemiCondensed" panose="020B0502040204020203" charset="0"/>
                <a:ea typeface="Segoe UI" panose="020B0502040204020203" pitchFamily="34" charset="-122"/>
                <a:cs typeface="Bahnschrift Light SemiCondensed" panose="020B0502040204020203" charset="0"/>
              </a:rPr>
              <a:t>• Created automation scripts for test suites and validation mocks.</a:t>
            </a:r>
            <a:endParaRPr lang="en-US" sz="1200" dirty="0">
              <a:solidFill>
                <a:srgbClr val="364327"/>
              </a:solidFill>
              <a:latin typeface="Bahnschrift Light SemiCondensed" panose="020B0502040204020203" charset="0"/>
              <a:ea typeface="Segoe UI" panose="020B0502040204020203" pitchFamily="34" charset="-122"/>
              <a:cs typeface="Bahnschrift Light SemiCondensed" panose="020B0502040204020203" charset="0"/>
            </a:endParaRPr>
          </a:p>
        </p:txBody>
      </p:sp>
      <p:sp>
        <p:nvSpPr>
          <p:cNvPr id="21" name="Shape 17"/>
          <p:cNvSpPr/>
          <p:nvPr/>
        </p:nvSpPr>
        <p:spPr>
          <a:xfrm>
            <a:off x="6035040" y="1645920"/>
            <a:ext cx="2606040" cy="4023360"/>
          </a:xfrm>
          <a:prstGeom prst="roundRect">
            <a:avLst>
              <a:gd name="adj" fmla="val 2807"/>
            </a:avLst>
          </a:prstGeom>
          <a:solidFill>
            <a:srgbClr val="FFFFFF"/>
          </a:solidFill>
          <a:effectLst>
            <a:outerShdw blurRad="76200" dist="25400" dir="2700000" algn="bl" rotWithShape="0">
              <a:srgbClr val="000000">
                <a:alpha val="8000"/>
              </a:srgbClr>
            </a:outerShdw>
          </a:effectLst>
        </p:spPr>
      </p:sp>
      <p:sp>
        <p:nvSpPr>
          <p:cNvPr id="22" name="Shape 18"/>
          <p:cNvSpPr/>
          <p:nvPr/>
        </p:nvSpPr>
        <p:spPr>
          <a:xfrm>
            <a:off x="6035040" y="1645920"/>
            <a:ext cx="2606040" cy="502920"/>
          </a:xfrm>
          <a:prstGeom prst="roundRect">
            <a:avLst>
              <a:gd name="adj" fmla="val 14545"/>
            </a:avLst>
          </a:prstGeom>
          <a:solidFill>
            <a:srgbClr val="C7C396"/>
          </a:solidFill>
        </p:spPr>
      </p:sp>
      <p:sp>
        <p:nvSpPr>
          <p:cNvPr id="23" name="Shape 19"/>
          <p:cNvSpPr/>
          <p:nvPr/>
        </p:nvSpPr>
        <p:spPr>
          <a:xfrm>
            <a:off x="6035040" y="1874520"/>
            <a:ext cx="2606040" cy="274320"/>
          </a:xfrm>
          <a:prstGeom prst="rect">
            <a:avLst/>
          </a:prstGeom>
          <a:solidFill>
            <a:srgbClr val="C7C396"/>
          </a:solidFill>
        </p:spPr>
      </p:sp>
      <p:sp>
        <p:nvSpPr>
          <p:cNvPr id="24" name="Text 20"/>
          <p:cNvSpPr/>
          <p:nvPr/>
        </p:nvSpPr>
        <p:spPr>
          <a:xfrm>
            <a:off x="6172200" y="1645920"/>
            <a:ext cx="1965960" cy="502920"/>
          </a:xfrm>
          <a:prstGeom prst="rect">
            <a:avLst/>
          </a:prstGeom>
          <a:noFill/>
        </p:spPr>
        <p:txBody>
          <a:bodyPr wrap="square" lIns="0" tIns="0" rIns="0" bIns="0" rtlCol="0" anchor="ctr"/>
          <a:lstStyle/>
          <a:p>
            <a:pPr marL="0" indent="0" algn="l">
              <a:buNone/>
            </a:pPr>
            <a:r>
              <a:rPr lang="en-US" sz="1550" b="1" dirty="0">
                <a:solidFill>
                  <a:srgbClr val="156D4F"/>
                </a:solidFill>
                <a:latin typeface="Segoe UI" panose="020B0502040204020203" pitchFamily="34" charset="0"/>
                <a:ea typeface="Segoe UI" panose="020B0502040204020203" pitchFamily="34" charset="-122"/>
                <a:cs typeface="Segoe UI" panose="020B0502040204020203" pitchFamily="34" charset="-120"/>
              </a:rPr>
              <a:t>Grish Narayanan S</a:t>
            </a:r>
            <a:endParaRPr lang="en-US" sz="1550" dirty="0"/>
          </a:p>
        </p:txBody>
      </p:sp>
      <p:sp>
        <p:nvSpPr>
          <p:cNvPr id="25" name="Shape 21"/>
          <p:cNvSpPr/>
          <p:nvPr/>
        </p:nvSpPr>
        <p:spPr>
          <a:xfrm>
            <a:off x="8138160" y="1737360"/>
            <a:ext cx="320040" cy="320040"/>
          </a:xfrm>
          <a:prstGeom prst="ellipse">
            <a:avLst/>
          </a:prstGeom>
          <a:solidFill>
            <a:srgbClr val="156D4F"/>
          </a:solidFill>
          <a:effectLst>
            <a:outerShdw blurRad="76200" dist="25400" dir="2700000" algn="bl" rotWithShape="0">
              <a:srgbClr val="000000">
                <a:alpha val="8000"/>
              </a:srgbClr>
            </a:outerShdw>
          </a:effectLst>
        </p:spPr>
      </p:sp>
      <p:pic>
        <p:nvPicPr>
          <p:cNvPr id="26" name="Image 2" descr="./icons/flask_white.png"/>
          <p:cNvPicPr>
            <a:picLocks noChangeAspect="1"/>
          </p:cNvPicPr>
          <p:nvPr/>
        </p:nvPicPr>
        <p:blipFill>
          <a:blip r:embed="rId3"/>
          <a:stretch>
            <a:fillRect/>
          </a:stretch>
        </p:blipFill>
        <p:spPr>
          <a:xfrm>
            <a:off x="8221370" y="1820570"/>
            <a:ext cx="153619" cy="153619"/>
          </a:xfrm>
          <a:prstGeom prst="rect">
            <a:avLst/>
          </a:prstGeom>
        </p:spPr>
      </p:pic>
      <p:sp>
        <p:nvSpPr>
          <p:cNvPr id="27" name="Text 22"/>
          <p:cNvSpPr/>
          <p:nvPr/>
        </p:nvSpPr>
        <p:spPr>
          <a:xfrm>
            <a:off x="6172200" y="2286000"/>
            <a:ext cx="2331720" cy="457200"/>
          </a:xfrm>
          <a:prstGeom prst="rect">
            <a:avLst/>
          </a:prstGeom>
          <a:noFill/>
        </p:spPr>
        <p:txBody>
          <a:bodyPr wrap="square" lIns="0" tIns="0" rIns="0" bIns="0" rtlCol="0" anchor="ctr"/>
          <a:lstStyle/>
          <a:p>
            <a:pPr marL="0" indent="0">
              <a:buNone/>
            </a:pPr>
            <a:r>
              <a:rPr lang="en-US" sz="1300" b="1" dirty="0">
                <a:solidFill>
                  <a:srgbClr val="156D4F"/>
                </a:solidFill>
                <a:latin typeface="Georgia" panose="02040502050405020303" pitchFamily="34" charset="0"/>
                <a:ea typeface="Georgia" panose="02040502050405020303" pitchFamily="34" charset="-122"/>
                <a:cs typeface="Georgia" panose="02040502050405020303" pitchFamily="34" charset="-120"/>
              </a:rPr>
              <a:t>Solution Architect &amp; Backend (Lead)</a:t>
            </a:r>
            <a:endParaRPr lang="en-US" sz="1300" dirty="0"/>
          </a:p>
        </p:txBody>
      </p:sp>
      <p:sp>
        <p:nvSpPr>
          <p:cNvPr id="28" name="Text 23"/>
          <p:cNvSpPr/>
          <p:nvPr/>
        </p:nvSpPr>
        <p:spPr>
          <a:xfrm>
            <a:off x="6172200" y="2880360"/>
            <a:ext cx="2331720" cy="2560320"/>
          </a:xfrm>
          <a:prstGeom prst="rect">
            <a:avLst/>
          </a:prstGeom>
          <a:noFill/>
        </p:spPr>
        <p:txBody>
          <a:bodyPr wrap="square" lIns="0" tIns="0" rIns="0" bIns="0" rtlCol="0" anchor="ctr"/>
          <a:lstStyle/>
          <a:p>
            <a:pPr marL="0" indent="0" algn="l">
              <a:lnSpc>
                <a:spcPct val="120000"/>
              </a:lnSpc>
              <a:buNone/>
            </a:pPr>
            <a:r>
              <a:rPr lang="en-US" sz="1200" dirty="0">
                <a:solidFill>
                  <a:srgbClr val="364327"/>
                </a:solidFill>
                <a:latin typeface="Bahnschrift Light SemiCondensed" panose="020B0502040204020203" charset="0"/>
                <a:ea typeface="Segoe UI" panose="020B0502040204020203" pitchFamily="34" charset="-122"/>
                <a:cs typeface="Bahnschrift Light SemiCondensed" panose="020B0502040204020203" charset="0"/>
              </a:rPr>
              <a:t>• Architected Spring Boot gateway services and PostgreSQL schemas.</a:t>
            </a:r>
            <a:endParaRPr lang="en-US" sz="1200" dirty="0">
              <a:latin typeface="Bahnschrift Light SemiCondensed" panose="020B0502040204020203" charset="0"/>
              <a:cs typeface="Bahnschrift Light SemiCondensed" panose="020B0502040204020203" charset="0"/>
            </a:endParaRPr>
          </a:p>
          <a:p>
            <a:pPr marL="0" indent="0" algn="l">
              <a:lnSpc>
                <a:spcPct val="120000"/>
              </a:lnSpc>
              <a:buNone/>
            </a:pPr>
            <a:r>
              <a:rPr lang="en-US" sz="1200" dirty="0">
                <a:solidFill>
                  <a:srgbClr val="364327"/>
                </a:solidFill>
                <a:latin typeface="Bahnschrift Light SemiCondensed" panose="020B0502040204020203" charset="0"/>
                <a:ea typeface="Segoe UI" panose="020B0502040204020203" pitchFamily="34" charset="-122"/>
                <a:cs typeface="Bahnschrift Light SemiCondensed" panose="020B0502040204020203" charset="0"/>
              </a:rPr>
              <a:t>• Structured Python FastAPI services and predictive ML models.</a:t>
            </a:r>
            <a:endParaRPr lang="en-US" sz="1200" dirty="0">
              <a:latin typeface="Bahnschrift Light SemiCondensed" panose="020B0502040204020203" charset="0"/>
              <a:cs typeface="Bahnschrift Light SemiCondensed" panose="020B0502040204020203" charset="0"/>
            </a:endParaRPr>
          </a:p>
          <a:p>
            <a:pPr marL="0" indent="0" algn="l">
              <a:lnSpc>
                <a:spcPct val="120000"/>
              </a:lnSpc>
              <a:buNone/>
            </a:pPr>
            <a:r>
              <a:rPr lang="en-US" sz="1200" dirty="0">
                <a:solidFill>
                  <a:srgbClr val="364327"/>
                </a:solidFill>
                <a:latin typeface="Bahnschrift Light SemiCondensed" panose="020B0502040204020203" charset="0"/>
                <a:ea typeface="Segoe UI" panose="020B0502040204020203" pitchFamily="34" charset="-122"/>
                <a:cs typeface="Bahnschrift Light SemiCondensed" panose="020B0502040204020203" charset="0"/>
              </a:rPr>
              <a:t>• Configured Google OR-Tools solvers and Postgres/PostGIS databases.</a:t>
            </a:r>
            <a:endParaRPr lang="en-US" sz="1200" dirty="0">
              <a:latin typeface="Bahnschrift Light SemiCondensed" panose="020B0502040204020203" charset="0"/>
              <a:cs typeface="Bahnschrift Light SemiCondensed" panose="020B0502040204020203" charset="0"/>
            </a:endParaRPr>
          </a:p>
          <a:p>
            <a:pPr marL="0" indent="0" algn="l">
              <a:lnSpc>
                <a:spcPct val="120000"/>
              </a:lnSpc>
              <a:buNone/>
            </a:pPr>
            <a:r>
              <a:rPr lang="en-US" sz="1200" dirty="0">
                <a:solidFill>
                  <a:srgbClr val="364327"/>
                </a:solidFill>
                <a:latin typeface="Bahnschrift Light SemiCondensed" panose="020B0502040204020203" charset="0"/>
                <a:ea typeface="Segoe UI" panose="020B0502040204020203" pitchFamily="34" charset="-122"/>
                <a:cs typeface="Bahnschrift Light SemiCondensed" panose="020B0502040204020203" charset="0"/>
              </a:rPr>
              <a:t>• Guided design paths and integrated central APIs.</a:t>
            </a:r>
            <a:endParaRPr lang="en-US" sz="1200" dirty="0">
              <a:solidFill>
                <a:srgbClr val="364327"/>
              </a:solidFill>
              <a:latin typeface="Bahnschrift Light SemiCondensed" panose="020B0502040204020203" charset="0"/>
              <a:ea typeface="Segoe UI" panose="020B0502040204020203" pitchFamily="34" charset="-122"/>
              <a:cs typeface="Bahnschrift Light SemiCondensed" panose="020B0502040204020203" charset="0"/>
            </a:endParaRPr>
          </a:p>
        </p:txBody>
      </p:sp>
      <p:sp>
        <p:nvSpPr>
          <p:cNvPr id="29" name="Shape 24"/>
          <p:cNvSpPr/>
          <p:nvPr/>
        </p:nvSpPr>
        <p:spPr>
          <a:xfrm>
            <a:off x="8778240" y="1645920"/>
            <a:ext cx="2606040" cy="4023360"/>
          </a:xfrm>
          <a:prstGeom prst="roundRect">
            <a:avLst>
              <a:gd name="adj" fmla="val 2807"/>
            </a:avLst>
          </a:prstGeom>
          <a:solidFill>
            <a:srgbClr val="FFFFFF"/>
          </a:solidFill>
          <a:effectLst>
            <a:outerShdw blurRad="76200" dist="25400" dir="2700000" algn="bl" rotWithShape="0">
              <a:srgbClr val="000000">
                <a:alpha val="8000"/>
              </a:srgbClr>
            </a:outerShdw>
          </a:effectLst>
        </p:spPr>
      </p:sp>
      <p:sp>
        <p:nvSpPr>
          <p:cNvPr id="30" name="Shape 25"/>
          <p:cNvSpPr/>
          <p:nvPr/>
        </p:nvSpPr>
        <p:spPr>
          <a:xfrm>
            <a:off x="8778240" y="1645920"/>
            <a:ext cx="2606040" cy="502920"/>
          </a:xfrm>
          <a:prstGeom prst="roundRect">
            <a:avLst>
              <a:gd name="adj" fmla="val 14545"/>
            </a:avLst>
          </a:prstGeom>
          <a:solidFill>
            <a:srgbClr val="C7C396"/>
          </a:solidFill>
        </p:spPr>
      </p:sp>
      <p:sp>
        <p:nvSpPr>
          <p:cNvPr id="31" name="Shape 26"/>
          <p:cNvSpPr/>
          <p:nvPr/>
        </p:nvSpPr>
        <p:spPr>
          <a:xfrm>
            <a:off x="8778240" y="1874520"/>
            <a:ext cx="2606040" cy="274320"/>
          </a:xfrm>
          <a:prstGeom prst="rect">
            <a:avLst/>
          </a:prstGeom>
          <a:solidFill>
            <a:srgbClr val="C7C396"/>
          </a:solidFill>
        </p:spPr>
      </p:sp>
      <p:sp>
        <p:nvSpPr>
          <p:cNvPr id="32" name="Text 27"/>
          <p:cNvSpPr/>
          <p:nvPr/>
        </p:nvSpPr>
        <p:spPr>
          <a:xfrm>
            <a:off x="8915400" y="1645920"/>
            <a:ext cx="1965960" cy="502920"/>
          </a:xfrm>
          <a:prstGeom prst="rect">
            <a:avLst/>
          </a:prstGeom>
          <a:noFill/>
        </p:spPr>
        <p:txBody>
          <a:bodyPr wrap="square" lIns="0" tIns="0" rIns="0" bIns="0" rtlCol="0" anchor="ctr"/>
          <a:lstStyle/>
          <a:p>
            <a:pPr marL="0" indent="0" algn="l">
              <a:buNone/>
            </a:pPr>
            <a:r>
              <a:rPr lang="en-US" sz="1550" b="1" dirty="0">
                <a:solidFill>
                  <a:srgbClr val="156D4F"/>
                </a:solidFill>
                <a:latin typeface="Segoe UI" panose="020B0502040204020203" pitchFamily="34" charset="0"/>
                <a:ea typeface="Segoe UI" panose="020B0502040204020203" pitchFamily="34" charset="-122"/>
                <a:cs typeface="Segoe UI" panose="020B0502040204020203" pitchFamily="34" charset="-120"/>
              </a:rPr>
              <a:t>Godfrey</a:t>
            </a:r>
            <a:endParaRPr lang="en-US" sz="1550" dirty="0"/>
          </a:p>
        </p:txBody>
      </p:sp>
      <p:sp>
        <p:nvSpPr>
          <p:cNvPr id="33" name="Shape 28"/>
          <p:cNvSpPr/>
          <p:nvPr/>
        </p:nvSpPr>
        <p:spPr>
          <a:xfrm>
            <a:off x="10881360" y="1737360"/>
            <a:ext cx="320040" cy="320040"/>
          </a:xfrm>
          <a:prstGeom prst="ellipse">
            <a:avLst/>
          </a:prstGeom>
          <a:solidFill>
            <a:srgbClr val="156D4F"/>
          </a:solidFill>
          <a:effectLst>
            <a:outerShdw blurRad="76200" dist="25400" dir="2700000" algn="bl" rotWithShape="0">
              <a:srgbClr val="000000">
                <a:alpha val="8000"/>
              </a:srgbClr>
            </a:outerShdw>
          </a:effectLst>
        </p:spPr>
      </p:sp>
      <p:pic>
        <p:nvPicPr>
          <p:cNvPr id="34" name="Image 3" descr="./icons/brain_white.png"/>
          <p:cNvPicPr>
            <a:picLocks noChangeAspect="1"/>
          </p:cNvPicPr>
          <p:nvPr/>
        </p:nvPicPr>
        <p:blipFill>
          <a:blip r:embed="rId4"/>
          <a:stretch>
            <a:fillRect/>
          </a:stretch>
        </p:blipFill>
        <p:spPr>
          <a:xfrm>
            <a:off x="10964570" y="1820570"/>
            <a:ext cx="153619" cy="153619"/>
          </a:xfrm>
          <a:prstGeom prst="rect">
            <a:avLst/>
          </a:prstGeom>
        </p:spPr>
      </p:pic>
      <p:sp>
        <p:nvSpPr>
          <p:cNvPr id="35" name="Text 29"/>
          <p:cNvSpPr/>
          <p:nvPr/>
        </p:nvSpPr>
        <p:spPr>
          <a:xfrm>
            <a:off x="8915400" y="2286000"/>
            <a:ext cx="2331720" cy="457200"/>
          </a:xfrm>
          <a:prstGeom prst="rect">
            <a:avLst/>
          </a:prstGeom>
          <a:noFill/>
        </p:spPr>
        <p:txBody>
          <a:bodyPr wrap="square" lIns="0" tIns="0" rIns="0" bIns="0" rtlCol="0" anchor="ctr"/>
          <a:lstStyle/>
          <a:p>
            <a:pPr marL="0" indent="0">
              <a:buNone/>
            </a:pPr>
            <a:r>
              <a:rPr lang="en-US" sz="1300" b="1" dirty="0">
                <a:solidFill>
                  <a:srgbClr val="156D4F"/>
                </a:solidFill>
                <a:latin typeface="Georgia" panose="02040502050405020303" pitchFamily="34" charset="0"/>
                <a:ea typeface="Georgia" panose="02040502050405020303" pitchFamily="34" charset="-122"/>
                <a:cs typeface="Georgia" panose="02040502050405020303" pitchFamily="34" charset="-120"/>
              </a:rPr>
              <a:t>Integration Support</a:t>
            </a:r>
            <a:endParaRPr lang="en-US" sz="1300" dirty="0"/>
          </a:p>
        </p:txBody>
      </p:sp>
      <p:sp>
        <p:nvSpPr>
          <p:cNvPr id="36" name="Text 30"/>
          <p:cNvSpPr/>
          <p:nvPr/>
        </p:nvSpPr>
        <p:spPr>
          <a:xfrm>
            <a:off x="8915400" y="2880360"/>
            <a:ext cx="2331720" cy="2560320"/>
          </a:xfrm>
          <a:prstGeom prst="rect">
            <a:avLst/>
          </a:prstGeom>
          <a:noFill/>
        </p:spPr>
        <p:txBody>
          <a:bodyPr wrap="square" lIns="0" tIns="0" rIns="0" bIns="0" rtlCol="0" anchor="ctr"/>
          <a:lstStyle/>
          <a:p>
            <a:pPr marL="0" indent="0" algn="l">
              <a:lnSpc>
                <a:spcPct val="120000"/>
              </a:lnSpc>
              <a:buNone/>
            </a:pPr>
            <a:r>
              <a:rPr lang="en-US" sz="1200" dirty="0">
                <a:solidFill>
                  <a:srgbClr val="364327"/>
                </a:solidFill>
                <a:latin typeface="Bahnschrift Light SemiCondensed" panose="020B0502040204020203" charset="0"/>
                <a:ea typeface="Segoe UI" panose="020B0502040204020203" pitchFamily="34" charset="-122"/>
                <a:cs typeface="Bahnschrift Light SemiCondensed" panose="020B0502040204020203" charset="0"/>
              </a:rPr>
              <a:t>• Managed frontend-backend integration and resolved connection bottlenecks.</a:t>
            </a:r>
            <a:endParaRPr lang="en-US" sz="1200" dirty="0">
              <a:latin typeface="Bahnschrift Light SemiCondensed" panose="020B0502040204020203" charset="0"/>
              <a:cs typeface="Bahnschrift Light SemiCondensed" panose="020B0502040204020203" charset="0"/>
            </a:endParaRPr>
          </a:p>
          <a:p>
            <a:pPr marL="0" indent="0" algn="l">
              <a:lnSpc>
                <a:spcPct val="120000"/>
              </a:lnSpc>
              <a:buNone/>
            </a:pPr>
            <a:r>
              <a:rPr lang="en-US" sz="1200" dirty="0">
                <a:solidFill>
                  <a:srgbClr val="364327"/>
                </a:solidFill>
                <a:latin typeface="Bahnschrift Light SemiCondensed" panose="020B0502040204020203" charset="0"/>
                <a:ea typeface="Segoe UI" panose="020B0502040204020203" pitchFamily="34" charset="-122"/>
                <a:cs typeface="Bahnschrift Light SemiCondensed" panose="020B0502040204020203" charset="0"/>
              </a:rPr>
              <a:t>• Supported AI/ML pipeline deployments and prompt configurations.</a:t>
            </a:r>
            <a:endParaRPr lang="en-US" sz="1200" dirty="0">
              <a:latin typeface="Bahnschrift Light SemiCondensed" panose="020B0502040204020203" charset="0"/>
              <a:cs typeface="Bahnschrift Light SemiCondensed" panose="020B0502040204020203" charset="0"/>
            </a:endParaRPr>
          </a:p>
          <a:p>
            <a:pPr marL="0" indent="0" algn="l">
              <a:lnSpc>
                <a:spcPct val="120000"/>
              </a:lnSpc>
              <a:buNone/>
            </a:pPr>
            <a:r>
              <a:rPr lang="en-US" sz="1200" dirty="0">
                <a:solidFill>
                  <a:srgbClr val="364327"/>
                </a:solidFill>
                <a:latin typeface="Bahnschrift Light SemiCondensed" panose="020B0502040204020203" charset="0"/>
                <a:ea typeface="Segoe UI" panose="020B0502040204020203" pitchFamily="34" charset="-122"/>
                <a:cs typeface="Bahnschrift Light SemiCondensed" panose="020B0502040204020203" charset="0"/>
              </a:rPr>
              <a:t>• Drafted documentation, compiled reports, and built CI/CD lines.</a:t>
            </a:r>
            <a:endParaRPr lang="en-US" sz="1200" dirty="0">
              <a:latin typeface="Bahnschrift Light SemiCondensed" panose="020B0502040204020203" charset="0"/>
              <a:cs typeface="Bahnschrift Light SemiCondensed" panose="020B0502040204020203" charset="0"/>
            </a:endParaRPr>
          </a:p>
          <a:p>
            <a:pPr marL="0" indent="0" algn="l">
              <a:lnSpc>
                <a:spcPct val="120000"/>
              </a:lnSpc>
              <a:buNone/>
            </a:pPr>
            <a:r>
              <a:rPr lang="en-US" sz="1200" dirty="0">
                <a:solidFill>
                  <a:srgbClr val="364327"/>
                </a:solidFill>
                <a:latin typeface="Bahnschrift Light SemiCondensed" panose="020B0502040204020203" charset="0"/>
                <a:ea typeface="Segoe UI" panose="020B0502040204020203" pitchFamily="34" charset="-122"/>
                <a:cs typeface="Bahnschrift Light SemiCondensed" panose="020B0502040204020203" charset="0"/>
              </a:rPr>
              <a:t>• Supported Git workflows, version control, and system deployments.</a:t>
            </a:r>
            <a:endParaRPr lang="en-US" sz="1200" dirty="0">
              <a:solidFill>
                <a:srgbClr val="364327"/>
              </a:solidFill>
              <a:latin typeface="Bahnschrift Light SemiCondensed" panose="020B0502040204020203" charset="0"/>
              <a:ea typeface="Segoe UI" panose="020B0502040204020203" pitchFamily="34" charset="-122"/>
              <a:cs typeface="Bahnschrift Light SemiCondensed" panose="020B0502040204020203" charset="0"/>
            </a:endParaRPr>
          </a:p>
        </p:txBody>
      </p:sp>
      <p:sp>
        <p:nvSpPr>
          <p:cNvPr id="37" name="Text 31"/>
          <p:cNvSpPr/>
          <p:nvPr/>
        </p:nvSpPr>
        <p:spPr>
          <a:xfrm>
            <a:off x="548640" y="5806440"/>
            <a:ext cx="10607040" cy="274320"/>
          </a:xfrm>
          <a:prstGeom prst="rect">
            <a:avLst/>
          </a:prstGeom>
          <a:noFill/>
        </p:spPr>
        <p:txBody>
          <a:bodyPr wrap="square" lIns="0" tIns="0" rIns="0" bIns="0" rtlCol="0" anchor="ctr"/>
          <a:lstStyle/>
          <a:p>
            <a:pPr marL="0" indent="0">
              <a:buNone/>
            </a:pPr>
            <a:r>
              <a:rPr lang="en-US" sz="1050" i="1" dirty="0">
                <a:solidFill>
                  <a:srgbClr val="364327"/>
                </a:solidFill>
                <a:latin typeface="Segoe UI" panose="020B0502040204020203" pitchFamily="34" charset="0"/>
                <a:ea typeface="Segoe UI" panose="020B0502040204020203" pitchFamily="34" charset="-122"/>
                <a:cs typeface="Segoe UI" panose="020B0502040204020203" pitchFamily="34" charset="-120"/>
              </a:rPr>
              <a:t>The defined task assignment ensures complete individual contributions covering UI development, testing, core backend services, and integration.</a:t>
            </a:r>
            <a:endParaRPr lang="en-US" sz="1050" dirty="0"/>
          </a:p>
        </p:txBody>
      </p:sp>
      <p:sp>
        <p:nvSpPr>
          <p:cNvPr id="38" name="Shape 32"/>
          <p:cNvSpPr/>
          <p:nvPr/>
        </p:nvSpPr>
        <p:spPr>
          <a:xfrm>
            <a:off x="530352" y="6364224"/>
            <a:ext cx="237744" cy="237744"/>
          </a:xfrm>
          <a:prstGeom prst="ellipse">
            <a:avLst/>
          </a:prstGeom>
          <a:solidFill>
            <a:srgbClr val="156D4F"/>
          </a:solidFill>
        </p:spPr>
      </p:sp>
      <p:pic>
        <p:nvPicPr>
          <p:cNvPr id="39" name="Image 4" descr="./icons/arrow_left_white.png">
            <a:hlinkClick r:id="rId5" action="ppaction://hlinksldjump"/>
          </p:cNvPr>
          <p:cNvPicPr>
            <a:picLocks noChangeAspect="1"/>
          </p:cNvPicPr>
          <p:nvPr/>
        </p:nvPicPr>
        <p:blipFill>
          <a:blip r:embed="rId6"/>
          <a:stretch>
            <a:fillRect/>
          </a:stretch>
        </p:blipFill>
        <p:spPr>
          <a:xfrm>
            <a:off x="548640" y="6382512"/>
            <a:ext cx="201168" cy="201168"/>
          </a:xfrm>
          <a:prstGeom prst="rect">
            <a:avLst/>
          </a:prstGeom>
        </p:spPr>
      </p:pic>
      <p:sp>
        <p:nvSpPr>
          <p:cNvPr id="40" name="Shape 33">
            <a:hlinkClick r:id="rId5" action="ppaction://hlinksldjump"/>
          </p:cNvPr>
          <p:cNvSpPr/>
          <p:nvPr/>
        </p:nvSpPr>
        <p:spPr>
          <a:xfrm>
            <a:off x="530352" y="6355080"/>
            <a:ext cx="2377440" cy="365760"/>
          </a:xfrm>
          <a:prstGeom prst="rect">
            <a:avLst/>
          </a:prstGeom>
          <a:solidFill>
            <a:srgbClr val="364327">
              <a:alpha val="0"/>
            </a:srgbClr>
          </a:solidFill>
        </p:spPr>
      </p:sp>
      <p:sp>
        <p:nvSpPr>
          <p:cNvPr id="41" name="Text 34">
            <a:hlinkClick r:id="rId5" action="ppaction://hlinksldjump"/>
          </p:cNvPr>
          <p:cNvSpPr/>
          <p:nvPr/>
        </p:nvSpPr>
        <p:spPr>
          <a:xfrm>
            <a:off x="841248" y="6355080"/>
            <a:ext cx="2377440" cy="365760"/>
          </a:xfrm>
          <a:prstGeom prst="rect">
            <a:avLst/>
          </a:prstGeom>
          <a:noFill/>
        </p:spPr>
        <p:txBody>
          <a:bodyPr wrap="square" lIns="0" tIns="0" rIns="0" bIns="0" rtlCol="0" anchor="ctr"/>
          <a:lstStyle/>
          <a:p>
            <a:pPr marL="0" indent="0">
              <a:buNone/>
            </a:pPr>
            <a:r>
              <a:rPr lang="en-US" sz="1100" b="1" u="sng" dirty="0">
                <a:solidFill>
                  <a:srgbClr val="156D4F"/>
                </a:solidFill>
                <a:latin typeface="Segoe UI" panose="020B0502040204020203" pitchFamily="34" charset="0"/>
                <a:ea typeface="Segoe UI" panose="020B0502040204020203" pitchFamily="34" charset="-122"/>
                <a:cs typeface="Segoe UI" panose="020B0502040204020203" pitchFamily="34" charset="-120"/>
                <a:hlinkClick r:id="rId5" action="ppaction://hlinksldjump"/>
              </a:rPr>
              <a:t>BACK TO REVIEW BOARD</a:t>
            </a:r>
            <a:endParaRPr lang="en-US" sz="1100" dirty="0"/>
          </a:p>
        </p:txBody>
      </p:sp>
      <p:sp>
        <p:nvSpPr>
          <p:cNvPr id="42" name="Text 35"/>
          <p:cNvSpPr/>
          <p:nvPr/>
        </p:nvSpPr>
        <p:spPr>
          <a:xfrm>
            <a:off x="8595360" y="6382512"/>
            <a:ext cx="3017520" cy="274320"/>
          </a:xfrm>
          <a:prstGeom prst="rect">
            <a:avLst/>
          </a:prstGeom>
          <a:noFill/>
        </p:spPr>
        <p:txBody>
          <a:bodyPr wrap="square" lIns="0" tIns="0" rIns="0" bIns="0" rtlCol="0" anchor="ctr"/>
          <a:lstStyle/>
          <a:p>
            <a:pPr marL="0" indent="0" algn="r">
              <a:buNone/>
            </a:pPr>
            <a:r>
              <a:rPr lang="en-US" sz="1000" dirty="0">
                <a:solidFill>
                  <a:srgbClr val="364327"/>
                </a:solidFill>
                <a:latin typeface="Segoe UI" panose="020B0502040204020203" pitchFamily="34" charset="0"/>
                <a:ea typeface="Segoe UI" panose="020B0502040204020203" pitchFamily="34" charset="-122"/>
                <a:cs typeface="Segoe UI" panose="020B0502040204020203" pitchFamily="34" charset="-120"/>
              </a:rPr>
              <a:t>EcoSphere · Team Structure</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C7C396"/>
        </a:solidFill>
        <a:effectLst/>
      </p:bgPr>
    </p:bg>
    <p:spTree>
      <p:nvGrpSpPr>
        <p:cNvPr id="1" name=""/>
        <p:cNvGrpSpPr/>
        <p:nvPr/>
      </p:nvGrpSpPr>
      <p:grpSpPr>
        <a:xfrm>
          <a:off x="0" y="0"/>
          <a:ext cx="0" cy="0"/>
          <a:chOff x="0" y="0"/>
          <a:chExt cx="0" cy="0"/>
        </a:xfrm>
      </p:grpSpPr>
      <p:sp>
        <p:nvSpPr>
          <p:cNvPr id="2" name="Text 0"/>
          <p:cNvSpPr/>
          <p:nvPr/>
        </p:nvSpPr>
        <p:spPr>
          <a:xfrm>
            <a:off x="548640" y="384048"/>
            <a:ext cx="8229600" cy="274320"/>
          </a:xfrm>
          <a:prstGeom prst="rect">
            <a:avLst/>
          </a:prstGeom>
          <a:noFill/>
        </p:spPr>
        <p:txBody>
          <a:bodyPr wrap="square" lIns="0" tIns="0" rIns="0" bIns="0" rtlCol="0" anchor="ctr"/>
          <a:lstStyle/>
          <a:p>
            <a:pPr marL="0" indent="0">
              <a:buNone/>
            </a:pPr>
            <a:r>
              <a:rPr lang="en-US" sz="1200" b="1" kern="0" spc="200" dirty="0">
                <a:solidFill>
                  <a:srgbClr val="156D4F"/>
                </a:solidFill>
                <a:latin typeface="Segoe UI" panose="020B0502040204020203" pitchFamily="34" charset="0"/>
                <a:ea typeface="Segoe UI" panose="020B0502040204020203" pitchFamily="34" charset="-122"/>
                <a:cs typeface="Segoe UI" panose="020B0502040204020203" pitchFamily="34" charset="-120"/>
              </a:rPr>
              <a:t>SECTION 07 · IMPLEMENTATION PLAN</a:t>
            </a:r>
            <a:endParaRPr lang="en-US" sz="1200" dirty="0"/>
          </a:p>
        </p:txBody>
      </p:sp>
      <p:sp>
        <p:nvSpPr>
          <p:cNvPr id="3" name="Text 1"/>
          <p:cNvSpPr/>
          <p:nvPr/>
        </p:nvSpPr>
        <p:spPr>
          <a:xfrm>
            <a:off x="548640" y="640080"/>
            <a:ext cx="9601200" cy="640080"/>
          </a:xfrm>
          <a:prstGeom prst="rect">
            <a:avLst/>
          </a:prstGeom>
          <a:noFill/>
        </p:spPr>
        <p:txBody>
          <a:bodyPr wrap="square" lIns="0" tIns="0" rIns="0" bIns="0" rtlCol="0" anchor="ctr"/>
          <a:lstStyle/>
          <a:p>
            <a:pPr marL="0" indent="0">
              <a:buNone/>
            </a:pPr>
            <a:r>
              <a:rPr lang="en-US" sz="2800" b="1" dirty="0">
                <a:solidFill>
                  <a:srgbClr val="156D4F"/>
                </a:solidFill>
                <a:latin typeface="Georgia" panose="02040502050405020303" pitchFamily="34" charset="0"/>
                <a:ea typeface="Georgia" panose="02040502050405020303" pitchFamily="34" charset="-122"/>
                <a:cs typeface="Georgia" panose="02040502050405020303" pitchFamily="34" charset="-120"/>
              </a:rPr>
              <a:t>Prototype Roadmap</a:t>
            </a:r>
            <a:endParaRPr lang="en-US" sz="2800" dirty="0"/>
          </a:p>
        </p:txBody>
      </p:sp>
      <p:sp>
        <p:nvSpPr>
          <p:cNvPr id="4" name="Text 2"/>
          <p:cNvSpPr/>
          <p:nvPr/>
        </p:nvSpPr>
        <p:spPr>
          <a:xfrm>
            <a:off x="548640" y="1371600"/>
            <a:ext cx="10607040" cy="320040"/>
          </a:xfrm>
          <a:prstGeom prst="rect">
            <a:avLst/>
          </a:prstGeom>
          <a:noFill/>
        </p:spPr>
        <p:txBody>
          <a:bodyPr wrap="square" lIns="0" tIns="0" rIns="0" bIns="0" rtlCol="0" anchor="ctr"/>
          <a:lstStyle/>
          <a:p>
            <a:pPr marL="0" indent="0" algn="just">
              <a:buNone/>
            </a:pPr>
            <a:r>
              <a:rPr lang="en-US" sz="1250" dirty="0">
                <a:solidFill>
                  <a:srgbClr val="156D4F"/>
                </a:solidFill>
                <a:latin typeface="Segoe UI" panose="020B0502040204020203" pitchFamily="34" charset="0"/>
                <a:ea typeface="Segoe UI" panose="020B0502040204020203" pitchFamily="34" charset="-122"/>
                <a:cs typeface="Segoe UI" panose="020B0502040204020203" pitchFamily="34" charset="-120"/>
              </a:rPr>
              <a:t>The implementation roadmap maps 6 weeks of prototype execution across four distinct milestones.</a:t>
            </a:r>
            <a:endParaRPr lang="en-US" sz="1250" dirty="0"/>
          </a:p>
        </p:txBody>
      </p:sp>
      <p:sp>
        <p:nvSpPr>
          <p:cNvPr id="5" name="Shape 3"/>
          <p:cNvSpPr/>
          <p:nvPr/>
        </p:nvSpPr>
        <p:spPr>
          <a:xfrm>
            <a:off x="548640" y="1783080"/>
            <a:ext cx="5212080" cy="2011680"/>
          </a:xfrm>
          <a:prstGeom prst="roundRect">
            <a:avLst>
              <a:gd name="adj" fmla="val 4091"/>
            </a:avLst>
          </a:prstGeom>
          <a:solidFill>
            <a:srgbClr val="FFFFFF"/>
          </a:solidFill>
          <a:effectLst>
            <a:outerShdw blurRad="76200" dist="25400" dir="2700000" algn="bl" rotWithShape="0">
              <a:srgbClr val="000000">
                <a:alpha val="8000"/>
              </a:srgbClr>
            </a:outerShdw>
          </a:effectLst>
        </p:spPr>
      </p:sp>
      <p:sp>
        <p:nvSpPr>
          <p:cNvPr id="6" name="Shape 4"/>
          <p:cNvSpPr/>
          <p:nvPr/>
        </p:nvSpPr>
        <p:spPr>
          <a:xfrm>
            <a:off x="713232" y="1947672"/>
            <a:ext cx="502920" cy="502920"/>
          </a:xfrm>
          <a:prstGeom prst="ellipse">
            <a:avLst/>
          </a:prstGeom>
          <a:solidFill>
            <a:srgbClr val="156D4F"/>
          </a:solidFill>
          <a:effectLst>
            <a:outerShdw blurRad="76200" dist="25400" dir="2700000" algn="bl" rotWithShape="0">
              <a:srgbClr val="000000">
                <a:alpha val="8000"/>
              </a:srgbClr>
            </a:outerShdw>
          </a:effectLst>
        </p:spPr>
      </p:sp>
      <p:pic>
        <p:nvPicPr>
          <p:cNvPr id="7" name="Image 0" descr="./icons/flask_white.png"/>
          <p:cNvPicPr>
            <a:picLocks noChangeAspect="1"/>
          </p:cNvPicPr>
          <p:nvPr/>
        </p:nvPicPr>
        <p:blipFill>
          <a:blip r:embed="rId1"/>
          <a:stretch>
            <a:fillRect/>
          </a:stretch>
        </p:blipFill>
        <p:spPr>
          <a:xfrm>
            <a:off x="843991" y="2078431"/>
            <a:ext cx="241402" cy="241402"/>
          </a:xfrm>
          <a:prstGeom prst="rect">
            <a:avLst/>
          </a:prstGeom>
        </p:spPr>
      </p:pic>
      <p:sp>
        <p:nvSpPr>
          <p:cNvPr id="8" name="Text 5"/>
          <p:cNvSpPr/>
          <p:nvPr/>
        </p:nvSpPr>
        <p:spPr>
          <a:xfrm>
            <a:off x="1325880" y="1920240"/>
            <a:ext cx="4297680" cy="502920"/>
          </a:xfrm>
          <a:prstGeom prst="rect">
            <a:avLst/>
          </a:prstGeom>
          <a:noFill/>
        </p:spPr>
        <p:txBody>
          <a:bodyPr wrap="square" lIns="0" tIns="0" rIns="0" bIns="0" rtlCol="0" anchor="t"/>
          <a:lstStyle/>
          <a:p>
            <a:pPr marL="0" indent="0">
              <a:buNone/>
            </a:pPr>
            <a:r>
              <a:rPr lang="en-US" sz="1600" b="1" dirty="0">
                <a:solidFill>
                  <a:srgbClr val="156D4F"/>
                </a:solidFill>
                <a:latin typeface="Segoe UI" panose="020B0502040204020203" pitchFamily="34" charset="0"/>
                <a:ea typeface="Segoe UI" panose="020B0502040204020203" pitchFamily="34" charset="-122"/>
                <a:cs typeface="Segoe UI" panose="020B0502040204020203" pitchFamily="34" charset="-120"/>
              </a:rPr>
              <a:t>Phase 1: DB &amp; API Skeleton (W1-2)</a:t>
            </a:r>
            <a:endParaRPr lang="en-US" sz="1600" dirty="0"/>
          </a:p>
        </p:txBody>
      </p:sp>
      <p:sp>
        <p:nvSpPr>
          <p:cNvPr id="9" name="Text 6"/>
          <p:cNvSpPr/>
          <p:nvPr/>
        </p:nvSpPr>
        <p:spPr>
          <a:xfrm>
            <a:off x="731520" y="2514600"/>
            <a:ext cx="4846320" cy="1143000"/>
          </a:xfrm>
          <a:prstGeom prst="rect">
            <a:avLst/>
          </a:prstGeom>
          <a:noFill/>
        </p:spPr>
        <p:txBody>
          <a:bodyPr wrap="square" lIns="0" tIns="0" rIns="0" bIns="0" rtlCol="0" anchor="ctr"/>
          <a:lstStyle/>
          <a:p>
            <a:pPr marL="0" indent="0" algn="just">
              <a:lnSpc>
                <a:spcPct val="118000"/>
              </a:lnSpc>
              <a:buNone/>
            </a:pPr>
            <a:r>
              <a:rPr lang="en-US" sz="1350" dirty="0">
                <a:solidFill>
                  <a:srgbClr val="364327"/>
                </a:solidFill>
                <a:latin typeface="Segoe UI" panose="020B0502040204020203" pitchFamily="34" charset="0"/>
                <a:ea typeface="Segoe UI" panose="020B0502040204020203" pitchFamily="34" charset="-122"/>
                <a:cs typeface="Segoe UI" panose="020B0502040204020203" pitchFamily="34" charset="-120"/>
              </a:rPr>
              <a:t>Initialize Spring Boot API gateway, write PostgreSQL relational and spatial tables, configure secure token login, and set up Redis caching layers.</a:t>
            </a:r>
            <a:endParaRPr lang="en-US" sz="1350" dirty="0"/>
          </a:p>
        </p:txBody>
      </p:sp>
      <p:sp>
        <p:nvSpPr>
          <p:cNvPr id="10" name="Shape 7"/>
          <p:cNvSpPr/>
          <p:nvPr/>
        </p:nvSpPr>
        <p:spPr>
          <a:xfrm>
            <a:off x="5943600" y="1783080"/>
            <a:ext cx="5212080" cy="2011680"/>
          </a:xfrm>
          <a:prstGeom prst="roundRect">
            <a:avLst>
              <a:gd name="adj" fmla="val 4091"/>
            </a:avLst>
          </a:prstGeom>
          <a:solidFill>
            <a:srgbClr val="FFFFFF"/>
          </a:solidFill>
          <a:effectLst>
            <a:outerShdw blurRad="76200" dist="25400" dir="2700000" algn="bl" rotWithShape="0">
              <a:srgbClr val="000000">
                <a:alpha val="8000"/>
              </a:srgbClr>
            </a:outerShdw>
          </a:effectLst>
        </p:spPr>
      </p:sp>
      <p:sp>
        <p:nvSpPr>
          <p:cNvPr id="11" name="Shape 8"/>
          <p:cNvSpPr/>
          <p:nvPr/>
        </p:nvSpPr>
        <p:spPr>
          <a:xfrm>
            <a:off x="6108192" y="1947672"/>
            <a:ext cx="502920" cy="502920"/>
          </a:xfrm>
          <a:prstGeom prst="ellipse">
            <a:avLst/>
          </a:prstGeom>
          <a:solidFill>
            <a:srgbClr val="156D4F"/>
          </a:solidFill>
          <a:effectLst>
            <a:outerShdw blurRad="76200" dist="25400" dir="2700000" algn="bl" rotWithShape="0">
              <a:srgbClr val="000000">
                <a:alpha val="8000"/>
              </a:srgbClr>
            </a:outerShdw>
          </a:effectLst>
        </p:spPr>
      </p:sp>
      <p:pic>
        <p:nvPicPr>
          <p:cNvPr id="12" name="Image 1" descr="./icons/terminal_dark.png"/>
          <p:cNvPicPr>
            <a:picLocks noChangeAspect="1"/>
          </p:cNvPicPr>
          <p:nvPr/>
        </p:nvPicPr>
        <p:blipFill>
          <a:blip r:embed="rId2"/>
          <a:stretch>
            <a:fillRect/>
          </a:stretch>
        </p:blipFill>
        <p:spPr>
          <a:xfrm>
            <a:off x="6238951" y="2078431"/>
            <a:ext cx="241402" cy="241402"/>
          </a:xfrm>
          <a:prstGeom prst="rect">
            <a:avLst/>
          </a:prstGeom>
        </p:spPr>
      </p:pic>
      <p:sp>
        <p:nvSpPr>
          <p:cNvPr id="13" name="Text 9"/>
          <p:cNvSpPr/>
          <p:nvPr/>
        </p:nvSpPr>
        <p:spPr>
          <a:xfrm>
            <a:off x="6720840" y="1920240"/>
            <a:ext cx="4297680" cy="502920"/>
          </a:xfrm>
          <a:prstGeom prst="rect">
            <a:avLst/>
          </a:prstGeom>
          <a:noFill/>
        </p:spPr>
        <p:txBody>
          <a:bodyPr wrap="square" lIns="0" tIns="0" rIns="0" bIns="0" rtlCol="0" anchor="t"/>
          <a:lstStyle/>
          <a:p>
            <a:pPr marL="0" indent="0">
              <a:buNone/>
            </a:pPr>
            <a:r>
              <a:rPr lang="en-US" sz="1600" b="1" dirty="0">
                <a:solidFill>
                  <a:srgbClr val="156D4F"/>
                </a:solidFill>
                <a:latin typeface="Segoe UI" panose="020B0502040204020203" pitchFamily="34" charset="0"/>
                <a:ea typeface="Segoe UI" panose="020B0502040204020203" pitchFamily="34" charset="-122"/>
                <a:cs typeface="Segoe UI" panose="020B0502040204020203" pitchFamily="34" charset="-120"/>
              </a:rPr>
              <a:t>Phase 2: ML &amp; Data (W3-4)</a:t>
            </a:r>
            <a:endParaRPr lang="en-US" sz="1600" dirty="0"/>
          </a:p>
        </p:txBody>
      </p:sp>
      <p:sp>
        <p:nvSpPr>
          <p:cNvPr id="14" name="Text 10"/>
          <p:cNvSpPr/>
          <p:nvPr/>
        </p:nvSpPr>
        <p:spPr>
          <a:xfrm>
            <a:off x="6126480" y="2514600"/>
            <a:ext cx="4846320" cy="1143000"/>
          </a:xfrm>
          <a:prstGeom prst="rect">
            <a:avLst/>
          </a:prstGeom>
          <a:noFill/>
        </p:spPr>
        <p:txBody>
          <a:bodyPr wrap="square" lIns="0" tIns="0" rIns="0" bIns="0" rtlCol="0" anchor="ctr"/>
          <a:lstStyle/>
          <a:p>
            <a:pPr marL="0" indent="0" algn="just">
              <a:lnSpc>
                <a:spcPct val="118000"/>
              </a:lnSpc>
              <a:buNone/>
            </a:pPr>
            <a:r>
              <a:rPr lang="en-US" sz="1350" dirty="0">
                <a:solidFill>
                  <a:srgbClr val="364327"/>
                </a:solidFill>
                <a:latin typeface="Segoe UI" panose="020B0502040204020203" pitchFamily="34" charset="0"/>
                <a:ea typeface="Segoe UI" panose="020B0502040204020203" pitchFamily="34" charset="-122"/>
                <a:cs typeface="Segoe UI" panose="020B0502040204020203" pitchFamily="34" charset="-120"/>
              </a:rPr>
              <a:t>Integrate Python FastAPI ML container, train XGBoost models on energy and carbon datasets, and write Leaflet map overlays with geocoding tools.</a:t>
            </a:r>
            <a:endParaRPr lang="en-US" sz="1350" dirty="0"/>
          </a:p>
        </p:txBody>
      </p:sp>
      <p:sp>
        <p:nvSpPr>
          <p:cNvPr id="15" name="Shape 11"/>
          <p:cNvSpPr/>
          <p:nvPr/>
        </p:nvSpPr>
        <p:spPr>
          <a:xfrm>
            <a:off x="548640" y="3931920"/>
            <a:ext cx="5212080" cy="2011680"/>
          </a:xfrm>
          <a:prstGeom prst="roundRect">
            <a:avLst>
              <a:gd name="adj" fmla="val 4091"/>
            </a:avLst>
          </a:prstGeom>
          <a:solidFill>
            <a:srgbClr val="FFFFFF"/>
          </a:solidFill>
          <a:effectLst>
            <a:outerShdw blurRad="76200" dist="25400" dir="2700000" algn="bl" rotWithShape="0">
              <a:srgbClr val="000000">
                <a:alpha val="8000"/>
              </a:srgbClr>
            </a:outerShdw>
          </a:effectLst>
        </p:spPr>
      </p:sp>
      <p:sp>
        <p:nvSpPr>
          <p:cNvPr id="16" name="Shape 12"/>
          <p:cNvSpPr/>
          <p:nvPr/>
        </p:nvSpPr>
        <p:spPr>
          <a:xfrm>
            <a:off x="713232" y="4096512"/>
            <a:ext cx="502920" cy="502920"/>
          </a:xfrm>
          <a:prstGeom prst="ellipse">
            <a:avLst/>
          </a:prstGeom>
          <a:solidFill>
            <a:srgbClr val="156D4F"/>
          </a:solidFill>
          <a:effectLst>
            <a:outerShdw blurRad="76200" dist="25400" dir="2700000" algn="bl" rotWithShape="0">
              <a:srgbClr val="000000">
                <a:alpha val="8000"/>
              </a:srgbClr>
            </a:outerShdw>
          </a:effectLst>
        </p:spPr>
      </p:sp>
      <p:pic>
        <p:nvPicPr>
          <p:cNvPr id="17" name="Image 2" descr="./icons/puzzle_dark.png"/>
          <p:cNvPicPr>
            <a:picLocks noChangeAspect="1"/>
          </p:cNvPicPr>
          <p:nvPr/>
        </p:nvPicPr>
        <p:blipFill>
          <a:blip r:embed="rId3"/>
          <a:stretch>
            <a:fillRect/>
          </a:stretch>
        </p:blipFill>
        <p:spPr>
          <a:xfrm>
            <a:off x="843991" y="4227271"/>
            <a:ext cx="241402" cy="241402"/>
          </a:xfrm>
          <a:prstGeom prst="rect">
            <a:avLst/>
          </a:prstGeom>
        </p:spPr>
      </p:pic>
      <p:sp>
        <p:nvSpPr>
          <p:cNvPr id="18" name="Text 13"/>
          <p:cNvSpPr/>
          <p:nvPr/>
        </p:nvSpPr>
        <p:spPr>
          <a:xfrm>
            <a:off x="1325880" y="4069080"/>
            <a:ext cx="4297680" cy="502920"/>
          </a:xfrm>
          <a:prstGeom prst="rect">
            <a:avLst/>
          </a:prstGeom>
          <a:noFill/>
        </p:spPr>
        <p:txBody>
          <a:bodyPr wrap="square" lIns="0" tIns="0" rIns="0" bIns="0" rtlCol="0" anchor="t"/>
          <a:lstStyle/>
          <a:p>
            <a:pPr marL="0" indent="0">
              <a:buNone/>
            </a:pPr>
            <a:r>
              <a:rPr lang="en-US" sz="1600" b="1" dirty="0">
                <a:solidFill>
                  <a:srgbClr val="156D4F"/>
                </a:solidFill>
                <a:latin typeface="Segoe UI" panose="020B0502040204020203" pitchFamily="34" charset="0"/>
                <a:ea typeface="Segoe UI" panose="020B0502040204020203" pitchFamily="34" charset="-122"/>
                <a:cs typeface="Segoe UI" panose="020B0502040204020203" pitchFamily="34" charset="-120"/>
              </a:rPr>
              <a:t>Phase 3: Digital Twin &amp; Optimization (W5)</a:t>
            </a:r>
            <a:endParaRPr lang="en-US" sz="1600" dirty="0"/>
          </a:p>
        </p:txBody>
      </p:sp>
      <p:sp>
        <p:nvSpPr>
          <p:cNvPr id="19" name="Text 14"/>
          <p:cNvSpPr/>
          <p:nvPr/>
        </p:nvSpPr>
        <p:spPr>
          <a:xfrm>
            <a:off x="731520" y="4663440"/>
            <a:ext cx="4846320" cy="1143000"/>
          </a:xfrm>
          <a:prstGeom prst="rect">
            <a:avLst/>
          </a:prstGeom>
          <a:noFill/>
        </p:spPr>
        <p:txBody>
          <a:bodyPr wrap="square" lIns="0" tIns="0" rIns="0" bIns="0" rtlCol="0" anchor="ctr"/>
          <a:lstStyle/>
          <a:p>
            <a:pPr marL="0" indent="0" algn="just">
              <a:lnSpc>
                <a:spcPct val="118000"/>
              </a:lnSpc>
              <a:buNone/>
            </a:pPr>
            <a:r>
              <a:rPr lang="en-US" sz="1350" dirty="0">
                <a:solidFill>
                  <a:srgbClr val="364327"/>
                </a:solidFill>
                <a:latin typeface="Segoe UI" panose="020B0502040204020203" pitchFamily="34" charset="0"/>
                <a:ea typeface="Segoe UI" panose="020B0502040204020203" pitchFamily="34" charset="-122"/>
                <a:cs typeface="Segoe UI" panose="020B0502040204020203" pitchFamily="34" charset="-120"/>
              </a:rPr>
              <a:t>Assemble the Household Digital Twin simulator, code Google OR-Tools multi-objective optimization solvers, and write comparative scenario rules.</a:t>
            </a:r>
            <a:endParaRPr lang="en-US" sz="1350" dirty="0"/>
          </a:p>
        </p:txBody>
      </p:sp>
      <p:sp>
        <p:nvSpPr>
          <p:cNvPr id="20" name="Shape 15"/>
          <p:cNvSpPr/>
          <p:nvPr/>
        </p:nvSpPr>
        <p:spPr>
          <a:xfrm>
            <a:off x="5943600" y="3931920"/>
            <a:ext cx="5212080" cy="2011680"/>
          </a:xfrm>
          <a:prstGeom prst="roundRect">
            <a:avLst>
              <a:gd name="adj" fmla="val 4091"/>
            </a:avLst>
          </a:prstGeom>
          <a:solidFill>
            <a:srgbClr val="FFFFFF"/>
          </a:solidFill>
          <a:effectLst>
            <a:outerShdw blurRad="76200" dist="25400" dir="2700000" algn="bl" rotWithShape="0">
              <a:srgbClr val="000000">
                <a:alpha val="8000"/>
              </a:srgbClr>
            </a:outerShdw>
          </a:effectLst>
        </p:spPr>
      </p:sp>
      <p:sp>
        <p:nvSpPr>
          <p:cNvPr id="21" name="Shape 16"/>
          <p:cNvSpPr/>
          <p:nvPr/>
        </p:nvSpPr>
        <p:spPr>
          <a:xfrm>
            <a:off x="6108192" y="4096512"/>
            <a:ext cx="502920" cy="502920"/>
          </a:xfrm>
          <a:prstGeom prst="ellipse">
            <a:avLst/>
          </a:prstGeom>
          <a:solidFill>
            <a:srgbClr val="156D4F"/>
          </a:solidFill>
          <a:effectLst>
            <a:outerShdw blurRad="76200" dist="25400" dir="2700000" algn="bl" rotWithShape="0">
              <a:srgbClr val="000000">
                <a:alpha val="8000"/>
              </a:srgbClr>
            </a:outerShdw>
          </a:effectLst>
        </p:spPr>
      </p:sp>
      <p:pic>
        <p:nvPicPr>
          <p:cNvPr id="22" name="Image 3" descr="./icons/check_dark.png"/>
          <p:cNvPicPr>
            <a:picLocks noChangeAspect="1"/>
          </p:cNvPicPr>
          <p:nvPr/>
        </p:nvPicPr>
        <p:blipFill>
          <a:blip r:embed="rId4"/>
          <a:stretch>
            <a:fillRect/>
          </a:stretch>
        </p:blipFill>
        <p:spPr>
          <a:xfrm>
            <a:off x="6238951" y="4227271"/>
            <a:ext cx="241402" cy="241402"/>
          </a:xfrm>
          <a:prstGeom prst="rect">
            <a:avLst/>
          </a:prstGeom>
        </p:spPr>
      </p:pic>
      <p:sp>
        <p:nvSpPr>
          <p:cNvPr id="23" name="Text 17"/>
          <p:cNvSpPr/>
          <p:nvPr/>
        </p:nvSpPr>
        <p:spPr>
          <a:xfrm>
            <a:off x="6720840" y="4069080"/>
            <a:ext cx="4297680" cy="502920"/>
          </a:xfrm>
          <a:prstGeom prst="rect">
            <a:avLst/>
          </a:prstGeom>
          <a:noFill/>
        </p:spPr>
        <p:txBody>
          <a:bodyPr wrap="square" lIns="0" tIns="0" rIns="0" bIns="0" rtlCol="0" anchor="t"/>
          <a:lstStyle/>
          <a:p>
            <a:pPr marL="0" indent="0">
              <a:buNone/>
            </a:pPr>
            <a:r>
              <a:rPr lang="en-US" sz="1600" b="1" dirty="0">
                <a:solidFill>
                  <a:srgbClr val="156D4F"/>
                </a:solidFill>
                <a:latin typeface="Segoe UI" panose="020B0502040204020203" pitchFamily="34" charset="0"/>
                <a:ea typeface="Segoe UI" panose="020B0502040204020203" pitchFamily="34" charset="-122"/>
                <a:cs typeface="Segoe UI" panose="020B0502040204020203" pitchFamily="34" charset="-120"/>
              </a:rPr>
              <a:t>Phase 4: AI Assistant &amp; Launch (W6)</a:t>
            </a:r>
            <a:endParaRPr lang="en-US" sz="1600" dirty="0"/>
          </a:p>
        </p:txBody>
      </p:sp>
      <p:sp>
        <p:nvSpPr>
          <p:cNvPr id="24" name="Text 18"/>
          <p:cNvSpPr/>
          <p:nvPr/>
        </p:nvSpPr>
        <p:spPr>
          <a:xfrm>
            <a:off x="6126480" y="4663440"/>
            <a:ext cx="4846320" cy="1143000"/>
          </a:xfrm>
          <a:prstGeom prst="rect">
            <a:avLst/>
          </a:prstGeom>
          <a:noFill/>
        </p:spPr>
        <p:txBody>
          <a:bodyPr wrap="square" lIns="0" tIns="0" rIns="0" bIns="0" rtlCol="0" anchor="ctr"/>
          <a:lstStyle/>
          <a:p>
            <a:pPr marL="0" indent="0" algn="just">
              <a:lnSpc>
                <a:spcPct val="118000"/>
              </a:lnSpc>
              <a:buNone/>
            </a:pPr>
            <a:r>
              <a:rPr lang="en-US" sz="1350" dirty="0">
                <a:solidFill>
                  <a:srgbClr val="364327"/>
                </a:solidFill>
                <a:latin typeface="Segoe UI" panose="020B0502040204020203" pitchFamily="34" charset="0"/>
                <a:ea typeface="Segoe UI" panose="020B0502040204020203" pitchFamily="34" charset="-122"/>
                <a:cs typeface="Segoe UI" panose="020B0502040204020203" pitchFamily="34" charset="-120"/>
              </a:rPr>
              <a:t>Connect Gemini API to explain scores and write reports, add activity verification modules, execute benchmarks, and deploy on Railway.</a:t>
            </a:r>
            <a:endParaRPr lang="en-US" sz="1350" dirty="0"/>
          </a:p>
        </p:txBody>
      </p:sp>
      <p:sp>
        <p:nvSpPr>
          <p:cNvPr id="25" name="Shape 19"/>
          <p:cNvSpPr/>
          <p:nvPr/>
        </p:nvSpPr>
        <p:spPr>
          <a:xfrm>
            <a:off x="530225" y="5981065"/>
            <a:ext cx="10607040" cy="361315"/>
          </a:xfrm>
          <a:prstGeom prst="roundRect">
            <a:avLst>
              <a:gd name="adj" fmla="val 15385"/>
            </a:avLst>
          </a:prstGeom>
          <a:solidFill>
            <a:srgbClr val="FFFFFF"/>
          </a:solidFill>
          <a:ln w="12700">
            <a:solidFill>
              <a:srgbClr val="156D4F"/>
            </a:solidFill>
            <a:prstDash val="solid"/>
          </a:ln>
        </p:spPr>
      </p:sp>
      <p:pic>
        <p:nvPicPr>
          <p:cNvPr id="26" name="Image 4" descr="./icons/star_dark.png"/>
          <p:cNvPicPr>
            <a:picLocks noChangeAspect="1"/>
          </p:cNvPicPr>
          <p:nvPr/>
        </p:nvPicPr>
        <p:blipFill>
          <a:blip r:embed="rId5"/>
          <a:stretch>
            <a:fillRect/>
          </a:stretch>
        </p:blipFill>
        <p:spPr>
          <a:xfrm>
            <a:off x="749935" y="5975477"/>
            <a:ext cx="347472" cy="347472"/>
          </a:xfrm>
          <a:prstGeom prst="rect">
            <a:avLst/>
          </a:prstGeom>
        </p:spPr>
      </p:pic>
      <p:sp>
        <p:nvSpPr>
          <p:cNvPr id="27" name="Text 20"/>
          <p:cNvSpPr/>
          <p:nvPr/>
        </p:nvSpPr>
        <p:spPr>
          <a:xfrm>
            <a:off x="1188720" y="5843905"/>
            <a:ext cx="9784080" cy="594360"/>
          </a:xfrm>
          <a:prstGeom prst="rect">
            <a:avLst/>
          </a:prstGeom>
          <a:noFill/>
        </p:spPr>
        <p:txBody>
          <a:bodyPr wrap="square" lIns="0" tIns="0" rIns="0" bIns="0" rtlCol="0" anchor="ctr"/>
          <a:lstStyle/>
          <a:p>
            <a:pPr marL="0" indent="0">
              <a:buNone/>
            </a:pPr>
            <a:r>
              <a:rPr lang="en-US" sz="1100" i="1" dirty="0">
                <a:solidFill>
                  <a:srgbClr val="156D4F"/>
                </a:solidFill>
                <a:latin typeface="Segoe UI" panose="020B0502040204020203" pitchFamily="34" charset="0"/>
                <a:ea typeface="Segoe UI" panose="020B0502040204020203" pitchFamily="34" charset="-122"/>
                <a:cs typeface="Segoe UI" panose="020B0502040204020203" pitchFamily="34" charset="-120"/>
              </a:rPr>
              <a:t>Expected Outcomes: An operational dashboard and backend brokering sustainability logs, forecasts, and AI recommendations.</a:t>
            </a:r>
            <a:endParaRPr lang="en-US" sz="1100" dirty="0"/>
          </a:p>
        </p:txBody>
      </p:sp>
      <p:sp>
        <p:nvSpPr>
          <p:cNvPr id="28" name="Shape 21"/>
          <p:cNvSpPr/>
          <p:nvPr/>
        </p:nvSpPr>
        <p:spPr>
          <a:xfrm>
            <a:off x="530352" y="6364224"/>
            <a:ext cx="237744" cy="237744"/>
          </a:xfrm>
          <a:prstGeom prst="ellipse">
            <a:avLst/>
          </a:prstGeom>
          <a:solidFill>
            <a:srgbClr val="156D4F"/>
          </a:solidFill>
        </p:spPr>
      </p:sp>
      <p:pic>
        <p:nvPicPr>
          <p:cNvPr id="29" name="Image 5" descr="./icons/arrow_left_white.png">
            <a:hlinkClick r:id="rId6" action="ppaction://hlinksldjump"/>
          </p:cNvPr>
          <p:cNvPicPr>
            <a:picLocks noChangeAspect="1"/>
          </p:cNvPicPr>
          <p:nvPr/>
        </p:nvPicPr>
        <p:blipFill>
          <a:blip r:embed="rId7"/>
          <a:stretch>
            <a:fillRect/>
          </a:stretch>
        </p:blipFill>
        <p:spPr>
          <a:xfrm>
            <a:off x="548640" y="6382512"/>
            <a:ext cx="201168" cy="201168"/>
          </a:xfrm>
          <a:prstGeom prst="rect">
            <a:avLst/>
          </a:prstGeom>
        </p:spPr>
      </p:pic>
      <p:sp>
        <p:nvSpPr>
          <p:cNvPr id="30" name="Shape 22">
            <a:hlinkClick r:id="rId6" action="ppaction://hlinksldjump"/>
          </p:cNvPr>
          <p:cNvSpPr/>
          <p:nvPr/>
        </p:nvSpPr>
        <p:spPr>
          <a:xfrm>
            <a:off x="530352" y="6355080"/>
            <a:ext cx="2377440" cy="365760"/>
          </a:xfrm>
          <a:prstGeom prst="rect">
            <a:avLst/>
          </a:prstGeom>
          <a:solidFill>
            <a:srgbClr val="364327">
              <a:alpha val="0"/>
            </a:srgbClr>
          </a:solidFill>
        </p:spPr>
      </p:sp>
      <p:sp>
        <p:nvSpPr>
          <p:cNvPr id="31" name="Text 23">
            <a:hlinkClick r:id="rId6" action="ppaction://hlinksldjump"/>
          </p:cNvPr>
          <p:cNvSpPr/>
          <p:nvPr/>
        </p:nvSpPr>
        <p:spPr>
          <a:xfrm>
            <a:off x="841248" y="6355080"/>
            <a:ext cx="2377440" cy="365760"/>
          </a:xfrm>
          <a:prstGeom prst="rect">
            <a:avLst/>
          </a:prstGeom>
          <a:noFill/>
        </p:spPr>
        <p:txBody>
          <a:bodyPr wrap="square" lIns="0" tIns="0" rIns="0" bIns="0" rtlCol="0" anchor="ctr"/>
          <a:lstStyle/>
          <a:p>
            <a:pPr marL="0" indent="0">
              <a:buNone/>
            </a:pPr>
            <a:r>
              <a:rPr lang="en-US" sz="1100" b="1" u="sng" dirty="0">
                <a:solidFill>
                  <a:srgbClr val="156D4F"/>
                </a:solidFill>
                <a:latin typeface="Segoe UI" panose="020B0502040204020203" pitchFamily="34" charset="0"/>
                <a:ea typeface="Segoe UI" panose="020B0502040204020203" pitchFamily="34" charset="-122"/>
                <a:cs typeface="Segoe UI" panose="020B0502040204020203" pitchFamily="34" charset="-120"/>
                <a:hlinkClick r:id="rId6" action="ppaction://hlinksldjump"/>
              </a:rPr>
              <a:t>BACK TO REVIEW BOARD</a:t>
            </a:r>
            <a:endParaRPr lang="en-US" sz="1100" dirty="0"/>
          </a:p>
        </p:txBody>
      </p:sp>
      <p:sp>
        <p:nvSpPr>
          <p:cNvPr id="32" name="Text 24"/>
          <p:cNvSpPr/>
          <p:nvPr/>
        </p:nvSpPr>
        <p:spPr>
          <a:xfrm>
            <a:off x="8595360" y="6382512"/>
            <a:ext cx="3017520" cy="274320"/>
          </a:xfrm>
          <a:prstGeom prst="rect">
            <a:avLst/>
          </a:prstGeom>
          <a:noFill/>
        </p:spPr>
        <p:txBody>
          <a:bodyPr wrap="square" lIns="0" tIns="0" rIns="0" bIns="0" rtlCol="0" anchor="ctr"/>
          <a:lstStyle/>
          <a:p>
            <a:pPr marL="0" indent="0" algn="r">
              <a:buNone/>
            </a:pPr>
            <a:r>
              <a:rPr lang="en-US" sz="1000" dirty="0">
                <a:solidFill>
                  <a:srgbClr val="364327"/>
                </a:solidFill>
                <a:latin typeface="Segoe UI" panose="020B0502040204020203" pitchFamily="34" charset="0"/>
                <a:ea typeface="Segoe UI" panose="020B0502040204020203" pitchFamily="34" charset="-122"/>
                <a:cs typeface="Segoe UI" panose="020B0502040204020203" pitchFamily="34" charset="-120"/>
              </a:rPr>
              <a:t>EcoSphere · Implementation Plan</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C7C396"/>
        </a:solidFill>
        <a:effectLst/>
      </p:bgPr>
    </p:bg>
    <p:spTree>
      <p:nvGrpSpPr>
        <p:cNvPr id="1" name=""/>
        <p:cNvGrpSpPr/>
        <p:nvPr/>
      </p:nvGrpSpPr>
      <p:grpSpPr>
        <a:xfrm>
          <a:off x="0" y="0"/>
          <a:ext cx="0" cy="0"/>
          <a:chOff x="0" y="0"/>
          <a:chExt cx="0" cy="0"/>
        </a:xfrm>
      </p:grpSpPr>
      <p:sp>
        <p:nvSpPr>
          <p:cNvPr id="2" name="Text 0"/>
          <p:cNvSpPr/>
          <p:nvPr/>
        </p:nvSpPr>
        <p:spPr>
          <a:xfrm>
            <a:off x="548640" y="384048"/>
            <a:ext cx="8229600" cy="274320"/>
          </a:xfrm>
          <a:prstGeom prst="rect">
            <a:avLst/>
          </a:prstGeom>
          <a:noFill/>
        </p:spPr>
        <p:txBody>
          <a:bodyPr wrap="square" lIns="0" tIns="0" rIns="0" bIns="0" rtlCol="0" anchor="ctr"/>
          <a:lstStyle/>
          <a:p>
            <a:pPr marL="0" indent="0">
              <a:buNone/>
            </a:pPr>
            <a:r>
              <a:rPr lang="en-US" sz="1200" b="1" kern="0" spc="200" dirty="0">
                <a:solidFill>
                  <a:srgbClr val="156D4F"/>
                </a:solidFill>
                <a:latin typeface="Segoe UI" panose="020B0502040204020203" pitchFamily="34" charset="0"/>
                <a:ea typeface="Segoe UI" panose="020B0502040204020203" pitchFamily="34" charset="-122"/>
                <a:cs typeface="Segoe UI" panose="020B0502040204020203" pitchFamily="34" charset="-120"/>
              </a:rPr>
              <a:t>SECTION 08 · R&amp;D HIGHLIGHTS</a:t>
            </a:r>
            <a:endParaRPr lang="en-US" sz="1200" dirty="0"/>
          </a:p>
        </p:txBody>
      </p:sp>
      <p:sp>
        <p:nvSpPr>
          <p:cNvPr id="3" name="Text 1"/>
          <p:cNvSpPr/>
          <p:nvPr/>
        </p:nvSpPr>
        <p:spPr>
          <a:xfrm>
            <a:off x="548640" y="640080"/>
            <a:ext cx="9601200" cy="640080"/>
          </a:xfrm>
          <a:prstGeom prst="rect">
            <a:avLst/>
          </a:prstGeom>
          <a:noFill/>
        </p:spPr>
        <p:txBody>
          <a:bodyPr wrap="square" lIns="0" tIns="0" rIns="0" bIns="0" rtlCol="0" anchor="ctr"/>
          <a:lstStyle/>
          <a:p>
            <a:pPr marL="0" indent="0">
              <a:buNone/>
            </a:pPr>
            <a:r>
              <a:rPr lang="en-US" sz="2800" b="1" dirty="0">
                <a:solidFill>
                  <a:srgbClr val="156D4F"/>
                </a:solidFill>
                <a:latin typeface="Georgia" panose="02040502050405020303" pitchFamily="34" charset="0"/>
                <a:ea typeface="Georgia" panose="02040502050405020303" pitchFamily="34" charset="-122"/>
                <a:cs typeface="Georgia" panose="02040502050405020303" pitchFamily="34" charset="-120"/>
              </a:rPr>
              <a:t>Novelty &amp; Expected Outcomes</a:t>
            </a:r>
            <a:endParaRPr lang="en-US" sz="2800" dirty="0"/>
          </a:p>
        </p:txBody>
      </p:sp>
      <p:sp>
        <p:nvSpPr>
          <p:cNvPr id="4" name="Text 2"/>
          <p:cNvSpPr/>
          <p:nvPr/>
        </p:nvSpPr>
        <p:spPr>
          <a:xfrm>
            <a:off x="548640" y="1371600"/>
            <a:ext cx="10607040" cy="320040"/>
          </a:xfrm>
          <a:prstGeom prst="rect">
            <a:avLst/>
          </a:prstGeom>
          <a:noFill/>
        </p:spPr>
        <p:txBody>
          <a:bodyPr wrap="square" lIns="0" tIns="0" rIns="0" bIns="0" rtlCol="0" anchor="ctr"/>
          <a:lstStyle/>
          <a:p>
            <a:pPr marL="0" indent="0" algn="just">
              <a:buNone/>
            </a:pPr>
            <a:r>
              <a:rPr lang="en-US" sz="1250" dirty="0">
                <a:solidFill>
                  <a:srgbClr val="156D4F"/>
                </a:solidFill>
                <a:latin typeface="Segoe UI" panose="020B0502040204020203" pitchFamily="34" charset="0"/>
                <a:ea typeface="Segoe UI" panose="020B0502040204020203" pitchFamily="34" charset="-122"/>
                <a:cs typeface="Segoe UI" panose="020B0502040204020203" pitchFamily="34" charset="-120"/>
              </a:rPr>
              <a:t>Positioning EcoSphere as an intelligent environmental decision support framework rather than a basic carbon log.</a:t>
            </a:r>
            <a:endParaRPr lang="en-US" sz="1250" dirty="0"/>
          </a:p>
        </p:txBody>
      </p:sp>
      <p:sp>
        <p:nvSpPr>
          <p:cNvPr id="5" name="Shape 3"/>
          <p:cNvSpPr/>
          <p:nvPr/>
        </p:nvSpPr>
        <p:spPr>
          <a:xfrm>
            <a:off x="548640" y="1737360"/>
            <a:ext cx="5212080" cy="4297680"/>
          </a:xfrm>
          <a:prstGeom prst="roundRect">
            <a:avLst>
              <a:gd name="adj" fmla="val 2128"/>
            </a:avLst>
          </a:prstGeom>
          <a:solidFill>
            <a:srgbClr val="FFFFFF"/>
          </a:solidFill>
          <a:effectLst>
            <a:outerShdw blurRad="76200" dist="25400" dir="2700000" algn="bl" rotWithShape="0">
              <a:srgbClr val="000000">
                <a:alpha val="8000"/>
              </a:srgbClr>
            </a:outerShdw>
          </a:effectLst>
        </p:spPr>
      </p:sp>
      <p:sp>
        <p:nvSpPr>
          <p:cNvPr id="6" name="Shape 4"/>
          <p:cNvSpPr/>
          <p:nvPr/>
        </p:nvSpPr>
        <p:spPr>
          <a:xfrm>
            <a:off x="777240" y="1938528"/>
            <a:ext cx="502920" cy="502920"/>
          </a:xfrm>
          <a:prstGeom prst="ellipse">
            <a:avLst/>
          </a:prstGeom>
          <a:solidFill>
            <a:srgbClr val="C7C396"/>
          </a:solidFill>
          <a:effectLst>
            <a:outerShdw blurRad="76200" dist="25400" dir="2700000" algn="bl" rotWithShape="0">
              <a:srgbClr val="000000">
                <a:alpha val="8000"/>
              </a:srgbClr>
            </a:outerShdw>
          </a:effectLst>
        </p:spPr>
      </p:sp>
      <p:pic>
        <p:nvPicPr>
          <p:cNvPr id="7" name="Image 0" descr="./icons/brain_dark.png"/>
          <p:cNvPicPr>
            <a:picLocks noChangeAspect="1"/>
          </p:cNvPicPr>
          <p:nvPr/>
        </p:nvPicPr>
        <p:blipFill>
          <a:blip r:embed="rId1"/>
          <a:stretch>
            <a:fillRect/>
          </a:stretch>
        </p:blipFill>
        <p:spPr>
          <a:xfrm>
            <a:off x="907999" y="2069287"/>
            <a:ext cx="241402" cy="241402"/>
          </a:xfrm>
          <a:prstGeom prst="rect">
            <a:avLst/>
          </a:prstGeom>
        </p:spPr>
      </p:pic>
      <p:sp>
        <p:nvSpPr>
          <p:cNvPr id="8" name="Text 5"/>
          <p:cNvSpPr/>
          <p:nvPr/>
        </p:nvSpPr>
        <p:spPr>
          <a:xfrm>
            <a:off x="1371600" y="1901952"/>
            <a:ext cx="4206240" cy="548640"/>
          </a:xfrm>
          <a:prstGeom prst="rect">
            <a:avLst/>
          </a:prstGeom>
          <a:noFill/>
        </p:spPr>
        <p:txBody>
          <a:bodyPr wrap="square" lIns="0" tIns="0" rIns="0" bIns="0" rtlCol="0" anchor="ctr"/>
          <a:lstStyle/>
          <a:p>
            <a:pPr marL="0" indent="0">
              <a:buNone/>
            </a:pPr>
            <a:r>
              <a:rPr lang="en-US" sz="1750" b="1" dirty="0">
                <a:solidFill>
                  <a:srgbClr val="156D4F"/>
                </a:solidFill>
                <a:latin typeface="Segoe UI" panose="020B0502040204020203" pitchFamily="34" charset="0"/>
                <a:ea typeface="Segoe UI" panose="020B0502040204020203" pitchFamily="34" charset="-122"/>
                <a:cs typeface="Segoe UI" panose="020B0502040204020203" pitchFamily="34" charset="-120"/>
              </a:rPr>
              <a:t>R&amp;D Novelty &amp; Scientific Value</a:t>
            </a:r>
            <a:endParaRPr lang="en-US" sz="1750" dirty="0"/>
          </a:p>
        </p:txBody>
      </p:sp>
      <p:pic>
        <p:nvPicPr>
          <p:cNvPr id="9" name="Image 1" descr="./icons/check_dark.png"/>
          <p:cNvPicPr>
            <a:picLocks noChangeAspect="1"/>
          </p:cNvPicPr>
          <p:nvPr/>
        </p:nvPicPr>
        <p:blipFill>
          <a:blip r:embed="rId2"/>
          <a:stretch>
            <a:fillRect/>
          </a:stretch>
        </p:blipFill>
        <p:spPr>
          <a:xfrm>
            <a:off x="777240" y="2642616"/>
            <a:ext cx="164592" cy="164592"/>
          </a:xfrm>
          <a:prstGeom prst="rect">
            <a:avLst/>
          </a:prstGeom>
        </p:spPr>
      </p:pic>
      <p:sp>
        <p:nvSpPr>
          <p:cNvPr id="10" name="Text 6"/>
          <p:cNvSpPr/>
          <p:nvPr/>
        </p:nvSpPr>
        <p:spPr>
          <a:xfrm>
            <a:off x="1051560" y="2606040"/>
            <a:ext cx="4526280" cy="548640"/>
          </a:xfrm>
          <a:prstGeom prst="rect">
            <a:avLst/>
          </a:prstGeom>
          <a:noFill/>
        </p:spPr>
        <p:txBody>
          <a:bodyPr wrap="square" lIns="0" tIns="0" rIns="0" bIns="0" rtlCol="0" anchor="ctr"/>
          <a:lstStyle/>
          <a:p>
            <a:pPr marL="0" indent="0" algn="just">
              <a:lnSpc>
                <a:spcPct val="120000"/>
              </a:lnSpc>
              <a:buNone/>
            </a:pPr>
            <a:r>
              <a:rPr lang="en-US" sz="1250" dirty="0">
                <a:solidFill>
                  <a:srgbClr val="364327"/>
                </a:solidFill>
                <a:latin typeface="Segoe UI" panose="020B0502040204020203" pitchFamily="34" charset="0"/>
                <a:ea typeface="Segoe UI" panose="020B0502040204020203" pitchFamily="34" charset="-122"/>
                <a:cs typeface="Segoe UI" panose="020B0502040204020203" pitchFamily="34" charset="-120"/>
              </a:rPr>
              <a:t>Predictive Optimization: Balances resource tradeoffs using Google OR-Tools constraint solvers.</a:t>
            </a:r>
            <a:endParaRPr lang="en-US" sz="1250" dirty="0"/>
          </a:p>
        </p:txBody>
      </p:sp>
      <p:pic>
        <p:nvPicPr>
          <p:cNvPr id="11" name="Image 2" descr="./icons/check_dark.png"/>
          <p:cNvPicPr>
            <a:picLocks noChangeAspect="1"/>
          </p:cNvPicPr>
          <p:nvPr/>
        </p:nvPicPr>
        <p:blipFill>
          <a:blip r:embed="rId2"/>
          <a:stretch>
            <a:fillRect/>
          </a:stretch>
        </p:blipFill>
        <p:spPr>
          <a:xfrm>
            <a:off x="777240" y="3282696"/>
            <a:ext cx="164592" cy="164592"/>
          </a:xfrm>
          <a:prstGeom prst="rect">
            <a:avLst/>
          </a:prstGeom>
        </p:spPr>
      </p:pic>
      <p:sp>
        <p:nvSpPr>
          <p:cNvPr id="12" name="Text 7"/>
          <p:cNvSpPr/>
          <p:nvPr/>
        </p:nvSpPr>
        <p:spPr>
          <a:xfrm>
            <a:off x="1051560" y="3246120"/>
            <a:ext cx="4526280" cy="548640"/>
          </a:xfrm>
          <a:prstGeom prst="rect">
            <a:avLst/>
          </a:prstGeom>
          <a:noFill/>
        </p:spPr>
        <p:txBody>
          <a:bodyPr wrap="square" lIns="0" tIns="0" rIns="0" bIns="0" rtlCol="0" anchor="ctr"/>
          <a:lstStyle/>
          <a:p>
            <a:pPr marL="0" indent="0" algn="just">
              <a:lnSpc>
                <a:spcPct val="120000"/>
              </a:lnSpc>
              <a:buNone/>
            </a:pPr>
            <a:r>
              <a:rPr lang="en-US" sz="1250" dirty="0">
                <a:solidFill>
                  <a:srgbClr val="364327"/>
                </a:solidFill>
                <a:latin typeface="Segoe UI" panose="020B0502040204020203" pitchFamily="34" charset="0"/>
                <a:ea typeface="Segoe UI" panose="020B0502040204020203" pitchFamily="34" charset="-122"/>
                <a:cs typeface="Segoe UI" panose="020B0502040204020203" pitchFamily="34" charset="-120"/>
              </a:rPr>
              <a:t>Adaptive Interventions: Learns from user reaction metrics to refine recommendation loops.</a:t>
            </a:r>
            <a:endParaRPr lang="en-US" sz="1250" dirty="0"/>
          </a:p>
        </p:txBody>
      </p:sp>
      <p:pic>
        <p:nvPicPr>
          <p:cNvPr id="13" name="Image 3" descr="./icons/check_dark.png"/>
          <p:cNvPicPr>
            <a:picLocks noChangeAspect="1"/>
          </p:cNvPicPr>
          <p:nvPr/>
        </p:nvPicPr>
        <p:blipFill>
          <a:blip r:embed="rId2"/>
          <a:stretch>
            <a:fillRect/>
          </a:stretch>
        </p:blipFill>
        <p:spPr>
          <a:xfrm>
            <a:off x="777240" y="3922776"/>
            <a:ext cx="164592" cy="164592"/>
          </a:xfrm>
          <a:prstGeom prst="rect">
            <a:avLst/>
          </a:prstGeom>
        </p:spPr>
      </p:pic>
      <p:sp>
        <p:nvSpPr>
          <p:cNvPr id="14" name="Text 8"/>
          <p:cNvSpPr/>
          <p:nvPr/>
        </p:nvSpPr>
        <p:spPr>
          <a:xfrm>
            <a:off x="1051560" y="3886200"/>
            <a:ext cx="4526280" cy="548640"/>
          </a:xfrm>
          <a:prstGeom prst="rect">
            <a:avLst/>
          </a:prstGeom>
          <a:noFill/>
        </p:spPr>
        <p:txBody>
          <a:bodyPr wrap="square" lIns="0" tIns="0" rIns="0" bIns="0" rtlCol="0" anchor="ctr"/>
          <a:lstStyle/>
          <a:p>
            <a:pPr marL="0" indent="0" algn="just">
              <a:lnSpc>
                <a:spcPct val="120000"/>
              </a:lnSpc>
              <a:buNone/>
            </a:pPr>
            <a:r>
              <a:rPr lang="en-US" sz="1250" dirty="0">
                <a:solidFill>
                  <a:srgbClr val="364327"/>
                </a:solidFill>
                <a:latin typeface="Segoe UI" panose="020B0502040204020203" pitchFamily="34" charset="0"/>
                <a:ea typeface="Segoe UI" panose="020B0502040204020203" pitchFamily="34" charset="-122"/>
                <a:cs typeface="Segoe UI" panose="020B0502040204020203" pitchFamily="34" charset="-120"/>
              </a:rPr>
              <a:t>Explainable Intelligence: Translates regression forecasts and scores into direct text summaries.</a:t>
            </a:r>
            <a:endParaRPr lang="en-US" sz="1250" dirty="0"/>
          </a:p>
        </p:txBody>
      </p:sp>
      <p:pic>
        <p:nvPicPr>
          <p:cNvPr id="15" name="Image 4" descr="./icons/check_dark.png"/>
          <p:cNvPicPr>
            <a:picLocks noChangeAspect="1"/>
          </p:cNvPicPr>
          <p:nvPr/>
        </p:nvPicPr>
        <p:blipFill>
          <a:blip r:embed="rId2"/>
          <a:stretch>
            <a:fillRect/>
          </a:stretch>
        </p:blipFill>
        <p:spPr>
          <a:xfrm>
            <a:off x="777240" y="4562856"/>
            <a:ext cx="164592" cy="164592"/>
          </a:xfrm>
          <a:prstGeom prst="rect">
            <a:avLst/>
          </a:prstGeom>
        </p:spPr>
      </p:pic>
      <p:sp>
        <p:nvSpPr>
          <p:cNvPr id="16" name="Text 9"/>
          <p:cNvSpPr/>
          <p:nvPr/>
        </p:nvSpPr>
        <p:spPr>
          <a:xfrm>
            <a:off x="1051560" y="4526280"/>
            <a:ext cx="4526280" cy="548640"/>
          </a:xfrm>
          <a:prstGeom prst="rect">
            <a:avLst/>
          </a:prstGeom>
          <a:noFill/>
        </p:spPr>
        <p:txBody>
          <a:bodyPr wrap="square" lIns="0" tIns="0" rIns="0" bIns="0" rtlCol="0" anchor="ctr"/>
          <a:lstStyle/>
          <a:p>
            <a:pPr marL="0" indent="0" algn="just">
              <a:lnSpc>
                <a:spcPct val="120000"/>
              </a:lnSpc>
              <a:buNone/>
            </a:pPr>
            <a:r>
              <a:rPr lang="en-US" sz="1250" dirty="0">
                <a:solidFill>
                  <a:srgbClr val="364327"/>
                </a:solidFill>
                <a:latin typeface="Segoe UI" panose="020B0502040204020203" pitchFamily="34" charset="0"/>
                <a:ea typeface="Segoe UI" panose="020B0502040204020203" pitchFamily="34" charset="-122"/>
                <a:cs typeface="Segoe UI" panose="020B0502040204020203" pitchFamily="34" charset="-120"/>
              </a:rPr>
              <a:t>Evidence Auditing: Verifies user green achievements using geocoding, photos, and QR codes.</a:t>
            </a:r>
            <a:endParaRPr lang="en-US" sz="1250" dirty="0"/>
          </a:p>
        </p:txBody>
      </p:sp>
      <p:pic>
        <p:nvPicPr>
          <p:cNvPr id="17" name="Image 5" descr="./icons/check_dark.png"/>
          <p:cNvPicPr>
            <a:picLocks noChangeAspect="1"/>
          </p:cNvPicPr>
          <p:nvPr/>
        </p:nvPicPr>
        <p:blipFill>
          <a:blip r:embed="rId2"/>
          <a:stretch>
            <a:fillRect/>
          </a:stretch>
        </p:blipFill>
        <p:spPr>
          <a:xfrm>
            <a:off x="777240" y="5202936"/>
            <a:ext cx="164592" cy="164592"/>
          </a:xfrm>
          <a:prstGeom prst="rect">
            <a:avLst/>
          </a:prstGeom>
        </p:spPr>
      </p:pic>
      <p:sp>
        <p:nvSpPr>
          <p:cNvPr id="18" name="Text 10"/>
          <p:cNvSpPr/>
          <p:nvPr/>
        </p:nvSpPr>
        <p:spPr>
          <a:xfrm>
            <a:off x="1051560" y="5166360"/>
            <a:ext cx="4526280" cy="548640"/>
          </a:xfrm>
          <a:prstGeom prst="rect">
            <a:avLst/>
          </a:prstGeom>
          <a:noFill/>
        </p:spPr>
        <p:txBody>
          <a:bodyPr wrap="square" lIns="0" tIns="0" rIns="0" bIns="0" rtlCol="0" anchor="ctr"/>
          <a:lstStyle/>
          <a:p>
            <a:pPr marL="0" indent="0" algn="just">
              <a:lnSpc>
                <a:spcPct val="120000"/>
              </a:lnSpc>
              <a:buNone/>
            </a:pPr>
            <a:r>
              <a:rPr lang="en-US" sz="1250" dirty="0">
                <a:solidFill>
                  <a:srgbClr val="364327"/>
                </a:solidFill>
                <a:latin typeface="Segoe UI" panose="020B0502040204020203" pitchFamily="34" charset="0"/>
                <a:ea typeface="Segoe UI" panose="020B0502040204020203" pitchFamily="34" charset="-122"/>
                <a:cs typeface="Segoe UI" panose="020B0502040204020203" pitchFamily="34" charset="-120"/>
              </a:rPr>
              <a:t>Institutional Analytics: Aggregates metrics to monitor college-wide environmental progress.</a:t>
            </a:r>
            <a:endParaRPr lang="en-US" sz="1250" dirty="0"/>
          </a:p>
        </p:txBody>
      </p:sp>
      <p:sp>
        <p:nvSpPr>
          <p:cNvPr id="19" name="Shape 11"/>
          <p:cNvSpPr/>
          <p:nvPr/>
        </p:nvSpPr>
        <p:spPr>
          <a:xfrm>
            <a:off x="5943600" y="1737360"/>
            <a:ext cx="5532120" cy="4297680"/>
          </a:xfrm>
          <a:prstGeom prst="roundRect">
            <a:avLst>
              <a:gd name="adj" fmla="val 2128"/>
            </a:avLst>
          </a:prstGeom>
          <a:solidFill>
            <a:srgbClr val="FFFFFF"/>
          </a:solidFill>
          <a:effectLst>
            <a:outerShdw blurRad="101600" dist="38100" dir="2700000" algn="bl" rotWithShape="0">
              <a:srgbClr val="000000">
                <a:alpha val="12000"/>
              </a:srgbClr>
            </a:outerShdw>
          </a:effectLst>
        </p:spPr>
      </p:sp>
      <p:sp>
        <p:nvSpPr>
          <p:cNvPr id="20" name="Shape 12"/>
          <p:cNvSpPr/>
          <p:nvPr/>
        </p:nvSpPr>
        <p:spPr>
          <a:xfrm>
            <a:off x="6172200" y="1938528"/>
            <a:ext cx="502920" cy="502920"/>
          </a:xfrm>
          <a:prstGeom prst="ellipse">
            <a:avLst/>
          </a:prstGeom>
          <a:solidFill>
            <a:srgbClr val="156D4F"/>
          </a:solidFill>
          <a:effectLst>
            <a:outerShdw blurRad="76200" dist="25400" dir="2700000" algn="bl" rotWithShape="0">
              <a:srgbClr val="000000">
                <a:alpha val="8000"/>
              </a:srgbClr>
            </a:outerShdw>
          </a:effectLst>
        </p:spPr>
      </p:sp>
      <p:pic>
        <p:nvPicPr>
          <p:cNvPr id="21" name="Image 6" descr="./icons/bolt_white.png"/>
          <p:cNvPicPr>
            <a:picLocks noChangeAspect="1"/>
          </p:cNvPicPr>
          <p:nvPr/>
        </p:nvPicPr>
        <p:blipFill>
          <a:blip r:embed="rId3"/>
          <a:stretch>
            <a:fillRect/>
          </a:stretch>
        </p:blipFill>
        <p:spPr>
          <a:xfrm>
            <a:off x="6302959" y="2069287"/>
            <a:ext cx="241402" cy="241402"/>
          </a:xfrm>
          <a:prstGeom prst="rect">
            <a:avLst/>
          </a:prstGeom>
        </p:spPr>
      </p:pic>
      <p:sp>
        <p:nvSpPr>
          <p:cNvPr id="22" name="Text 13"/>
          <p:cNvSpPr/>
          <p:nvPr/>
        </p:nvSpPr>
        <p:spPr>
          <a:xfrm>
            <a:off x="6766560" y="1901952"/>
            <a:ext cx="4480560" cy="365760"/>
          </a:xfrm>
          <a:prstGeom prst="rect">
            <a:avLst/>
          </a:prstGeom>
          <a:noFill/>
        </p:spPr>
        <p:txBody>
          <a:bodyPr wrap="square" lIns="0" tIns="0" rIns="0" bIns="0" rtlCol="0" anchor="ctr"/>
          <a:lstStyle/>
          <a:p>
            <a:pPr marL="0" indent="0">
              <a:buNone/>
            </a:pPr>
            <a:r>
              <a:rPr lang="en-US" sz="1750" b="1" dirty="0">
                <a:solidFill>
                  <a:srgbClr val="156D4F"/>
                </a:solidFill>
                <a:latin typeface="Segoe UI" panose="020B0502040204020203" pitchFamily="34" charset="0"/>
                <a:ea typeface="Segoe UI" panose="020B0502040204020203" pitchFamily="34" charset="-122"/>
                <a:cs typeface="Segoe UI" panose="020B0502040204020203" pitchFamily="34" charset="-120"/>
              </a:rPr>
              <a:t>Expected Deliverables &amp; Outcomes</a:t>
            </a:r>
            <a:endParaRPr lang="en-US" sz="1750" dirty="0"/>
          </a:p>
        </p:txBody>
      </p:sp>
      <p:sp>
        <p:nvSpPr>
          <p:cNvPr id="23" name="Text 14"/>
          <p:cNvSpPr/>
          <p:nvPr/>
        </p:nvSpPr>
        <p:spPr>
          <a:xfrm>
            <a:off x="6766560" y="2267712"/>
            <a:ext cx="4480560" cy="228600"/>
          </a:xfrm>
          <a:prstGeom prst="rect">
            <a:avLst/>
          </a:prstGeom>
          <a:noFill/>
        </p:spPr>
        <p:txBody>
          <a:bodyPr wrap="square" lIns="0" tIns="0" rIns="0" bIns="0" rtlCol="0" anchor="ctr"/>
          <a:lstStyle/>
          <a:p>
            <a:pPr marL="0" indent="0">
              <a:buNone/>
            </a:pPr>
            <a:r>
              <a:rPr lang="en-US" sz="1300" b="1" kern="0" spc="100" dirty="0">
                <a:solidFill>
                  <a:srgbClr val="57926E"/>
                </a:solidFill>
                <a:latin typeface="Segoe UI" panose="020B0502040204020203" pitchFamily="34" charset="0"/>
                <a:ea typeface="Segoe UI" panose="020B0502040204020203" pitchFamily="34" charset="-122"/>
                <a:cs typeface="Segoe UI" panose="020B0502040204020203" pitchFamily="34" charset="-120"/>
              </a:rPr>
              <a:t>KEY EVALUATION PARAMETERS</a:t>
            </a:r>
            <a:endParaRPr lang="en-US" sz="1300" dirty="0"/>
          </a:p>
        </p:txBody>
      </p:sp>
      <p:pic>
        <p:nvPicPr>
          <p:cNvPr id="24" name="Image 7" descr="./icons/check_dark.png"/>
          <p:cNvPicPr>
            <a:picLocks noChangeAspect="1"/>
          </p:cNvPicPr>
          <p:nvPr/>
        </p:nvPicPr>
        <p:blipFill>
          <a:blip r:embed="rId2"/>
          <a:stretch>
            <a:fillRect/>
          </a:stretch>
        </p:blipFill>
        <p:spPr>
          <a:xfrm>
            <a:off x="6172200" y="2770632"/>
            <a:ext cx="164592" cy="164592"/>
          </a:xfrm>
          <a:prstGeom prst="rect">
            <a:avLst/>
          </a:prstGeom>
        </p:spPr>
      </p:pic>
      <p:sp>
        <p:nvSpPr>
          <p:cNvPr id="25" name="Text 15"/>
          <p:cNvSpPr/>
          <p:nvPr/>
        </p:nvSpPr>
        <p:spPr>
          <a:xfrm>
            <a:off x="6446520" y="2743200"/>
            <a:ext cx="4846320" cy="502920"/>
          </a:xfrm>
          <a:prstGeom prst="rect">
            <a:avLst/>
          </a:prstGeom>
          <a:noFill/>
        </p:spPr>
        <p:txBody>
          <a:bodyPr wrap="square" lIns="0" tIns="0" rIns="0" bIns="0" rtlCol="0" anchor="ctr"/>
          <a:lstStyle/>
          <a:p>
            <a:pPr marL="0" indent="0" algn="just">
              <a:lnSpc>
                <a:spcPct val="118000"/>
              </a:lnSpc>
              <a:buNone/>
            </a:pPr>
            <a:r>
              <a:rPr lang="en-US" sz="1200" dirty="0">
                <a:solidFill>
                  <a:srgbClr val="364327"/>
                </a:solidFill>
                <a:latin typeface="Segoe UI" panose="020B0502040204020203" pitchFamily="34" charset="0"/>
                <a:ea typeface="Segoe UI" panose="020B0502040204020203" pitchFamily="34" charset="-122"/>
                <a:cs typeface="Segoe UI" panose="020B0502040204020203" pitchFamily="34" charset="-120"/>
              </a:rPr>
              <a:t>Web Codebase: React frontend client paired with Material UI and ECharts dashboards.</a:t>
            </a:r>
            <a:endParaRPr lang="en-US" sz="1200" dirty="0"/>
          </a:p>
        </p:txBody>
      </p:sp>
      <p:pic>
        <p:nvPicPr>
          <p:cNvPr id="26" name="Image 8" descr="./icons/check_dark.png"/>
          <p:cNvPicPr>
            <a:picLocks noChangeAspect="1"/>
          </p:cNvPicPr>
          <p:nvPr/>
        </p:nvPicPr>
        <p:blipFill>
          <a:blip r:embed="rId2"/>
          <a:stretch>
            <a:fillRect/>
          </a:stretch>
        </p:blipFill>
        <p:spPr>
          <a:xfrm>
            <a:off x="6172200" y="3282696"/>
            <a:ext cx="164592" cy="164592"/>
          </a:xfrm>
          <a:prstGeom prst="rect">
            <a:avLst/>
          </a:prstGeom>
        </p:spPr>
      </p:pic>
      <p:sp>
        <p:nvSpPr>
          <p:cNvPr id="27" name="Text 16"/>
          <p:cNvSpPr/>
          <p:nvPr/>
        </p:nvSpPr>
        <p:spPr>
          <a:xfrm>
            <a:off x="6446520" y="3255264"/>
            <a:ext cx="4846320" cy="502920"/>
          </a:xfrm>
          <a:prstGeom prst="rect">
            <a:avLst/>
          </a:prstGeom>
          <a:noFill/>
        </p:spPr>
        <p:txBody>
          <a:bodyPr wrap="square" lIns="0" tIns="0" rIns="0" bIns="0" rtlCol="0" anchor="ctr"/>
          <a:lstStyle/>
          <a:p>
            <a:pPr marL="0" indent="0" algn="just">
              <a:lnSpc>
                <a:spcPct val="118000"/>
              </a:lnSpc>
              <a:buNone/>
            </a:pPr>
            <a:r>
              <a:rPr lang="en-US" sz="1200" dirty="0">
                <a:solidFill>
                  <a:srgbClr val="364327"/>
                </a:solidFill>
                <a:latin typeface="Segoe UI" panose="020B0502040204020203" pitchFamily="34" charset="0"/>
                <a:ea typeface="Segoe UI" panose="020B0502040204020203" pitchFamily="34" charset="-122"/>
                <a:cs typeface="Segoe UI" panose="020B0502040204020203" pitchFamily="34" charset="-120"/>
              </a:rPr>
              <a:t>Backend Gateways: Spring Boot 3 handling database transactions, security, and schedulers.</a:t>
            </a:r>
            <a:endParaRPr lang="en-US" sz="1200" dirty="0"/>
          </a:p>
        </p:txBody>
      </p:sp>
      <p:pic>
        <p:nvPicPr>
          <p:cNvPr id="28" name="Image 9" descr="./icons/check_dark.png"/>
          <p:cNvPicPr>
            <a:picLocks noChangeAspect="1"/>
          </p:cNvPicPr>
          <p:nvPr/>
        </p:nvPicPr>
        <p:blipFill>
          <a:blip r:embed="rId2"/>
          <a:stretch>
            <a:fillRect/>
          </a:stretch>
        </p:blipFill>
        <p:spPr>
          <a:xfrm>
            <a:off x="6172200" y="3794760"/>
            <a:ext cx="164592" cy="164592"/>
          </a:xfrm>
          <a:prstGeom prst="rect">
            <a:avLst/>
          </a:prstGeom>
        </p:spPr>
      </p:pic>
      <p:sp>
        <p:nvSpPr>
          <p:cNvPr id="29" name="Text 17"/>
          <p:cNvSpPr/>
          <p:nvPr/>
        </p:nvSpPr>
        <p:spPr>
          <a:xfrm>
            <a:off x="6446520" y="3767328"/>
            <a:ext cx="4846320" cy="502920"/>
          </a:xfrm>
          <a:prstGeom prst="rect">
            <a:avLst/>
          </a:prstGeom>
          <a:noFill/>
        </p:spPr>
        <p:txBody>
          <a:bodyPr wrap="square" lIns="0" tIns="0" rIns="0" bIns="0" rtlCol="0" anchor="ctr"/>
          <a:lstStyle/>
          <a:p>
            <a:pPr marL="0" indent="0" algn="just">
              <a:lnSpc>
                <a:spcPct val="118000"/>
              </a:lnSpc>
              <a:buNone/>
            </a:pPr>
            <a:r>
              <a:rPr lang="en-US" sz="1200" dirty="0">
                <a:solidFill>
                  <a:srgbClr val="364327"/>
                </a:solidFill>
                <a:latin typeface="Segoe UI" panose="020B0502040204020203" pitchFamily="34" charset="0"/>
                <a:ea typeface="Segoe UI" panose="020B0502040204020203" pitchFamily="34" charset="-122"/>
                <a:cs typeface="Segoe UI" panose="020B0502040204020203" pitchFamily="34" charset="-120"/>
              </a:rPr>
              <a:t>ML Container: Python FastAPI service managing XGBoost and scikit-learn forecasts.</a:t>
            </a:r>
            <a:endParaRPr lang="en-US" sz="1200" dirty="0"/>
          </a:p>
        </p:txBody>
      </p:sp>
      <p:pic>
        <p:nvPicPr>
          <p:cNvPr id="30" name="Image 10" descr="./icons/check_dark.png"/>
          <p:cNvPicPr>
            <a:picLocks noChangeAspect="1"/>
          </p:cNvPicPr>
          <p:nvPr/>
        </p:nvPicPr>
        <p:blipFill>
          <a:blip r:embed="rId2"/>
          <a:stretch>
            <a:fillRect/>
          </a:stretch>
        </p:blipFill>
        <p:spPr>
          <a:xfrm>
            <a:off x="6172200" y="4306824"/>
            <a:ext cx="164592" cy="164592"/>
          </a:xfrm>
          <a:prstGeom prst="rect">
            <a:avLst/>
          </a:prstGeom>
        </p:spPr>
      </p:pic>
      <p:sp>
        <p:nvSpPr>
          <p:cNvPr id="31" name="Text 18"/>
          <p:cNvSpPr/>
          <p:nvPr/>
        </p:nvSpPr>
        <p:spPr>
          <a:xfrm>
            <a:off x="6446520" y="4279392"/>
            <a:ext cx="4846320" cy="502920"/>
          </a:xfrm>
          <a:prstGeom prst="rect">
            <a:avLst/>
          </a:prstGeom>
          <a:noFill/>
        </p:spPr>
        <p:txBody>
          <a:bodyPr wrap="square" lIns="0" tIns="0" rIns="0" bIns="0" rtlCol="0" anchor="ctr"/>
          <a:lstStyle/>
          <a:p>
            <a:pPr marL="0" indent="0" algn="just">
              <a:lnSpc>
                <a:spcPct val="118000"/>
              </a:lnSpc>
              <a:buNone/>
            </a:pPr>
            <a:r>
              <a:rPr lang="en-US" sz="1200" dirty="0">
                <a:solidFill>
                  <a:srgbClr val="364327"/>
                </a:solidFill>
                <a:latin typeface="Segoe UI" panose="020B0502040204020203" pitchFamily="34" charset="0"/>
                <a:ea typeface="Segoe UI" panose="020B0502040204020203" pitchFamily="34" charset="-122"/>
                <a:cs typeface="Segoe UI" panose="020B0502040204020203" pitchFamily="34" charset="-120"/>
              </a:rPr>
              <a:t>Optimization Modules: Google OR-Tools script solving resource budget allocation models.</a:t>
            </a:r>
            <a:endParaRPr lang="en-US" sz="1200" dirty="0"/>
          </a:p>
        </p:txBody>
      </p:sp>
      <p:pic>
        <p:nvPicPr>
          <p:cNvPr id="32" name="Image 11" descr="./icons/check_dark.png"/>
          <p:cNvPicPr>
            <a:picLocks noChangeAspect="1"/>
          </p:cNvPicPr>
          <p:nvPr/>
        </p:nvPicPr>
        <p:blipFill>
          <a:blip r:embed="rId2"/>
          <a:stretch>
            <a:fillRect/>
          </a:stretch>
        </p:blipFill>
        <p:spPr>
          <a:xfrm>
            <a:off x="6172200" y="4818888"/>
            <a:ext cx="164592" cy="164592"/>
          </a:xfrm>
          <a:prstGeom prst="rect">
            <a:avLst/>
          </a:prstGeom>
        </p:spPr>
      </p:pic>
      <p:sp>
        <p:nvSpPr>
          <p:cNvPr id="33" name="Text 19"/>
          <p:cNvSpPr/>
          <p:nvPr/>
        </p:nvSpPr>
        <p:spPr>
          <a:xfrm>
            <a:off x="6446520" y="4791456"/>
            <a:ext cx="4846320" cy="502920"/>
          </a:xfrm>
          <a:prstGeom prst="rect">
            <a:avLst/>
          </a:prstGeom>
          <a:noFill/>
        </p:spPr>
        <p:txBody>
          <a:bodyPr wrap="square" lIns="0" tIns="0" rIns="0" bIns="0" rtlCol="0" anchor="ctr"/>
          <a:lstStyle/>
          <a:p>
            <a:pPr marL="0" indent="0" algn="just">
              <a:lnSpc>
                <a:spcPct val="118000"/>
              </a:lnSpc>
              <a:buNone/>
            </a:pPr>
            <a:r>
              <a:rPr lang="en-US" sz="1200" dirty="0">
                <a:solidFill>
                  <a:srgbClr val="364327"/>
                </a:solidFill>
                <a:latin typeface="Segoe UI" panose="020B0502040204020203" pitchFamily="34" charset="0"/>
                <a:ea typeface="Segoe UI" panose="020B0502040204020203" pitchFamily="34" charset="-122"/>
                <a:cs typeface="Segoe UI" panose="020B0502040204020203" pitchFamily="34" charset="-120"/>
              </a:rPr>
              <a:t>Verification Service: Code to validate image uploads, QR codes, and coordinate metadata.</a:t>
            </a:r>
            <a:endParaRPr lang="en-US" sz="1200" dirty="0"/>
          </a:p>
        </p:txBody>
      </p:sp>
      <p:pic>
        <p:nvPicPr>
          <p:cNvPr id="34" name="Image 12" descr="./icons/check_dark.png"/>
          <p:cNvPicPr>
            <a:picLocks noChangeAspect="1"/>
          </p:cNvPicPr>
          <p:nvPr/>
        </p:nvPicPr>
        <p:blipFill>
          <a:blip r:embed="rId2"/>
          <a:stretch>
            <a:fillRect/>
          </a:stretch>
        </p:blipFill>
        <p:spPr>
          <a:xfrm>
            <a:off x="6172200" y="5330952"/>
            <a:ext cx="164592" cy="164592"/>
          </a:xfrm>
          <a:prstGeom prst="rect">
            <a:avLst/>
          </a:prstGeom>
        </p:spPr>
      </p:pic>
      <p:sp>
        <p:nvSpPr>
          <p:cNvPr id="35" name="Text 20"/>
          <p:cNvSpPr/>
          <p:nvPr/>
        </p:nvSpPr>
        <p:spPr>
          <a:xfrm>
            <a:off x="6446520" y="5303520"/>
            <a:ext cx="4846320" cy="502920"/>
          </a:xfrm>
          <a:prstGeom prst="rect">
            <a:avLst/>
          </a:prstGeom>
          <a:noFill/>
        </p:spPr>
        <p:txBody>
          <a:bodyPr wrap="square" lIns="0" tIns="0" rIns="0" bIns="0" rtlCol="0" anchor="ctr"/>
          <a:lstStyle/>
          <a:p>
            <a:pPr marL="0" indent="0" algn="just">
              <a:lnSpc>
                <a:spcPct val="118000"/>
              </a:lnSpc>
              <a:buNone/>
            </a:pPr>
            <a:r>
              <a:rPr lang="en-US" sz="1200" dirty="0">
                <a:solidFill>
                  <a:srgbClr val="364327"/>
                </a:solidFill>
                <a:latin typeface="Segoe UI" panose="020B0502040204020203" pitchFamily="34" charset="0"/>
                <a:ea typeface="Segoe UI" panose="020B0502040204020203" pitchFamily="34" charset="-122"/>
                <a:cs typeface="Segoe UI" panose="020B0502040204020203" pitchFamily="34" charset="-120"/>
              </a:rPr>
              <a:t>Blueprints: Multi-container Docker compose and Railway build parameters.</a:t>
            </a:r>
            <a:endParaRPr lang="en-US" sz="1200" dirty="0"/>
          </a:p>
        </p:txBody>
      </p:sp>
      <p:sp>
        <p:nvSpPr>
          <p:cNvPr id="36" name="Shape 21"/>
          <p:cNvSpPr/>
          <p:nvPr/>
        </p:nvSpPr>
        <p:spPr>
          <a:xfrm>
            <a:off x="530352" y="6364224"/>
            <a:ext cx="237744" cy="237744"/>
          </a:xfrm>
          <a:prstGeom prst="ellipse">
            <a:avLst/>
          </a:prstGeom>
          <a:solidFill>
            <a:srgbClr val="156D4F"/>
          </a:solidFill>
        </p:spPr>
      </p:sp>
      <p:pic>
        <p:nvPicPr>
          <p:cNvPr id="37" name="Image 13" descr="./icons/arrow_left_white.png">
            <a:hlinkClick r:id="rId4" action="ppaction://hlinksldjump"/>
          </p:cNvPr>
          <p:cNvPicPr>
            <a:picLocks noChangeAspect="1"/>
          </p:cNvPicPr>
          <p:nvPr/>
        </p:nvPicPr>
        <p:blipFill>
          <a:blip r:embed="rId5"/>
          <a:stretch>
            <a:fillRect/>
          </a:stretch>
        </p:blipFill>
        <p:spPr>
          <a:xfrm>
            <a:off x="548640" y="6382512"/>
            <a:ext cx="201168" cy="201168"/>
          </a:xfrm>
          <a:prstGeom prst="rect">
            <a:avLst/>
          </a:prstGeom>
        </p:spPr>
      </p:pic>
      <p:sp>
        <p:nvSpPr>
          <p:cNvPr id="38" name="Shape 22">
            <a:hlinkClick r:id="rId4" action="ppaction://hlinksldjump"/>
          </p:cNvPr>
          <p:cNvSpPr/>
          <p:nvPr/>
        </p:nvSpPr>
        <p:spPr>
          <a:xfrm>
            <a:off x="530352" y="6355080"/>
            <a:ext cx="2377440" cy="365760"/>
          </a:xfrm>
          <a:prstGeom prst="rect">
            <a:avLst/>
          </a:prstGeom>
          <a:solidFill>
            <a:srgbClr val="364327">
              <a:alpha val="0"/>
            </a:srgbClr>
          </a:solidFill>
        </p:spPr>
      </p:sp>
      <p:sp>
        <p:nvSpPr>
          <p:cNvPr id="39" name="Text 23">
            <a:hlinkClick r:id="rId4" action="ppaction://hlinksldjump"/>
          </p:cNvPr>
          <p:cNvSpPr/>
          <p:nvPr/>
        </p:nvSpPr>
        <p:spPr>
          <a:xfrm>
            <a:off x="841248" y="6355080"/>
            <a:ext cx="2377440" cy="365760"/>
          </a:xfrm>
          <a:prstGeom prst="rect">
            <a:avLst/>
          </a:prstGeom>
          <a:noFill/>
        </p:spPr>
        <p:txBody>
          <a:bodyPr wrap="square" lIns="0" tIns="0" rIns="0" bIns="0" rtlCol="0" anchor="ctr"/>
          <a:lstStyle/>
          <a:p>
            <a:pPr marL="0" indent="0">
              <a:buNone/>
            </a:pPr>
            <a:r>
              <a:rPr lang="en-US" sz="1100" b="1" u="sng" dirty="0">
                <a:solidFill>
                  <a:srgbClr val="156D4F"/>
                </a:solidFill>
                <a:latin typeface="Segoe UI" panose="020B0502040204020203" pitchFamily="34" charset="0"/>
                <a:ea typeface="Segoe UI" panose="020B0502040204020203" pitchFamily="34" charset="-122"/>
                <a:cs typeface="Segoe UI" panose="020B0502040204020203" pitchFamily="34" charset="-120"/>
                <a:hlinkClick r:id="rId4" action="ppaction://hlinksldjump"/>
              </a:rPr>
              <a:t>BACK TO REVIEW BOARD</a:t>
            </a:r>
            <a:endParaRPr lang="en-US" sz="1100" dirty="0"/>
          </a:p>
        </p:txBody>
      </p:sp>
      <p:sp>
        <p:nvSpPr>
          <p:cNvPr id="40" name="Text 24"/>
          <p:cNvSpPr/>
          <p:nvPr/>
        </p:nvSpPr>
        <p:spPr>
          <a:xfrm>
            <a:off x="8595360" y="6382512"/>
            <a:ext cx="3017520" cy="274320"/>
          </a:xfrm>
          <a:prstGeom prst="rect">
            <a:avLst/>
          </a:prstGeom>
          <a:noFill/>
        </p:spPr>
        <p:txBody>
          <a:bodyPr wrap="square" lIns="0" tIns="0" rIns="0" bIns="0" rtlCol="0" anchor="ctr"/>
          <a:lstStyle/>
          <a:p>
            <a:pPr marL="0" indent="0" algn="r">
              <a:buNone/>
            </a:pPr>
            <a:r>
              <a:rPr lang="en-US" sz="1000" dirty="0">
                <a:solidFill>
                  <a:srgbClr val="364327"/>
                </a:solidFill>
                <a:latin typeface="Segoe UI" panose="020B0502040204020203" pitchFamily="34" charset="0"/>
                <a:ea typeface="Segoe UI" panose="020B0502040204020203" pitchFamily="34" charset="-122"/>
                <a:cs typeface="Segoe UI" panose="020B0502040204020203" pitchFamily="34" charset="-120"/>
              </a:rPr>
              <a:t>EcoSphere · Novelty &amp; Outcomes</a:t>
            </a: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364327"/>
        </a:solidFill>
        <a:effectLst/>
      </p:bgPr>
    </p:bg>
    <p:spTree>
      <p:nvGrpSpPr>
        <p:cNvPr id="1" name=""/>
        <p:cNvGrpSpPr/>
        <p:nvPr/>
      </p:nvGrpSpPr>
      <p:grpSpPr>
        <a:xfrm>
          <a:off x="0" y="0"/>
          <a:ext cx="0" cy="0"/>
          <a:chOff x="0" y="0"/>
          <a:chExt cx="0" cy="0"/>
        </a:xfrm>
      </p:grpSpPr>
      <p:sp>
        <p:nvSpPr>
          <p:cNvPr id="2" name="Shape 0"/>
          <p:cNvSpPr/>
          <p:nvPr/>
        </p:nvSpPr>
        <p:spPr>
          <a:xfrm>
            <a:off x="8686800" y="-1645920"/>
            <a:ext cx="5029200" cy="5029200"/>
          </a:xfrm>
          <a:prstGeom prst="ellipse">
            <a:avLst/>
          </a:prstGeom>
          <a:solidFill>
            <a:srgbClr val="156D4F">
              <a:alpha val="65000"/>
            </a:srgbClr>
          </a:solidFill>
        </p:spPr>
      </p:sp>
      <p:sp>
        <p:nvSpPr>
          <p:cNvPr id="3" name="Text 1"/>
          <p:cNvSpPr/>
          <p:nvPr/>
        </p:nvSpPr>
        <p:spPr>
          <a:xfrm>
            <a:off x="640080" y="548640"/>
            <a:ext cx="7315200" cy="274320"/>
          </a:xfrm>
          <a:prstGeom prst="rect">
            <a:avLst/>
          </a:prstGeom>
          <a:noFill/>
        </p:spPr>
        <p:txBody>
          <a:bodyPr wrap="square" lIns="0" tIns="0" rIns="0" bIns="0" rtlCol="0" anchor="ctr"/>
          <a:lstStyle/>
          <a:p>
            <a:pPr marL="0" indent="0">
              <a:buNone/>
            </a:pPr>
            <a:r>
              <a:rPr lang="en-US" sz="1200" b="1" kern="0" spc="200" dirty="0">
                <a:solidFill>
                  <a:srgbClr val="5BDCBB"/>
                </a:solidFill>
                <a:latin typeface="Segoe UI" panose="020B0502040204020203" pitchFamily="34" charset="0"/>
                <a:ea typeface="Segoe UI" panose="020B0502040204020203" pitchFamily="34" charset="-122"/>
                <a:cs typeface="Segoe UI" panose="020B0502040204020203" pitchFamily="34" charset="-120"/>
              </a:rPr>
              <a:t>SECTION 09 · PANEL'S ASSESSMENT</a:t>
            </a:r>
            <a:endParaRPr lang="en-US" sz="1200" dirty="0"/>
          </a:p>
        </p:txBody>
      </p:sp>
      <p:sp>
        <p:nvSpPr>
          <p:cNvPr id="4" name="Text 2"/>
          <p:cNvSpPr/>
          <p:nvPr/>
        </p:nvSpPr>
        <p:spPr>
          <a:xfrm>
            <a:off x="640080" y="841248"/>
            <a:ext cx="8229600" cy="640080"/>
          </a:xfrm>
          <a:prstGeom prst="rect">
            <a:avLst/>
          </a:prstGeom>
          <a:noFill/>
        </p:spPr>
        <p:txBody>
          <a:bodyPr wrap="square" lIns="0" tIns="0" rIns="0" bIns="0" rtlCol="0" anchor="ctr"/>
          <a:lstStyle/>
          <a:p>
            <a:pPr marL="0" indent="0">
              <a:buNone/>
            </a:pPr>
            <a:r>
              <a:rPr lang="en-US" sz="3200" b="1" dirty="0">
                <a:solidFill>
                  <a:srgbClr val="5BDCBB"/>
                </a:solidFill>
                <a:latin typeface="Georgia" panose="02040502050405020303" pitchFamily="34" charset="0"/>
                <a:ea typeface="Georgia" panose="02040502050405020303" pitchFamily="34" charset="-122"/>
                <a:cs typeface="Georgia" panose="02040502050405020303" pitchFamily="34" charset="-120"/>
              </a:rPr>
              <a:t>Feasibility Verdict</a:t>
            </a:r>
            <a:endParaRPr lang="en-US" sz="3200" dirty="0"/>
          </a:p>
        </p:txBody>
      </p:sp>
      <p:sp>
        <p:nvSpPr>
          <p:cNvPr id="5" name="Shape 3"/>
          <p:cNvSpPr/>
          <p:nvPr/>
        </p:nvSpPr>
        <p:spPr>
          <a:xfrm>
            <a:off x="8229600" y="685800"/>
            <a:ext cx="3383280" cy="868680"/>
          </a:xfrm>
          <a:prstGeom prst="roundRect">
            <a:avLst>
              <a:gd name="adj" fmla="val 10526"/>
            </a:avLst>
          </a:prstGeom>
          <a:solidFill>
            <a:srgbClr val="5BDCBB"/>
          </a:solidFill>
          <a:effectLst>
            <a:outerShdw blurRad="101600" dist="38100" dir="2700000" algn="bl" rotWithShape="0">
              <a:srgbClr val="000000">
                <a:alpha val="12000"/>
              </a:srgbClr>
            </a:outerShdw>
          </a:effectLst>
        </p:spPr>
      </p:sp>
      <p:sp>
        <p:nvSpPr>
          <p:cNvPr id="6" name="Text 4"/>
          <p:cNvSpPr/>
          <p:nvPr/>
        </p:nvSpPr>
        <p:spPr>
          <a:xfrm>
            <a:off x="8229600" y="685800"/>
            <a:ext cx="3383280" cy="868680"/>
          </a:xfrm>
          <a:prstGeom prst="rect">
            <a:avLst/>
          </a:prstGeom>
          <a:noFill/>
        </p:spPr>
        <p:txBody>
          <a:bodyPr wrap="square" lIns="0" tIns="0" rIns="0" bIns="0" rtlCol="0" anchor="ctr"/>
          <a:lstStyle/>
          <a:p>
            <a:pPr marL="0" indent="0" algn="ctr">
              <a:buNone/>
            </a:pPr>
            <a:r>
              <a:rPr lang="en-US" sz="1300" b="1" dirty="0">
                <a:solidFill>
                  <a:srgbClr val="364327"/>
                </a:solidFill>
                <a:latin typeface="Segoe UI" panose="020B0502040204020203" pitchFamily="34" charset="0"/>
                <a:ea typeface="Segoe UI" panose="020B0502040204020203" pitchFamily="34" charset="-122"/>
                <a:cs typeface="Segoe UI" panose="020B0502040204020203" pitchFamily="34" charset="-120"/>
              </a:rPr>
              <a:t>APPROVAL FOR</a:t>
            </a:r>
            <a:endParaRPr lang="en-US" sz="1300" dirty="0"/>
          </a:p>
          <a:p>
            <a:pPr marL="0" indent="0" algn="ctr">
              <a:buNone/>
            </a:pPr>
            <a:r>
              <a:rPr lang="en-US" sz="1300" b="1" dirty="0">
                <a:solidFill>
                  <a:srgbClr val="364327"/>
                </a:solidFill>
                <a:latin typeface="Segoe UI" panose="020B0502040204020203" pitchFamily="34" charset="0"/>
                <a:ea typeface="Segoe UI" panose="020B0502040204020203" pitchFamily="34" charset="-122"/>
                <a:cs typeface="Segoe UI" panose="020B0502040204020203" pitchFamily="34" charset="-120"/>
              </a:rPr>
              <a:t>PROTOTYPING &amp; R&amp;D</a:t>
            </a:r>
            <a:endParaRPr lang="en-US" sz="1300" dirty="0"/>
          </a:p>
        </p:txBody>
      </p:sp>
      <p:sp>
        <p:nvSpPr>
          <p:cNvPr id="7" name="Text 5"/>
          <p:cNvSpPr/>
          <p:nvPr/>
        </p:nvSpPr>
        <p:spPr>
          <a:xfrm>
            <a:off x="640080" y="1828800"/>
            <a:ext cx="10607040" cy="1005840"/>
          </a:xfrm>
          <a:prstGeom prst="rect">
            <a:avLst/>
          </a:prstGeom>
          <a:noFill/>
        </p:spPr>
        <p:txBody>
          <a:bodyPr wrap="square" lIns="0" tIns="0" rIns="0" bIns="0" rtlCol="0" anchor="ctr"/>
          <a:lstStyle/>
          <a:p>
            <a:pPr marL="0" indent="0" algn="just">
              <a:lnSpc>
                <a:spcPct val="130000"/>
              </a:lnSpc>
              <a:buNone/>
            </a:pPr>
            <a:r>
              <a:rPr lang="en-US" sz="1350" dirty="0">
                <a:solidFill>
                  <a:srgbClr val="FFFFFF"/>
                </a:solidFill>
                <a:latin typeface="Segoe UI" panose="020B0502040204020203" pitchFamily="34" charset="0"/>
                <a:ea typeface="Segoe UI" panose="020B0502040204020203" pitchFamily="34" charset="-122"/>
                <a:cs typeface="Segoe UI" panose="020B0502040204020203" pitchFamily="34" charset="-120"/>
              </a:rPr>
              <a:t>The EcoSphere Intelligent Environmental Decision Support proposal is highly viable and approved for implementation. It shifts the paradigm of final-year sustainability projects from static tracking to active, predictive analytics and optimization. Built on a modular and mature stack (React, Spring Boot, FastAPI, PostgreSQL, and Google OR-Tools), it offers solid features like behavior learning, time-series forecasting, multi-resource solving, and verified activity loops.</a:t>
            </a:r>
            <a:endParaRPr lang="en-US" sz="1350" dirty="0"/>
          </a:p>
        </p:txBody>
      </p:sp>
      <p:sp>
        <p:nvSpPr>
          <p:cNvPr id="8" name="Shape 6"/>
          <p:cNvSpPr/>
          <p:nvPr/>
        </p:nvSpPr>
        <p:spPr>
          <a:xfrm>
            <a:off x="640080" y="3017520"/>
            <a:ext cx="3611880" cy="2743200"/>
          </a:xfrm>
          <a:prstGeom prst="roundRect">
            <a:avLst>
              <a:gd name="adj" fmla="val 3333"/>
            </a:avLst>
          </a:prstGeom>
          <a:solidFill>
            <a:srgbClr val="156D4F"/>
          </a:solidFill>
          <a:ln w="12700">
            <a:solidFill>
              <a:srgbClr val="57926E"/>
            </a:solidFill>
            <a:prstDash val="solid"/>
          </a:ln>
        </p:spPr>
      </p:sp>
      <p:sp>
        <p:nvSpPr>
          <p:cNvPr id="9" name="Shape 7"/>
          <p:cNvSpPr/>
          <p:nvPr/>
        </p:nvSpPr>
        <p:spPr>
          <a:xfrm>
            <a:off x="841248" y="3218688"/>
            <a:ext cx="411480" cy="411480"/>
          </a:xfrm>
          <a:prstGeom prst="ellipse">
            <a:avLst/>
          </a:prstGeom>
          <a:solidFill>
            <a:srgbClr val="57926E"/>
          </a:solidFill>
          <a:effectLst>
            <a:outerShdw blurRad="76200" dist="25400" dir="2700000" algn="bl" rotWithShape="0">
              <a:srgbClr val="000000">
                <a:alpha val="8000"/>
              </a:srgbClr>
            </a:outerShdw>
          </a:effectLst>
        </p:spPr>
      </p:sp>
      <p:pic>
        <p:nvPicPr>
          <p:cNvPr id="10" name="Image 0" descr="./icons/gateway_white.png"/>
          <p:cNvPicPr>
            <a:picLocks noChangeAspect="1"/>
          </p:cNvPicPr>
          <p:nvPr/>
        </p:nvPicPr>
        <p:blipFill>
          <a:blip r:embed="rId1"/>
          <a:stretch>
            <a:fillRect/>
          </a:stretch>
        </p:blipFill>
        <p:spPr>
          <a:xfrm>
            <a:off x="948233" y="3325673"/>
            <a:ext cx="197510" cy="197510"/>
          </a:xfrm>
          <a:prstGeom prst="rect">
            <a:avLst/>
          </a:prstGeom>
        </p:spPr>
      </p:pic>
      <p:sp>
        <p:nvSpPr>
          <p:cNvPr id="11" name="Text 8"/>
          <p:cNvSpPr/>
          <p:nvPr/>
        </p:nvSpPr>
        <p:spPr>
          <a:xfrm>
            <a:off x="1325880" y="3154680"/>
            <a:ext cx="2697480" cy="438912"/>
          </a:xfrm>
          <a:prstGeom prst="rect">
            <a:avLst/>
          </a:prstGeom>
          <a:noFill/>
        </p:spPr>
        <p:txBody>
          <a:bodyPr wrap="square" lIns="0" tIns="0" rIns="0" bIns="0" rtlCol="0" anchor="ctr"/>
          <a:lstStyle/>
          <a:p>
            <a:pPr marL="0" indent="0">
              <a:buNone/>
            </a:pPr>
            <a:r>
              <a:rPr lang="en-US" sz="1700" b="1" dirty="0">
                <a:solidFill>
                  <a:srgbClr val="5BDCBB"/>
                </a:solidFill>
                <a:latin typeface="Segoe UI" panose="020B0502040204020203" pitchFamily="34" charset="0"/>
                <a:ea typeface="Segoe UI" panose="020B0502040204020203" pitchFamily="34" charset="-122"/>
                <a:cs typeface="Segoe UI" panose="020B0502040204020203" pitchFamily="34" charset="-120"/>
              </a:rPr>
              <a:t>Technical Viability</a:t>
            </a:r>
            <a:endParaRPr lang="en-US" sz="1700" dirty="0"/>
          </a:p>
        </p:txBody>
      </p:sp>
      <p:sp>
        <p:nvSpPr>
          <p:cNvPr id="12" name="Text 9"/>
          <p:cNvSpPr/>
          <p:nvPr/>
        </p:nvSpPr>
        <p:spPr>
          <a:xfrm>
            <a:off x="914400" y="3886200"/>
            <a:ext cx="3136265" cy="1737360"/>
          </a:xfrm>
          <a:prstGeom prst="rect">
            <a:avLst/>
          </a:prstGeom>
          <a:noFill/>
        </p:spPr>
        <p:txBody>
          <a:bodyPr wrap="square" lIns="0" tIns="0" rIns="0" bIns="0" rtlCol="0" anchor="ctr"/>
          <a:lstStyle/>
          <a:p>
            <a:pPr marL="0" indent="0" algn="l">
              <a:lnSpc>
                <a:spcPct val="125000"/>
              </a:lnSpc>
              <a:spcAft>
                <a:spcPts val="600"/>
              </a:spcAft>
              <a:buNone/>
            </a:pPr>
            <a:r>
              <a:rPr lang="en-US" sz="1350" dirty="0">
                <a:solidFill>
                  <a:srgbClr val="FFFFFF"/>
                </a:solidFill>
                <a:latin typeface="Segoe UI" panose="020B0502040204020203" pitchFamily="34" charset="0"/>
                <a:ea typeface="Segoe UI" panose="020B0502040204020203" pitchFamily="34" charset="-122"/>
                <a:cs typeface="Segoe UI" panose="020B0502040204020203" pitchFamily="34" charset="-120"/>
              </a:rPr>
              <a:t>✓  Modular FastAPI forecasting endpoints</a:t>
            </a:r>
            <a:endParaRPr lang="en-US" sz="1350" dirty="0"/>
          </a:p>
          <a:p>
            <a:pPr marL="0" indent="0" algn="l">
              <a:lnSpc>
                <a:spcPct val="125000"/>
              </a:lnSpc>
              <a:spcAft>
                <a:spcPts val="600"/>
              </a:spcAft>
              <a:buNone/>
            </a:pPr>
            <a:r>
              <a:rPr lang="en-US" sz="1350" dirty="0">
                <a:solidFill>
                  <a:srgbClr val="FFFFFF"/>
                </a:solidFill>
                <a:latin typeface="Segoe UI" panose="020B0502040204020203" pitchFamily="34" charset="0"/>
                <a:ea typeface="Segoe UI" panose="020B0502040204020203" pitchFamily="34" charset="-122"/>
                <a:cs typeface="Segoe UI" panose="020B0502040204020203" pitchFamily="34" charset="-120"/>
              </a:rPr>
              <a:t>✓  Efficient Spring Boot gateway integration</a:t>
            </a:r>
            <a:endParaRPr lang="en-US" sz="1350" dirty="0"/>
          </a:p>
          <a:p>
            <a:pPr marL="0" indent="0" algn="l">
              <a:lnSpc>
                <a:spcPct val="125000"/>
              </a:lnSpc>
              <a:spcAft>
                <a:spcPts val="600"/>
              </a:spcAft>
              <a:buNone/>
            </a:pPr>
            <a:r>
              <a:rPr lang="en-US" sz="1350" dirty="0">
                <a:solidFill>
                  <a:srgbClr val="FFFFFF"/>
                </a:solidFill>
                <a:latin typeface="Segoe UI" panose="020B0502040204020203" pitchFamily="34" charset="0"/>
                <a:ea typeface="Segoe UI" panose="020B0502040204020203" pitchFamily="34" charset="-122"/>
                <a:cs typeface="Segoe UI" panose="020B0502040204020203" pitchFamily="34" charset="-120"/>
              </a:rPr>
              <a:t>✓  Google OR-Tools solver constraints</a:t>
            </a:r>
            <a:endParaRPr lang="en-US" sz="1350" dirty="0"/>
          </a:p>
          <a:p>
            <a:pPr marL="0" indent="0" algn="l">
              <a:lnSpc>
                <a:spcPct val="125000"/>
              </a:lnSpc>
              <a:spcAft>
                <a:spcPts val="600"/>
              </a:spcAft>
              <a:buNone/>
            </a:pPr>
            <a:r>
              <a:rPr lang="en-US" sz="1350" dirty="0">
                <a:solidFill>
                  <a:srgbClr val="FFFFFF"/>
                </a:solidFill>
                <a:latin typeface="Segoe UI" panose="020B0502040204020203" pitchFamily="34" charset="0"/>
                <a:ea typeface="Segoe UI" panose="020B0502040204020203" pitchFamily="34" charset="-122"/>
                <a:cs typeface="Segoe UI" panose="020B0502040204020203" pitchFamily="34" charset="-120"/>
              </a:rPr>
              <a:t>✓  Proven PostgreSQL relational schema</a:t>
            </a:r>
            <a:endParaRPr lang="en-US" sz="1350" dirty="0"/>
          </a:p>
        </p:txBody>
      </p:sp>
      <p:sp>
        <p:nvSpPr>
          <p:cNvPr id="13" name="Shape 10"/>
          <p:cNvSpPr/>
          <p:nvPr/>
        </p:nvSpPr>
        <p:spPr>
          <a:xfrm>
            <a:off x="4343400" y="3017520"/>
            <a:ext cx="3611880" cy="2743200"/>
          </a:xfrm>
          <a:prstGeom prst="roundRect">
            <a:avLst>
              <a:gd name="adj" fmla="val 3333"/>
            </a:avLst>
          </a:prstGeom>
          <a:solidFill>
            <a:srgbClr val="156D4F"/>
          </a:solidFill>
          <a:ln w="12700">
            <a:solidFill>
              <a:srgbClr val="57926E"/>
            </a:solidFill>
            <a:prstDash val="solid"/>
          </a:ln>
        </p:spPr>
      </p:sp>
      <p:sp>
        <p:nvSpPr>
          <p:cNvPr id="14" name="Shape 11"/>
          <p:cNvSpPr/>
          <p:nvPr/>
        </p:nvSpPr>
        <p:spPr>
          <a:xfrm>
            <a:off x="4544568" y="3218688"/>
            <a:ext cx="411480" cy="411480"/>
          </a:xfrm>
          <a:prstGeom prst="ellipse">
            <a:avLst/>
          </a:prstGeom>
          <a:solidFill>
            <a:srgbClr val="57926E"/>
          </a:solidFill>
          <a:effectLst>
            <a:outerShdw blurRad="76200" dist="25400" dir="2700000" algn="bl" rotWithShape="0">
              <a:srgbClr val="000000">
                <a:alpha val="8000"/>
              </a:srgbClr>
            </a:outerShdw>
          </a:effectLst>
        </p:spPr>
      </p:sp>
      <p:pic>
        <p:nvPicPr>
          <p:cNvPr id="15" name="Image 1" descr="./icons/lock_white.png"/>
          <p:cNvPicPr>
            <a:picLocks noChangeAspect="1"/>
          </p:cNvPicPr>
          <p:nvPr/>
        </p:nvPicPr>
        <p:blipFill>
          <a:blip r:embed="rId2"/>
          <a:stretch>
            <a:fillRect/>
          </a:stretch>
        </p:blipFill>
        <p:spPr>
          <a:xfrm>
            <a:off x="4651553" y="3325673"/>
            <a:ext cx="197510" cy="197510"/>
          </a:xfrm>
          <a:prstGeom prst="rect">
            <a:avLst/>
          </a:prstGeom>
        </p:spPr>
      </p:pic>
      <p:sp>
        <p:nvSpPr>
          <p:cNvPr id="16" name="Text 12"/>
          <p:cNvSpPr/>
          <p:nvPr/>
        </p:nvSpPr>
        <p:spPr>
          <a:xfrm>
            <a:off x="5029200" y="3154680"/>
            <a:ext cx="2697480" cy="438912"/>
          </a:xfrm>
          <a:prstGeom prst="rect">
            <a:avLst/>
          </a:prstGeom>
          <a:noFill/>
        </p:spPr>
        <p:txBody>
          <a:bodyPr wrap="square" lIns="0" tIns="0" rIns="0" bIns="0" rtlCol="0" anchor="ctr"/>
          <a:lstStyle/>
          <a:p>
            <a:pPr marL="0" indent="0">
              <a:buNone/>
            </a:pPr>
            <a:r>
              <a:rPr lang="en-US" sz="1700" b="1" dirty="0">
                <a:solidFill>
                  <a:srgbClr val="5BDCBB"/>
                </a:solidFill>
                <a:latin typeface="Segoe UI" panose="020B0502040204020203" pitchFamily="34" charset="0"/>
                <a:ea typeface="Segoe UI" panose="020B0502040204020203" pitchFamily="34" charset="-122"/>
                <a:cs typeface="Segoe UI" panose="020B0502040204020203" pitchFamily="34" charset="-120"/>
              </a:rPr>
              <a:t>Intelligence &amp; ML</a:t>
            </a:r>
            <a:endParaRPr lang="en-US" sz="1700" dirty="0"/>
          </a:p>
        </p:txBody>
      </p:sp>
      <p:sp>
        <p:nvSpPr>
          <p:cNvPr id="17" name="Text 13"/>
          <p:cNvSpPr/>
          <p:nvPr/>
        </p:nvSpPr>
        <p:spPr>
          <a:xfrm>
            <a:off x="4617720" y="3886200"/>
            <a:ext cx="3103245" cy="1737360"/>
          </a:xfrm>
          <a:prstGeom prst="rect">
            <a:avLst/>
          </a:prstGeom>
          <a:noFill/>
        </p:spPr>
        <p:txBody>
          <a:bodyPr wrap="square" lIns="0" tIns="0" rIns="0" bIns="0" rtlCol="0" anchor="ctr"/>
          <a:lstStyle/>
          <a:p>
            <a:pPr marL="0" indent="0" algn="l">
              <a:lnSpc>
                <a:spcPct val="125000"/>
              </a:lnSpc>
              <a:spcAft>
                <a:spcPts val="600"/>
              </a:spcAft>
              <a:buNone/>
            </a:pPr>
            <a:r>
              <a:rPr lang="en-US" sz="1350" dirty="0">
                <a:solidFill>
                  <a:srgbClr val="FFFFFF"/>
                </a:solidFill>
                <a:latin typeface="Segoe UI" panose="020B0502040204020203" pitchFamily="34" charset="0"/>
                <a:ea typeface="Segoe UI" panose="020B0502040204020203" pitchFamily="34" charset="-122"/>
                <a:cs typeface="Segoe UI" panose="020B0502040204020203" pitchFamily="34" charset="-120"/>
              </a:rPr>
              <a:t>✓  XGBoost time-series regression</a:t>
            </a:r>
            <a:endParaRPr lang="en-US" sz="1350" dirty="0"/>
          </a:p>
          <a:p>
            <a:pPr marL="0" indent="0" algn="l">
              <a:lnSpc>
                <a:spcPct val="125000"/>
              </a:lnSpc>
              <a:spcAft>
                <a:spcPts val="600"/>
              </a:spcAft>
              <a:buNone/>
            </a:pPr>
            <a:r>
              <a:rPr lang="en-US" sz="1350" dirty="0">
                <a:solidFill>
                  <a:srgbClr val="FFFFFF"/>
                </a:solidFill>
                <a:latin typeface="Segoe UI" panose="020B0502040204020203" pitchFamily="34" charset="0"/>
                <a:ea typeface="Segoe UI" panose="020B0502040204020203" pitchFamily="34" charset="-122"/>
                <a:cs typeface="Segoe UI" panose="020B0502040204020203" pitchFamily="34" charset="-120"/>
              </a:rPr>
              <a:t>✓  Pattern mining behavioral logs</a:t>
            </a:r>
            <a:endParaRPr lang="en-US" sz="1350" dirty="0"/>
          </a:p>
          <a:p>
            <a:pPr marL="0" indent="0" algn="l">
              <a:lnSpc>
                <a:spcPct val="125000"/>
              </a:lnSpc>
              <a:spcAft>
                <a:spcPts val="600"/>
              </a:spcAft>
              <a:buNone/>
            </a:pPr>
            <a:r>
              <a:rPr lang="en-US" sz="1350" dirty="0">
                <a:solidFill>
                  <a:srgbClr val="FFFFFF"/>
                </a:solidFill>
                <a:latin typeface="Segoe UI" panose="020B0502040204020203" pitchFamily="34" charset="0"/>
                <a:ea typeface="Segoe UI" panose="020B0502040204020203" pitchFamily="34" charset="-122"/>
                <a:cs typeface="Segoe UI" panose="020B0502040204020203" pitchFamily="34" charset="-120"/>
              </a:rPr>
              <a:t>✓  Gemini explanation generation prompts</a:t>
            </a:r>
            <a:endParaRPr lang="en-US" sz="1350" dirty="0"/>
          </a:p>
          <a:p>
            <a:pPr marL="0" indent="0" algn="l">
              <a:lnSpc>
                <a:spcPct val="125000"/>
              </a:lnSpc>
              <a:spcAft>
                <a:spcPts val="600"/>
              </a:spcAft>
              <a:buNone/>
            </a:pPr>
            <a:r>
              <a:rPr lang="en-US" sz="1350" dirty="0">
                <a:solidFill>
                  <a:srgbClr val="FFFFFF"/>
                </a:solidFill>
                <a:latin typeface="Segoe UI" panose="020B0502040204020203" pitchFamily="34" charset="0"/>
                <a:ea typeface="Segoe UI" panose="020B0502040204020203" pitchFamily="34" charset="-122"/>
                <a:cs typeface="Segoe UI" panose="020B0502040204020203" pitchFamily="34" charset="-120"/>
              </a:rPr>
              <a:t>✓  Observed user recommendation metrics</a:t>
            </a:r>
            <a:endParaRPr lang="en-US" sz="1350" dirty="0"/>
          </a:p>
        </p:txBody>
      </p:sp>
      <p:sp>
        <p:nvSpPr>
          <p:cNvPr id="18" name="Shape 14"/>
          <p:cNvSpPr/>
          <p:nvPr/>
        </p:nvSpPr>
        <p:spPr>
          <a:xfrm>
            <a:off x="8046720" y="3017520"/>
            <a:ext cx="3611880" cy="2743200"/>
          </a:xfrm>
          <a:prstGeom prst="roundRect">
            <a:avLst>
              <a:gd name="adj" fmla="val 3333"/>
            </a:avLst>
          </a:prstGeom>
          <a:solidFill>
            <a:srgbClr val="156D4F"/>
          </a:solidFill>
          <a:ln w="12700">
            <a:solidFill>
              <a:srgbClr val="57926E"/>
            </a:solidFill>
            <a:prstDash val="solid"/>
          </a:ln>
        </p:spPr>
      </p:sp>
      <p:sp>
        <p:nvSpPr>
          <p:cNvPr id="19" name="Shape 15"/>
          <p:cNvSpPr/>
          <p:nvPr/>
        </p:nvSpPr>
        <p:spPr>
          <a:xfrm>
            <a:off x="8247888" y="3218688"/>
            <a:ext cx="411480" cy="411480"/>
          </a:xfrm>
          <a:prstGeom prst="ellipse">
            <a:avLst/>
          </a:prstGeom>
          <a:solidFill>
            <a:srgbClr val="57926E"/>
          </a:solidFill>
          <a:effectLst>
            <a:outerShdw blurRad="76200" dist="25400" dir="2700000" algn="bl" rotWithShape="0">
              <a:srgbClr val="000000">
                <a:alpha val="8000"/>
              </a:srgbClr>
            </a:outerShdw>
          </a:effectLst>
        </p:spPr>
      </p:sp>
      <p:pic>
        <p:nvPicPr>
          <p:cNvPr id="20" name="Image 2" descr="./icons/users_white.png"/>
          <p:cNvPicPr>
            <a:picLocks noChangeAspect="1"/>
          </p:cNvPicPr>
          <p:nvPr/>
        </p:nvPicPr>
        <p:blipFill>
          <a:blip r:embed="rId3"/>
          <a:stretch>
            <a:fillRect/>
          </a:stretch>
        </p:blipFill>
        <p:spPr>
          <a:xfrm>
            <a:off x="8354873" y="3325673"/>
            <a:ext cx="197510" cy="197510"/>
          </a:xfrm>
          <a:prstGeom prst="rect">
            <a:avLst/>
          </a:prstGeom>
        </p:spPr>
      </p:pic>
      <p:sp>
        <p:nvSpPr>
          <p:cNvPr id="21" name="Text 16"/>
          <p:cNvSpPr/>
          <p:nvPr/>
        </p:nvSpPr>
        <p:spPr>
          <a:xfrm>
            <a:off x="8732520" y="3154680"/>
            <a:ext cx="2697480" cy="438912"/>
          </a:xfrm>
          <a:prstGeom prst="rect">
            <a:avLst/>
          </a:prstGeom>
          <a:noFill/>
        </p:spPr>
        <p:txBody>
          <a:bodyPr wrap="square" lIns="0" tIns="0" rIns="0" bIns="0" rtlCol="0" anchor="ctr"/>
          <a:lstStyle/>
          <a:p>
            <a:pPr marL="0" indent="0">
              <a:buNone/>
            </a:pPr>
            <a:r>
              <a:rPr lang="en-US" sz="1700" b="1" dirty="0">
                <a:solidFill>
                  <a:srgbClr val="5BDCBB"/>
                </a:solidFill>
                <a:latin typeface="Segoe UI" panose="020B0502040204020203" pitchFamily="34" charset="0"/>
                <a:ea typeface="Segoe UI" panose="020B0502040204020203" pitchFamily="34" charset="-122"/>
                <a:cs typeface="Segoe UI" panose="020B0502040204020203" pitchFamily="34" charset="-120"/>
              </a:rPr>
              <a:t>Academic Impact</a:t>
            </a:r>
            <a:endParaRPr lang="en-US" sz="1700" dirty="0"/>
          </a:p>
        </p:txBody>
      </p:sp>
      <p:sp>
        <p:nvSpPr>
          <p:cNvPr id="22" name="Text 17"/>
          <p:cNvSpPr/>
          <p:nvPr/>
        </p:nvSpPr>
        <p:spPr>
          <a:xfrm>
            <a:off x="8321040" y="3886200"/>
            <a:ext cx="3320415" cy="1737360"/>
          </a:xfrm>
          <a:prstGeom prst="rect">
            <a:avLst/>
          </a:prstGeom>
          <a:noFill/>
        </p:spPr>
        <p:txBody>
          <a:bodyPr wrap="square" lIns="0" tIns="0" rIns="0" bIns="0" rtlCol="0" anchor="ctr"/>
          <a:lstStyle/>
          <a:p>
            <a:pPr marL="0" indent="0" algn="l">
              <a:lnSpc>
                <a:spcPct val="125000"/>
              </a:lnSpc>
              <a:spcAft>
                <a:spcPts val="600"/>
              </a:spcAft>
              <a:buNone/>
            </a:pPr>
            <a:r>
              <a:rPr lang="en-US" sz="1350" dirty="0">
                <a:solidFill>
                  <a:srgbClr val="FFFFFF"/>
                </a:solidFill>
                <a:latin typeface="Segoe UI" panose="020B0502040204020203" pitchFamily="34" charset="0"/>
                <a:ea typeface="Segoe UI" panose="020B0502040204020203" pitchFamily="34" charset="-122"/>
                <a:cs typeface="Segoe UI" panose="020B0502040204020203" pitchFamily="34" charset="-120"/>
              </a:rPr>
              <a:t>✓  Translates decision analysis to eco tasks</a:t>
            </a:r>
            <a:endParaRPr lang="en-US" sz="1350" dirty="0"/>
          </a:p>
          <a:p>
            <a:pPr marL="0" indent="0" algn="l">
              <a:lnSpc>
                <a:spcPct val="125000"/>
              </a:lnSpc>
              <a:spcAft>
                <a:spcPts val="600"/>
              </a:spcAft>
              <a:buNone/>
            </a:pPr>
            <a:r>
              <a:rPr lang="en-US" sz="1350" dirty="0">
                <a:solidFill>
                  <a:srgbClr val="FFFFFF"/>
                </a:solidFill>
                <a:latin typeface="Segoe UI" panose="020B0502040204020203" pitchFamily="34" charset="0"/>
                <a:ea typeface="Segoe UI" panose="020B0502040204020203" pitchFamily="34" charset="-122"/>
                <a:cs typeface="Segoe UI" panose="020B0502040204020203" pitchFamily="34" charset="-120"/>
              </a:rPr>
              <a:t>✓  Promotes verified college-wide tracking</a:t>
            </a:r>
            <a:endParaRPr lang="en-US" sz="1350" dirty="0"/>
          </a:p>
          <a:p>
            <a:pPr marL="0" indent="0" algn="l">
              <a:lnSpc>
                <a:spcPct val="125000"/>
              </a:lnSpc>
              <a:spcAft>
                <a:spcPts val="600"/>
              </a:spcAft>
              <a:buNone/>
            </a:pPr>
            <a:r>
              <a:rPr lang="en-US" sz="1350" dirty="0">
                <a:solidFill>
                  <a:srgbClr val="FFFFFF"/>
                </a:solidFill>
                <a:latin typeface="Segoe UI" panose="020B0502040204020203" pitchFamily="34" charset="0"/>
                <a:ea typeface="Segoe UI" panose="020B0502040204020203" pitchFamily="34" charset="-122"/>
                <a:cs typeface="Segoe UI" panose="020B0502040204020203" pitchFamily="34" charset="-120"/>
              </a:rPr>
              <a:t>✓  Addresses traditional single-resource limits</a:t>
            </a:r>
            <a:endParaRPr lang="en-US" sz="1350" dirty="0"/>
          </a:p>
          <a:p>
            <a:pPr marL="0" indent="0" algn="l">
              <a:lnSpc>
                <a:spcPct val="125000"/>
              </a:lnSpc>
              <a:spcAft>
                <a:spcPts val="600"/>
              </a:spcAft>
              <a:buNone/>
            </a:pPr>
            <a:r>
              <a:rPr lang="en-US" sz="1350" dirty="0">
                <a:solidFill>
                  <a:srgbClr val="FFFFFF"/>
                </a:solidFill>
                <a:latin typeface="Segoe UI" panose="020B0502040204020203" pitchFamily="34" charset="0"/>
                <a:ea typeface="Segoe UI" panose="020B0502040204020203" pitchFamily="34" charset="-122"/>
                <a:cs typeface="Segoe UI" panose="020B0502040204020203" pitchFamily="34" charset="-120"/>
              </a:rPr>
              <a:t>✓  Actionable multi-objective model scripts</a:t>
            </a:r>
            <a:endParaRPr lang="en-US" sz="1350" dirty="0"/>
          </a:p>
        </p:txBody>
      </p:sp>
      <p:sp>
        <p:nvSpPr>
          <p:cNvPr id="23" name="Shape 18"/>
          <p:cNvSpPr/>
          <p:nvPr/>
        </p:nvSpPr>
        <p:spPr>
          <a:xfrm>
            <a:off x="530352" y="6336792"/>
            <a:ext cx="237744" cy="237744"/>
          </a:xfrm>
          <a:prstGeom prst="ellipse">
            <a:avLst/>
          </a:prstGeom>
          <a:solidFill>
            <a:srgbClr val="156D4F"/>
          </a:solidFill>
        </p:spPr>
      </p:sp>
      <p:pic>
        <p:nvPicPr>
          <p:cNvPr id="24" name="Image 3" descr="./icons/arrow_left_white.png">
            <a:hlinkClick r:id="rId4" action="ppaction://hlinksldjump"/>
          </p:cNvPr>
          <p:cNvPicPr>
            <a:picLocks noChangeAspect="1"/>
          </p:cNvPicPr>
          <p:nvPr/>
        </p:nvPicPr>
        <p:blipFill>
          <a:blip r:embed="rId5"/>
          <a:stretch>
            <a:fillRect/>
          </a:stretch>
        </p:blipFill>
        <p:spPr>
          <a:xfrm>
            <a:off x="548640" y="6355080"/>
            <a:ext cx="201168" cy="201168"/>
          </a:xfrm>
          <a:prstGeom prst="rect">
            <a:avLst/>
          </a:prstGeom>
        </p:spPr>
      </p:pic>
      <p:sp>
        <p:nvSpPr>
          <p:cNvPr id="25" name="Text 19">
            <a:hlinkClick r:id="rId4" action="ppaction://hlinksldjump"/>
          </p:cNvPr>
          <p:cNvSpPr/>
          <p:nvPr/>
        </p:nvSpPr>
        <p:spPr>
          <a:xfrm>
            <a:off x="841248" y="6327648"/>
            <a:ext cx="2743200" cy="365760"/>
          </a:xfrm>
          <a:prstGeom prst="rect">
            <a:avLst/>
          </a:prstGeom>
          <a:noFill/>
        </p:spPr>
        <p:txBody>
          <a:bodyPr wrap="square" lIns="0" tIns="0" rIns="0" bIns="0" rtlCol="0" anchor="ctr"/>
          <a:lstStyle/>
          <a:p>
            <a:pPr marL="0" indent="0">
              <a:buNone/>
            </a:pPr>
            <a:r>
              <a:rPr lang="en-US" sz="1100" b="1" u="sng" dirty="0">
                <a:solidFill>
                  <a:srgbClr val="5BDCBB"/>
                </a:solidFill>
                <a:latin typeface="Segoe UI" panose="020B0502040204020203" pitchFamily="34" charset="0"/>
                <a:ea typeface="Segoe UI" panose="020B0502040204020203" pitchFamily="34" charset="-122"/>
                <a:cs typeface="Segoe UI" panose="020B0502040204020203" pitchFamily="34" charset="-120"/>
                <a:hlinkClick r:id="rId4" action="ppaction://hlinksldjump"/>
              </a:rPr>
              <a:t>BACK TO REVIEW BOARD</a:t>
            </a:r>
            <a:endParaRPr lang="en-US" sz="1100" dirty="0"/>
          </a:p>
        </p:txBody>
      </p:sp>
      <p:sp>
        <p:nvSpPr>
          <p:cNvPr id="26" name="Text 20">
            <a:hlinkClick r:id="rId6" action="ppaction://hlinksldjump"/>
          </p:cNvPr>
          <p:cNvSpPr/>
          <p:nvPr/>
        </p:nvSpPr>
        <p:spPr>
          <a:xfrm>
            <a:off x="7680960" y="6327648"/>
            <a:ext cx="3840480" cy="365760"/>
          </a:xfrm>
          <a:prstGeom prst="rect">
            <a:avLst/>
          </a:prstGeom>
          <a:noFill/>
        </p:spPr>
        <p:txBody>
          <a:bodyPr wrap="square" lIns="0" tIns="0" rIns="0" bIns="0" rtlCol="0" anchor="ctr"/>
          <a:lstStyle/>
          <a:p>
            <a:pPr marL="0" indent="0" algn="r">
              <a:buNone/>
            </a:pPr>
            <a:r>
              <a:rPr lang="en-US" sz="1100" b="1" u="sng" dirty="0">
                <a:solidFill>
                  <a:srgbClr val="5BDCBB"/>
                </a:solidFill>
                <a:latin typeface="Segoe UI" panose="020B0502040204020203" pitchFamily="34" charset="0"/>
                <a:ea typeface="Segoe UI" panose="020B0502040204020203" pitchFamily="34" charset="-122"/>
                <a:cs typeface="Segoe UI" panose="020B0502040204020203" pitchFamily="34" charset="-120"/>
                <a:hlinkClick r:id="rId6" action="ppaction://hlinksldjump"/>
              </a:rPr>
              <a:t>CONTINUE TO SANCTION DECISION  →</a:t>
            </a:r>
            <a:endParaRPr lang="en-US" sz="11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364327"/>
        </a:solidFill>
        <a:effectLst/>
      </p:bgPr>
    </p:bg>
    <p:spTree>
      <p:nvGrpSpPr>
        <p:cNvPr id="1" name=""/>
        <p:cNvGrpSpPr/>
        <p:nvPr/>
      </p:nvGrpSpPr>
      <p:grpSpPr>
        <a:xfrm>
          <a:off x="0" y="0"/>
          <a:ext cx="0" cy="0"/>
          <a:chOff x="0" y="0"/>
          <a:chExt cx="0" cy="0"/>
        </a:xfrm>
      </p:grpSpPr>
      <p:sp>
        <p:nvSpPr>
          <p:cNvPr id="2" name="Shape 0"/>
          <p:cNvSpPr/>
          <p:nvPr/>
        </p:nvSpPr>
        <p:spPr>
          <a:xfrm>
            <a:off x="-2011680" y="-2011680"/>
            <a:ext cx="5486400" cy="5486400"/>
          </a:xfrm>
          <a:prstGeom prst="ellipse">
            <a:avLst/>
          </a:prstGeom>
          <a:solidFill>
            <a:srgbClr val="156D4F">
              <a:alpha val="65000"/>
            </a:srgbClr>
          </a:solidFill>
        </p:spPr>
      </p:sp>
      <p:sp>
        <p:nvSpPr>
          <p:cNvPr id="3" name="Shape 1"/>
          <p:cNvSpPr/>
          <p:nvPr/>
        </p:nvSpPr>
        <p:spPr>
          <a:xfrm>
            <a:off x="5349240" y="868680"/>
            <a:ext cx="1463040" cy="1463040"/>
          </a:xfrm>
          <a:prstGeom prst="ellipse">
            <a:avLst/>
          </a:prstGeom>
          <a:solidFill>
            <a:srgbClr val="156D4F"/>
          </a:solidFill>
          <a:effectLst>
            <a:outerShdw blurRad="76200" dist="25400" dir="2700000" algn="bl" rotWithShape="0">
              <a:srgbClr val="000000">
                <a:alpha val="8000"/>
              </a:srgbClr>
            </a:outerShdw>
          </a:effectLst>
        </p:spPr>
      </p:sp>
      <p:pic>
        <p:nvPicPr>
          <p:cNvPr id="4" name="Image 0" descr="./icons/check_white.png"/>
          <p:cNvPicPr>
            <a:picLocks noChangeAspect="1"/>
          </p:cNvPicPr>
          <p:nvPr/>
        </p:nvPicPr>
        <p:blipFill>
          <a:blip r:embed="rId1"/>
          <a:stretch>
            <a:fillRect/>
          </a:stretch>
        </p:blipFill>
        <p:spPr>
          <a:xfrm>
            <a:off x="5729630" y="1249070"/>
            <a:ext cx="702259" cy="702259"/>
          </a:xfrm>
          <a:prstGeom prst="rect">
            <a:avLst/>
          </a:prstGeom>
        </p:spPr>
      </p:pic>
      <p:sp>
        <p:nvSpPr>
          <p:cNvPr id="5" name="Text 2"/>
          <p:cNvSpPr/>
          <p:nvPr/>
        </p:nvSpPr>
        <p:spPr>
          <a:xfrm>
            <a:off x="640080" y="2651760"/>
            <a:ext cx="10972800" cy="457200"/>
          </a:xfrm>
          <a:prstGeom prst="rect">
            <a:avLst/>
          </a:prstGeom>
          <a:noFill/>
        </p:spPr>
        <p:txBody>
          <a:bodyPr wrap="square" lIns="0" tIns="0" rIns="0" bIns="0" rtlCol="0" anchor="ctr"/>
          <a:lstStyle/>
          <a:p>
            <a:pPr marL="0" indent="0" algn="ctr">
              <a:buNone/>
            </a:pPr>
            <a:r>
              <a:rPr lang="en-US" sz="1400" b="1" kern="0" spc="300" dirty="0">
                <a:solidFill>
                  <a:srgbClr val="5BDCBB"/>
                </a:solidFill>
                <a:latin typeface="Segoe UI" panose="020B0502040204020203" pitchFamily="34" charset="0"/>
                <a:ea typeface="Segoe UI" panose="020B0502040204020203" pitchFamily="34" charset="-122"/>
                <a:cs typeface="Segoe UI" panose="020B0502040204020203" pitchFamily="34" charset="-120"/>
              </a:rPr>
              <a:t>PROJECT SANCTIONED</a:t>
            </a:r>
            <a:endParaRPr lang="en-US" sz="1400" dirty="0"/>
          </a:p>
        </p:txBody>
      </p:sp>
      <p:sp>
        <p:nvSpPr>
          <p:cNvPr id="6" name="Text 3"/>
          <p:cNvSpPr/>
          <p:nvPr/>
        </p:nvSpPr>
        <p:spPr>
          <a:xfrm>
            <a:off x="640080" y="3063240"/>
            <a:ext cx="10972800" cy="731520"/>
          </a:xfrm>
          <a:prstGeom prst="rect">
            <a:avLst/>
          </a:prstGeom>
          <a:noFill/>
        </p:spPr>
        <p:txBody>
          <a:bodyPr wrap="square" lIns="0" tIns="0" rIns="0" bIns="0" rtlCol="0" anchor="ctr"/>
          <a:lstStyle/>
          <a:p>
            <a:pPr marL="0" indent="0" algn="ctr">
              <a:buNone/>
            </a:pPr>
            <a:r>
              <a:rPr lang="en-US" sz="2600" b="1" dirty="0">
                <a:solidFill>
                  <a:srgbClr val="5BDCBB"/>
                </a:solidFill>
                <a:latin typeface="Georgia" panose="02040502050405020303" pitchFamily="34" charset="0"/>
                <a:ea typeface="Georgia" panose="02040502050405020303" pitchFamily="34" charset="-122"/>
                <a:cs typeface="Georgia" panose="02040502050405020303" pitchFamily="34" charset="-120"/>
                <a:hlinkClick r:id="rId2" tooltip="" action="ppaction://hlinkfile"/>
              </a:rPr>
              <a:t>EcoSphere moves to Phase 1 — Implementation</a:t>
            </a:r>
            <a:endParaRPr lang="en-US" sz="2600" dirty="0"/>
          </a:p>
        </p:txBody>
      </p:sp>
      <p:sp>
        <p:nvSpPr>
          <p:cNvPr id="7" name="Text 4"/>
          <p:cNvSpPr/>
          <p:nvPr/>
        </p:nvSpPr>
        <p:spPr>
          <a:xfrm>
            <a:off x="640080" y="3931920"/>
            <a:ext cx="10972800" cy="365760"/>
          </a:xfrm>
          <a:prstGeom prst="rect">
            <a:avLst/>
          </a:prstGeom>
          <a:noFill/>
        </p:spPr>
        <p:txBody>
          <a:bodyPr wrap="square" lIns="0" tIns="0" rIns="0" bIns="0" rtlCol="0" anchor="ctr"/>
          <a:lstStyle/>
          <a:p>
            <a:pPr marL="0" indent="0" algn="ctr">
              <a:buNone/>
            </a:pPr>
            <a:r>
              <a:rPr lang="en-US" sz="1300" dirty="0">
                <a:solidFill>
                  <a:srgbClr val="FFFFFF"/>
                </a:solidFill>
                <a:latin typeface="Segoe UI" panose="020B0502040204020203" pitchFamily="34" charset="0"/>
                <a:ea typeface="Segoe UI" panose="020B0502040204020203" pitchFamily="34" charset="-122"/>
                <a:cs typeface="Segoe UI" panose="020B0502040204020203" pitchFamily="34" charset="-120"/>
              </a:rPr>
              <a:t>Focus: DB Design &amp; Core API Gateways  |  Target: Predictive Environmental Decisions  |  Next Steps: Spring Boot Setup &amp; FastAPI Container Configurations</a:t>
            </a:r>
            <a:endParaRPr lang="en-US" sz="1300" dirty="0"/>
          </a:p>
        </p:txBody>
      </p:sp>
      <p:sp>
        <p:nvSpPr>
          <p:cNvPr id="8" name="Shape 5"/>
          <p:cNvSpPr/>
          <p:nvPr/>
        </p:nvSpPr>
        <p:spPr>
          <a:xfrm>
            <a:off x="4251960" y="4617720"/>
            <a:ext cx="3657600" cy="0"/>
          </a:xfrm>
          <a:prstGeom prst="line">
            <a:avLst/>
          </a:prstGeom>
          <a:noFill/>
          <a:ln w="19050">
            <a:solidFill>
              <a:srgbClr val="156D4F"/>
            </a:solidFill>
            <a:prstDash val="solid"/>
          </a:ln>
        </p:spPr>
      </p:sp>
      <p:sp>
        <p:nvSpPr>
          <p:cNvPr id="9" name="Text 6"/>
          <p:cNvSpPr/>
          <p:nvPr/>
        </p:nvSpPr>
        <p:spPr>
          <a:xfrm>
            <a:off x="1188720" y="4846320"/>
            <a:ext cx="9784080" cy="640080"/>
          </a:xfrm>
          <a:prstGeom prst="rect">
            <a:avLst/>
          </a:prstGeom>
          <a:noFill/>
        </p:spPr>
        <p:txBody>
          <a:bodyPr wrap="square" lIns="0" tIns="0" rIns="0" bIns="0" rtlCol="0" anchor="ctr"/>
          <a:lstStyle/>
          <a:p>
            <a:pPr marL="0" indent="0" algn="ctr">
              <a:buNone/>
            </a:pPr>
            <a:r>
              <a:rPr lang="en-US" sz="1450" i="1" dirty="0">
                <a:solidFill>
                  <a:srgbClr val="C7C396"/>
                </a:solidFill>
                <a:latin typeface="Georgia" panose="02040502050405020303" pitchFamily="34" charset="0"/>
                <a:ea typeface="Georgia" panose="02040502050405020303" pitchFamily="34" charset="-122"/>
                <a:cs typeface="Georgia" panose="02040502050405020303" pitchFamily="34" charset="-120"/>
              </a:rPr>
              <a:t>"EcoSphere guides users toward sustainability by analyzing actions, predicting future resource consumption, simulating alternatives via digital twins, and balancing multivariable decisions."</a:t>
            </a:r>
            <a:endParaRPr lang="en-US" sz="1450" dirty="0"/>
          </a:p>
        </p:txBody>
      </p:sp>
      <p:sp>
        <p:nvSpPr>
          <p:cNvPr id="10" name="Shape 7"/>
          <p:cNvSpPr/>
          <p:nvPr/>
        </p:nvSpPr>
        <p:spPr>
          <a:xfrm>
            <a:off x="530352" y="6336792"/>
            <a:ext cx="237744" cy="237744"/>
          </a:xfrm>
          <a:prstGeom prst="ellipse">
            <a:avLst/>
          </a:prstGeom>
          <a:solidFill>
            <a:srgbClr val="156D4F"/>
          </a:solidFill>
        </p:spPr>
      </p:sp>
      <p:pic>
        <p:nvPicPr>
          <p:cNvPr id="11" name="Image 1" descr="./icons/grid_white.png">
            <a:hlinkClick r:id="rId3" action="ppaction://hlinksldjump"/>
          </p:cNvPr>
          <p:cNvPicPr>
            <a:picLocks noChangeAspect="1"/>
          </p:cNvPicPr>
          <p:nvPr/>
        </p:nvPicPr>
        <p:blipFill>
          <a:blip r:embed="rId4"/>
          <a:stretch>
            <a:fillRect/>
          </a:stretch>
        </p:blipFill>
        <p:spPr>
          <a:xfrm>
            <a:off x="548640" y="6355080"/>
            <a:ext cx="201168" cy="201168"/>
          </a:xfrm>
          <a:prstGeom prst="rect">
            <a:avLst/>
          </a:prstGeom>
        </p:spPr>
      </p:pic>
      <p:sp>
        <p:nvSpPr>
          <p:cNvPr id="12" name="Text 8">
            <a:hlinkClick r:id="rId3" action="ppaction://hlinksldjump"/>
          </p:cNvPr>
          <p:cNvSpPr/>
          <p:nvPr/>
        </p:nvSpPr>
        <p:spPr>
          <a:xfrm>
            <a:off x="841248" y="6327648"/>
            <a:ext cx="2743200" cy="365760"/>
          </a:xfrm>
          <a:prstGeom prst="rect">
            <a:avLst/>
          </a:prstGeom>
          <a:noFill/>
        </p:spPr>
        <p:txBody>
          <a:bodyPr wrap="square" lIns="0" tIns="0" rIns="0" bIns="0" rtlCol="0" anchor="ctr"/>
          <a:lstStyle/>
          <a:p>
            <a:pPr marL="0" indent="0">
              <a:buNone/>
            </a:pPr>
            <a:r>
              <a:rPr lang="en-US" sz="1100" b="1" u="sng" dirty="0">
                <a:solidFill>
                  <a:srgbClr val="FFFFFF"/>
                </a:solidFill>
                <a:latin typeface="Segoe UI" panose="020B0502040204020203" pitchFamily="34" charset="0"/>
                <a:ea typeface="Segoe UI" panose="020B0502040204020203" pitchFamily="34" charset="-122"/>
                <a:cs typeface="Segoe UI" panose="020B0502040204020203" pitchFamily="34" charset="-120"/>
                <a:hlinkClick r:id="rId3" action="ppaction://hlinksldjump"/>
              </a:rPr>
              <a:t>RETURN TO REVIEW BOARD</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18453</Words>
  <Application>WPS Presentation</Application>
  <PresentationFormat>On-screen Show (16:9)</PresentationFormat>
  <Paragraphs>645</Paragraphs>
  <Slides>17</Slides>
  <Notes>17</Notes>
  <HiddenSlides>0</HiddenSlides>
  <MMClips>0</MMClips>
  <ScaleCrop>false</ScaleCrop>
  <HeadingPairs>
    <vt:vector size="6" baseType="variant">
      <vt:variant>
        <vt:lpstr>已用的字体</vt:lpstr>
      </vt:variant>
      <vt:variant>
        <vt:i4>14</vt:i4>
      </vt:variant>
      <vt:variant>
        <vt:lpstr>主题</vt:lpstr>
      </vt:variant>
      <vt:variant>
        <vt:i4>1</vt:i4>
      </vt:variant>
      <vt:variant>
        <vt:lpstr>幻灯片标题</vt:lpstr>
      </vt:variant>
      <vt:variant>
        <vt:i4>17</vt:i4>
      </vt:variant>
    </vt:vector>
  </HeadingPairs>
  <TitlesOfParts>
    <vt:vector size="32" baseType="lpstr">
      <vt:lpstr>Arial</vt:lpstr>
      <vt:lpstr>SimSun</vt:lpstr>
      <vt:lpstr>Wingdings</vt:lpstr>
      <vt:lpstr>Segoe UI</vt:lpstr>
      <vt:lpstr>Segoe UI</vt:lpstr>
      <vt:lpstr>Segoe UI</vt:lpstr>
      <vt:lpstr>Georgia</vt:lpstr>
      <vt:lpstr>Georgia</vt:lpstr>
      <vt:lpstr>Georgia</vt:lpstr>
      <vt:lpstr>Calibri</vt:lpstr>
      <vt:lpstr>Microsoft YaHei</vt:lpstr>
      <vt:lpstr>Arial Unicode MS</vt:lpstr>
      <vt:lpstr>Bahnschrift SemiBold</vt:lpstr>
      <vt:lpstr>Bahnschrift Light SemiCondensed</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PptxGenJS</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EcoSphere — Intelligent Environmental Decision Support &amp; Sustainability Intelligence Platform</dc:title>
  <dc:creator>EcoSphere Team</dc:creator>
  <dc:subject>PptxGenJS Presentation</dc:subject>
  <cp:lastModifiedBy>godfr</cp:lastModifiedBy>
  <cp:revision>2</cp:revision>
  <dcterms:created xsi:type="dcterms:W3CDTF">2026-07-10T14:51:00Z</dcterms:created>
  <dcterms:modified xsi:type="dcterms:W3CDTF">2026-07-10T15:03:02Z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1033-12.1.0.26886</vt:lpwstr>
  </property>
  <property fmtid="{D5CDD505-2E9C-101B-9397-08002B2CF9AE}" pid="3" name="ICV">
    <vt:lpwstr>3F5626AA3CBD442D90B64BCC3FCB5E12_12</vt:lpwstr>
  </property>
</Properties>
</file>